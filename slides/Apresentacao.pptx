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46.xml" ContentType="application/vnd.openxmlformats-officedocument.presentationml.notesSlide+xml"/>
  <Override PartName="/ppt/notesSlides/_rels/notesSlide46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38.xml.rels" ContentType="application/vnd.openxmlformats-package.relationships+xml"/>
  <Override PartName="/ppt/slides/_rels/slide21.xml.rels" ContentType="application/vnd.openxmlformats-package.relationships+xml"/>
  <Override PartName="/ppt/slides/_rels/slide5.xml.rels" ContentType="application/vnd.openxmlformats-package.relationships+xml"/>
  <Override PartName="/ppt/slides/_rels/slide39.xml.rels" ContentType="application/vnd.openxmlformats-package.relationships+xml"/>
  <Override PartName="/ppt/slides/_rels/slide6.xml.rels" ContentType="application/vnd.openxmlformats-package.relationships+xml"/>
  <Override PartName="/ppt/slides/_rels/slide50.xml.rels" ContentType="application/vnd.openxmlformats-package.relationships+xml"/>
  <Override PartName="/ppt/slides/_rels/slide23.xml.rels" ContentType="application/vnd.openxmlformats-package.relationships+xml"/>
  <Override PartName="/ppt/slides/_rels/slide7.xml.rels" ContentType="application/vnd.openxmlformats-package.relationships+xml"/>
  <Override PartName="/ppt/slides/_rels/slide5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52.xml.rels" ContentType="application/vnd.openxmlformats-package.relationships+xml"/>
  <Override PartName="/ppt/slides/_rels/slide25.xml.rels" ContentType="application/vnd.openxmlformats-package.relationships+xml"/>
  <Override PartName="/ppt/slides/_rels/slide9.xml.rels" ContentType="application/vnd.openxmlformats-package.relationships+xml"/>
  <Override PartName="/ppt/slides/_rels/slide53.xml.rels" ContentType="application/vnd.openxmlformats-package.relationships+xml"/>
  <Override PartName="/ppt/slides/_rels/slide26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47.xml.rels" ContentType="application/vnd.openxmlformats-package.relationships+xml"/>
  <Override PartName="/ppt/slides/_rels/slide48.xml.rels" ContentType="application/vnd.openxmlformats-package.relationships+xml"/>
  <Override PartName="/ppt/slides/_rels/slide49.xml.rels" ContentType="application/vnd.openxmlformats-package.relationships+xml"/>
  <Override PartName="/ppt/slides/_rels/slide54.xml.rels" ContentType="application/vnd.openxmlformats-package.relationships+xml"/>
  <Override PartName="/ppt/slides/_rels/slide55.xml.rels" ContentType="application/vnd.openxmlformats-package.relationships+xml"/>
  <Override PartName="/ppt/slides/_rels/slide56.xml.rels" ContentType="application/vnd.openxmlformats-package.relationships+xml"/>
  <Override PartName="/ppt/slides/_rels/slide57.xml.rels" ContentType="application/vnd.openxmlformats-package.relationships+xml"/>
  <Override PartName="/ppt/slides/_rels/slide58.xml.rels" ContentType="application/vnd.openxmlformats-package.relationships+xml"/>
  <Override PartName="/ppt/slides/_rels/slide59.xml.rels" ContentType="application/vnd.openxmlformats-package.relationships+xml"/>
  <Override PartName="/ppt/slides/_rels/slide60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65.xml.rels" ContentType="application/vnd.openxmlformats-package.relationships+xml"/>
  <Override PartName="/ppt/slides/_rels/slide66.xml.rels" ContentType="application/vnd.openxmlformats-package.relationships+xml"/>
  <Override PartName="/ppt/slides/_rels/slide67.xml.rels" ContentType="application/vnd.openxmlformats-package.relationships+xml"/>
  <Override PartName="/ppt/slides/_rels/slide68.xml.rels" ContentType="application/vnd.openxmlformats-package.relationships+xml"/>
  <Override PartName="/ppt/media/image57.png" ContentType="image/png"/>
  <Override PartName="/ppt/media/image1.png" ContentType="image/png"/>
  <Override PartName="/ppt/media/image31.png" ContentType="image/png"/>
  <Override PartName="/ppt/media/image7.jpeg" ContentType="image/jpeg"/>
  <Override PartName="/ppt/media/image60.svg" ContentType="image/svg"/>
  <Override PartName="/ppt/media/image58.png" ContentType="image/png"/>
  <Override PartName="/ppt/media/image2.png" ContentType="image/png"/>
  <Override PartName="/ppt/media/image3.png" ContentType="image/png"/>
  <Override PartName="/ppt/media/image59.png" ContentType="image/png"/>
  <Override PartName="/ppt/media/image70.png" ContentType="image/png"/>
  <Override PartName="/ppt/media/image4.png" ContentType="image/png"/>
  <Override PartName="/ppt/media/image62.svg" ContentType="image/svg"/>
  <Override PartName="/ppt/media/image71.png" ContentType="image/png"/>
  <Override PartName="/ppt/media/image5.png" ContentType="image/png"/>
  <Override PartName="/ppt/media/image72.png" ContentType="image/png"/>
  <Override PartName="/ppt/media/image6.png" ContentType="image/png"/>
  <Override PartName="/ppt/media/image74.png" ContentType="image/png"/>
  <Override PartName="/ppt/media/image8.png" ContentType="image/png"/>
  <Override PartName="/ppt/media/image9.gif" ContentType="image/gif"/>
  <Override PartName="/ppt/media/image54.png" ContentType="image/png"/>
  <Override PartName="/ppt/media/image10.png" ContentType="image/png"/>
  <Override PartName="/ppt/media/image11.png" ContentType="image/png"/>
  <Override PartName="/ppt/media/image32.gif" ContentType="image/gif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gif" ContentType="image/gif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media/image37.png" ContentType="image/png"/>
  <Override PartName="/ppt/media/image38.png" ContentType="image/png"/>
  <Override PartName="/ppt/media/image39.png" ContentType="image/png"/>
  <Override PartName="/ppt/media/image40.png" ContentType="image/png"/>
  <Override PartName="/ppt/media/image41.png" ContentType="image/png"/>
  <Override PartName="/ppt/media/image42.png" ContentType="image/png"/>
  <Override PartName="/ppt/media/image43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47.png" ContentType="image/png"/>
  <Override PartName="/ppt/media/image48.png" ContentType="image/png"/>
  <Override PartName="/ppt/media/image49.png" ContentType="image/png"/>
  <Override PartName="/ppt/media/image50.png" ContentType="image/png"/>
  <Override PartName="/ppt/media/image51.png" ContentType="image/png"/>
  <Override PartName="/ppt/media/image52.png" ContentType="image/png"/>
  <Override PartName="/ppt/media/image53.png" ContentType="image/png"/>
  <Override PartName="/ppt/media/image55.png" ContentType="image/png"/>
  <Override PartName="/ppt/media/image56.png" ContentType="image/png"/>
  <Override PartName="/ppt/media/image61.png" ContentType="image/png"/>
  <Override PartName="/ppt/media/image63.png" ContentType="image/png"/>
  <Override PartName="/ppt/media/image64.png" ContentType="image/png"/>
  <Override PartName="/ppt/media/image65.png" ContentType="image/png"/>
  <Override PartName="/ppt/media/image66.png" ContentType="image/png"/>
  <Override PartName="/ppt/media/image67.png" ContentType="image/png"/>
  <Override PartName="/ppt/media/image68.png" ContentType="image/png"/>
  <Override PartName="/ppt/media/image69.png" ContentType="image/png"/>
  <Override PartName="/ppt/media/image73.png" ContentType="image/png"/>
  <Override PartName="/ppt/media/image75.png" ContentType="image/png"/>
  <Override PartName="/ppt/media/image76.png" ContentType="image/png"/>
  <Override PartName="/ppt/media/image77.png" ContentType="image/png"/>
  <Override PartName="/ppt/media/image78.png" ContentType="image/png"/>
  <Override PartName="/ppt/media/image79.png" ContentType="image/png"/>
  <Override PartName="/ppt/media/image80.png" ContentType="image/png"/>
  <Override PartName="/ppt/media/image81.svg" ContentType="image/svg"/>
  <Override PartName="/ppt/media/image82.png" ContentType="image/png"/>
  <Override PartName="/ppt/media/image83.svg" ContentType="image/svg"/>
  <Override PartName="/ppt/media/image84.png" ContentType="image/png"/>
  <Override PartName="/ppt/media/image85.svg" ContentType="image/svg"/>
  <Override PartName="/ppt/media/image86.png" ContentType="image/png"/>
  <Override PartName="/ppt/media/image87.svg" ContentType="image/svg"/>
  <Override PartName="/ppt/media/image88.png" ContentType="image/png"/>
  <Override PartName="/ppt/media/image89.png" ContentType="image/png"/>
  <Override PartName="/ppt/media/image90.png" ContentType="image/png"/>
  <Override PartName="/ppt/media/image91.png" ContentType="image/png"/>
  <Override PartName="/ppt/media/image92.svg" ContentType="image/sv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  <p:sldMasterId id="2147483658" r:id="rId6"/>
    <p:sldMasterId id="2147483659" r:id="rId7"/>
    <p:sldMasterId id="2147483660" r:id="rId8"/>
    <p:sldMasterId id="2147483661" r:id="rId9"/>
    <p:sldMasterId id="2147483662" r:id="rId10"/>
    <p:sldMasterId id="2147483663" r:id="rId11"/>
    <p:sldMasterId id="2147483664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300" r:id="rId58"/>
    <p:sldId id="301" r:id="rId59"/>
    <p:sldId id="302" r:id="rId60"/>
    <p:sldId id="303" r:id="rId61"/>
    <p:sldId id="304" r:id="rId62"/>
    <p:sldId id="305" r:id="rId63"/>
    <p:sldId id="306" r:id="rId64"/>
    <p:sldId id="307" r:id="rId65"/>
    <p:sldId id="308" r:id="rId66"/>
    <p:sldId id="309" r:id="rId67"/>
    <p:sldId id="310" r:id="rId68"/>
    <p:sldId id="311" r:id="rId69"/>
    <p:sldId id="312" r:id="rId70"/>
    <p:sldId id="313" r:id="rId71"/>
    <p:sldId id="314" r:id="rId72"/>
    <p:sldId id="315" r:id="rId73"/>
    <p:sldId id="316" r:id="rId74"/>
    <p:sldId id="317" r:id="rId75"/>
    <p:sldId id="318" r:id="rId76"/>
    <p:sldId id="319" r:id="rId77"/>
    <p:sldId id="320" r:id="rId78"/>
    <p:sldId id="321" r:id="rId79"/>
    <p:sldId id="322" r:id="rId80"/>
    <p:sldId id="323" r:id="rId81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Relationship Id="rId58" Type="http://schemas.openxmlformats.org/officeDocument/2006/relationships/slide" Target="slides/slide45.xml"/><Relationship Id="rId59" Type="http://schemas.openxmlformats.org/officeDocument/2006/relationships/slide" Target="slides/slide46.xml"/><Relationship Id="rId60" Type="http://schemas.openxmlformats.org/officeDocument/2006/relationships/slide" Target="slides/slide47.xml"/><Relationship Id="rId61" Type="http://schemas.openxmlformats.org/officeDocument/2006/relationships/slide" Target="slides/slide48.xml"/><Relationship Id="rId62" Type="http://schemas.openxmlformats.org/officeDocument/2006/relationships/slide" Target="slides/slide49.xml"/><Relationship Id="rId63" Type="http://schemas.openxmlformats.org/officeDocument/2006/relationships/slide" Target="slides/slide50.xml"/><Relationship Id="rId64" Type="http://schemas.openxmlformats.org/officeDocument/2006/relationships/slide" Target="slides/slide51.xml"/><Relationship Id="rId65" Type="http://schemas.openxmlformats.org/officeDocument/2006/relationships/slide" Target="slides/slide52.xml"/><Relationship Id="rId66" Type="http://schemas.openxmlformats.org/officeDocument/2006/relationships/slide" Target="slides/slide53.xml"/><Relationship Id="rId67" Type="http://schemas.openxmlformats.org/officeDocument/2006/relationships/slide" Target="slides/slide54.xml"/><Relationship Id="rId68" Type="http://schemas.openxmlformats.org/officeDocument/2006/relationships/slide" Target="slides/slide55.xml"/><Relationship Id="rId69" Type="http://schemas.openxmlformats.org/officeDocument/2006/relationships/slide" Target="slides/slide56.xml"/><Relationship Id="rId70" Type="http://schemas.openxmlformats.org/officeDocument/2006/relationships/slide" Target="slides/slide57.xml"/><Relationship Id="rId71" Type="http://schemas.openxmlformats.org/officeDocument/2006/relationships/slide" Target="slides/slide58.xml"/><Relationship Id="rId72" Type="http://schemas.openxmlformats.org/officeDocument/2006/relationships/slide" Target="slides/slide59.xml"/><Relationship Id="rId73" Type="http://schemas.openxmlformats.org/officeDocument/2006/relationships/slide" Target="slides/slide60.xml"/><Relationship Id="rId74" Type="http://schemas.openxmlformats.org/officeDocument/2006/relationships/slide" Target="slides/slide61.xml"/><Relationship Id="rId75" Type="http://schemas.openxmlformats.org/officeDocument/2006/relationships/slide" Target="slides/slide62.xml"/><Relationship Id="rId76" Type="http://schemas.openxmlformats.org/officeDocument/2006/relationships/slide" Target="slides/slide63.xml"/><Relationship Id="rId77" Type="http://schemas.openxmlformats.org/officeDocument/2006/relationships/slide" Target="slides/slide64.xml"/><Relationship Id="rId78" Type="http://schemas.openxmlformats.org/officeDocument/2006/relationships/slide" Target="slides/slide65.xml"/><Relationship Id="rId79" Type="http://schemas.openxmlformats.org/officeDocument/2006/relationships/slide" Target="slides/slide66.xml"/><Relationship Id="rId80" Type="http://schemas.openxmlformats.org/officeDocument/2006/relationships/slide" Target="slides/slide67.xml"/><Relationship Id="rId81" Type="http://schemas.openxmlformats.org/officeDocument/2006/relationships/slide" Target="slides/slide68.xml"/><Relationship Id="rId8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1002937-6DA4-4371-87A6-DFC3EBC5F323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1107000" y="812520"/>
            <a:ext cx="5345280" cy="400896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Diferentes transformações para a palavra “Line”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endParaRPr b="0" lang="en-US" sz="48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CFB99F-61F4-4CA2-ACF0-C87A861BBF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endParaRPr b="0" lang="en-US" sz="48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38F8E1-C23D-4D39-8A81-C4B4AFBEBD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endParaRPr b="0" lang="en-US" sz="48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83B23D5-E14C-4A9A-9F72-3D62A0CAB9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endParaRPr b="0" lang="en-US" sz="48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1346DCD-2A8C-40B8-86F6-98A322B6B8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endParaRPr b="0" lang="en-US" sz="48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0BF476C-BCE7-40B4-919C-833A70A291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AB08FD1-1CB9-4C41-AA5C-788130E5AC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 hidden="1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Rectangle 8" hidden="1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2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3" name="Rectangle 6"/>
          <p:cNvSpPr/>
          <p:nvPr/>
        </p:nvSpPr>
        <p:spPr>
          <a:xfrm>
            <a:off x="2520" y="6400800"/>
            <a:ext cx="914076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" name="Rectangle 7"/>
          <p:cNvSpPr/>
          <p:nvPr/>
        </p:nvSpPr>
        <p:spPr>
          <a:xfrm>
            <a:off x="0" y="6334200"/>
            <a:ext cx="9140760" cy="633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5" name="Straight Connector 8"/>
          <p:cNvCxnSpPr/>
          <p:nvPr/>
        </p:nvCxnSpPr>
        <p:spPr>
          <a:xfrm>
            <a:off x="905400" y="4343400"/>
            <a:ext cx="740736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1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2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AEA6E3C-663B-4252-B1D8-D7AB3FC8CD00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dt" idx="3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Rectangle 8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17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4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5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4463BF1-6F78-4B39-8A12-F4F9FE92CCBE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6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6" hidden="1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Rectangle 8" hidden="1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27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28" name="Rectangle 6"/>
          <p:cNvSpPr/>
          <p:nvPr/>
        </p:nvSpPr>
        <p:spPr>
          <a:xfrm>
            <a:off x="2520" y="6400800"/>
            <a:ext cx="914076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" name="Rectangle 7"/>
          <p:cNvSpPr/>
          <p:nvPr/>
        </p:nvSpPr>
        <p:spPr>
          <a:xfrm>
            <a:off x="0" y="6334200"/>
            <a:ext cx="9140760" cy="633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ftr" idx="7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8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3909473-2F21-4E0B-99E9-B22DC2EC7C4C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dt" idx="9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6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" name="Rectangle 8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39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0" lang="en-US" sz="48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Clique para editar o formato do texto do título</a:t>
            </a:r>
            <a:endParaRPr b="0" lang="en-US" sz="48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10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11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FBC5B26-359F-4498-BE16-1ACCCA6620D2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dt" idx="12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6" hidden="1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Rectangle 8" hidden="1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49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50" name="Rectangle 6"/>
          <p:cNvSpPr/>
          <p:nvPr/>
        </p:nvSpPr>
        <p:spPr>
          <a:xfrm>
            <a:off x="2520" y="6400800"/>
            <a:ext cx="914076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Rectangle 7"/>
          <p:cNvSpPr/>
          <p:nvPr/>
        </p:nvSpPr>
        <p:spPr>
          <a:xfrm>
            <a:off x="0" y="6334200"/>
            <a:ext cx="9140760" cy="633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52" name="Straight Connector 8"/>
          <p:cNvCxnSpPr/>
          <p:nvPr/>
        </p:nvCxnSpPr>
        <p:spPr>
          <a:xfrm>
            <a:off x="905400" y="4343400"/>
            <a:ext cx="740736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ftr" idx="13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4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D955C4B-299D-46AC-976E-59D9B91A273D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15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6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" name="Rectangle 8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59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ftr" idx="16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sldNum" idx="17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92B524A-95BA-4049-AACE-4FAA2DBD5CE1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18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Rectangle 8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66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ftr" idx="19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sldNum" idx="20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890F85D-511E-4FD1-86AB-3392E830DAA0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21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6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" name="Rectangle 8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73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ftr" idx="22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sldNum" idx="23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998BC4F-6CF9-4F2C-A47B-08ED92BDF0F1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dt" idx="24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6" hidden="1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" name="Rectangle 8" hidden="1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80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81" name="Rectangle 4"/>
          <p:cNvSpPr/>
          <p:nvPr/>
        </p:nvSpPr>
        <p:spPr>
          <a:xfrm>
            <a:off x="2520" y="6400800"/>
            <a:ext cx="914076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" name="Rectangle 5"/>
          <p:cNvSpPr/>
          <p:nvPr/>
        </p:nvSpPr>
        <p:spPr>
          <a:xfrm>
            <a:off x="0" y="6334200"/>
            <a:ext cx="9140760" cy="633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ftr" idx="25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26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A08EAF0-5F40-4DDE-A99F-C239BF3D541E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 idx="27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6" hidden="1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" name="Rectangle 8" hidden="1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89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90" name="Rectangle 7"/>
          <p:cNvSpPr/>
          <p:nvPr/>
        </p:nvSpPr>
        <p:spPr>
          <a:xfrm>
            <a:off x="0" y="0"/>
            <a:ext cx="3037320" cy="68572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Rectangle 8"/>
          <p:cNvSpPr/>
          <p:nvPr/>
        </p:nvSpPr>
        <p:spPr>
          <a:xfrm>
            <a:off x="3030120" y="0"/>
            <a:ext cx="47160" cy="685728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ftr" idx="28"/>
          </p:nvPr>
        </p:nvSpPr>
        <p:spPr>
          <a:xfrm>
            <a:off x="3600360" y="6459840"/>
            <a:ext cx="34855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29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370CCC0-0AF4-4A57-B046-5A5C35C15C97}" type="slidenum">
              <a:rPr b="0" lang="en-US" sz="105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dt" idx="30"/>
          </p:nvPr>
        </p:nvSpPr>
        <p:spPr>
          <a:xfrm>
            <a:off x="349200" y="6459840"/>
            <a:ext cx="1963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6" hidden="1"/>
          <p:cNvSpPr/>
          <p:nvPr/>
        </p:nvSpPr>
        <p:spPr>
          <a:xfrm>
            <a:off x="0" y="6400800"/>
            <a:ext cx="9143280" cy="45648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Rectangle 8" hidden="1"/>
          <p:cNvSpPr/>
          <p:nvPr/>
        </p:nvSpPr>
        <p:spPr>
          <a:xfrm>
            <a:off x="0" y="6334200"/>
            <a:ext cx="9143280" cy="651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0880" bIns="208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cxnSp>
        <p:nvCxnSpPr>
          <p:cNvPr id="98" name="Straight Connector 9"/>
          <p:cNvCxnSpPr/>
          <p:nvPr/>
        </p:nvCxnSpPr>
        <p:spPr>
          <a:xfrm>
            <a:off x="894960" y="1737720"/>
            <a:ext cx="7476120" cy="720"/>
          </a:xfrm>
          <a:prstGeom prst="straightConnector1">
            <a:avLst/>
          </a:prstGeom>
          <a:ln w="6480">
            <a:solidFill>
              <a:schemeClr val="dk1">
                <a:lumMod val="50000"/>
                <a:lumOff val="50000"/>
              </a:schemeClr>
            </a:solidFill>
            <a:round/>
          </a:ln>
        </p:spPr>
      </p:cxnSp>
      <p:sp>
        <p:nvSpPr>
          <p:cNvPr id="99" name="Rectangle 7"/>
          <p:cNvSpPr/>
          <p:nvPr/>
        </p:nvSpPr>
        <p:spPr>
          <a:xfrm>
            <a:off x="0" y="4952880"/>
            <a:ext cx="9140760" cy="1904400"/>
          </a:xfrm>
          <a:prstGeom prst="rect">
            <a:avLst/>
          </a:prstGeom>
          <a:solidFill>
            <a:schemeClr val="accent2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0" name="Rectangle 8"/>
          <p:cNvSpPr/>
          <p:nvPr/>
        </p:nvSpPr>
        <p:spPr>
          <a:xfrm>
            <a:off x="0" y="4915080"/>
            <a:ext cx="9140760" cy="63360"/>
          </a:xfrm>
          <a:prstGeom prst="rect">
            <a:avLst/>
          </a:prstGeom>
          <a:solidFill>
            <a:schemeClr val="accent1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31"/>
          </p:nvPr>
        </p:nvSpPr>
        <p:spPr>
          <a:xfrm>
            <a:off x="2764800" y="6459840"/>
            <a:ext cx="3616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sldNum" idx="32"/>
          </p:nvPr>
        </p:nvSpPr>
        <p:spPr>
          <a:xfrm>
            <a:off x="7425360" y="6459840"/>
            <a:ext cx="9831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9AC3EC7-84DE-433A-B72B-0D5D2A6D9085}" type="slidenum"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&lt;número&gt;</a:t>
            </a:fld>
            <a:endParaRPr b="0" lang="pt-BR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dt" idx="33"/>
          </p:nvPr>
        </p:nvSpPr>
        <p:spPr>
          <a:xfrm>
            <a:off x="822960" y="6459840"/>
            <a:ext cx="185364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file:///U:/home/gracelli/databases/uaspeech/dysarthric/wavs/original/M04/M04_B1_C1_M3.wav" TargetMode="Externa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file:///D:/POS/slides/DEFESA.odp#Considera&#231;&#245;es%20Finais%20(cap3)" TargetMode="External"/><Relationship Id="rId2" Type="http://schemas.openxmlformats.org/officeDocument/2006/relationships/hyperlink" Target="file:///D:/POS/slides/DEFESA.odp#Discuss&#227;o" TargetMode="External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9.gif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gif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slideLayout" Target="../slideLayouts/slideLayout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5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2.gif"/><Relationship Id="rId3" Type="http://schemas.openxmlformats.org/officeDocument/2006/relationships/slideLayout" Target="../slideLayouts/slideLayout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6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6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6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hyperlink" Target="file:///U:/home/gracelli/databases/uaspeech/control/wavs/original/CF02/CF02_B1_C10_M2.wav" TargetMode="External"/><Relationship Id="rId2" Type="http://schemas.openxmlformats.org/officeDocument/2006/relationships/image" Target="../media/image37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hyperlink" Target="file:///U:/home/gracelli/databases/uaspeech/control/wavs/aug/CF02/CF02_B1_C10_M2.wav" TargetMode="External"/><Relationship Id="rId6" Type="http://schemas.openxmlformats.org/officeDocument/2006/relationships/image" Target="../media/image39.png"/><Relationship Id="rId7" Type="http://schemas.openxmlformats.org/officeDocument/2006/relationships/hyperlink" Target="file:///U:/home/gracelli/databases/uaspeech/control/wavs/aug_plus_prop/CF02/CF02_B1_C10_M2.wav" TargetMode="External"/><Relationship Id="rId8" Type="http://schemas.openxmlformats.org/officeDocument/2006/relationships/image" Target="../media/image40.png"/><Relationship Id="rId9" Type="http://schemas.openxmlformats.org/officeDocument/2006/relationships/hyperlink" Target="file:///U:/home/gracelli/databases/uaspeech/dysarthric/wavs/original/F03/F03_B1_C10_M2.wav" TargetMode="External"/><Relationship Id="rId10" Type="http://schemas.openxmlformats.org/officeDocument/2006/relationships/image" Target="../media/image41.png"/><Relationship Id="rId11" Type="http://schemas.openxmlformats.org/officeDocument/2006/relationships/hyperlink" Target="file:///U:/home/gracelli/databases/uaspeech/control/wavs/aug_prop/CF02/CF02_B1_C10_M2.wav" TargetMode="External"/><Relationship Id="rId12" Type="http://schemas.openxmlformats.org/officeDocument/2006/relationships/image" Target="../media/image42.png"/><Relationship Id="rId13" Type="http://schemas.openxmlformats.org/officeDocument/2006/relationships/slideLayout" Target="../slideLayouts/slideLayout6.xml"/><Relationship Id="rId14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slideLayout" Target="../slideLayouts/slideLayout6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slideLayout" Target="../slideLayouts/slideLayout6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slideLayout" Target="../slideLayouts/slideLayout6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slideLayout" Target="../slideLayouts/slideLayout6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60.svg"/><Relationship Id="rId3" Type="http://schemas.openxmlformats.org/officeDocument/2006/relationships/slideLayout" Target="../slideLayouts/slideLayout5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62.svg"/><Relationship Id="rId3" Type="http://schemas.openxmlformats.org/officeDocument/2006/relationships/slideLayout" Target="../slideLayouts/slideLayout5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3.png"/><Relationship Id="rId3" Type="http://schemas.openxmlformats.org/officeDocument/2006/relationships/slideLayout" Target="../slideLayouts/slideLayout5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slideLayout" Target="../slideLayouts/slideLayout5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slideLayout" Target="../slideLayouts/slideLayout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slideLayout" Target="../slideLayouts/slideLayout5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slideLayout" Target="../slideLayouts/slideLayout5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file:///D:/POS/slides/DEFESA.odp#Hip&#243;teses" TargetMode="External"/><Relationship Id="rId3" Type="http://schemas.openxmlformats.org/officeDocument/2006/relationships/slideLayout" Target="../slideLayouts/slideLayout5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0.png"/><Relationship Id="rId3" Type="http://schemas.openxmlformats.org/officeDocument/2006/relationships/image" Target="../media/image81.svg"/><Relationship Id="rId4" Type="http://schemas.openxmlformats.org/officeDocument/2006/relationships/image" Target="../media/image82.png"/><Relationship Id="rId5" Type="http://schemas.openxmlformats.org/officeDocument/2006/relationships/image" Target="../media/image83.svg"/><Relationship Id="rId6" Type="http://schemas.openxmlformats.org/officeDocument/2006/relationships/slideLayout" Target="../slideLayouts/slideLayout5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4.png"/><Relationship Id="rId3" Type="http://schemas.openxmlformats.org/officeDocument/2006/relationships/image" Target="../media/image85.svg"/><Relationship Id="rId4" Type="http://schemas.openxmlformats.org/officeDocument/2006/relationships/image" Target="../media/image86.png"/><Relationship Id="rId5" Type="http://schemas.openxmlformats.org/officeDocument/2006/relationships/image" Target="../media/image87.svg"/><Relationship Id="rId6" Type="http://schemas.openxmlformats.org/officeDocument/2006/relationships/slideLayout" Target="../slideLayouts/slideLayout5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88.png"/><Relationship Id="rId2" Type="http://schemas.openxmlformats.org/officeDocument/2006/relationships/image" Target="../media/image89.png"/><Relationship Id="rId3" Type="http://schemas.openxmlformats.org/officeDocument/2006/relationships/image" Target="../media/image90.png"/><Relationship Id="rId4" Type="http://schemas.openxmlformats.org/officeDocument/2006/relationships/slideLayout" Target="../slideLayouts/slideLayout5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91.png"/><Relationship Id="rId2" Type="http://schemas.openxmlformats.org/officeDocument/2006/relationships/image" Target="../media/image92.svg"/><Relationship Id="rId3" Type="http://schemas.openxmlformats.org/officeDocument/2006/relationships/hyperlink" Target="https://ragracelli.github.io/CONTRASTIVE_DASR/" TargetMode="External"/><Relationship Id="rId4" Type="http://schemas.openxmlformats.org/officeDocument/2006/relationships/slideLayout" Target="../slideLayouts/slideLayout5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hyperlink" Target="https://arxiv.org/abs/2002.05709" TargetMode="External"/><Relationship Id="rId2" Type="http://schemas.openxmlformats.org/officeDocument/2006/relationships/hyperlink" Target="https://arxiv.org/abs/2002.05709" TargetMode="External"/><Relationship Id="rId3" Type="http://schemas.openxmlformats.org/officeDocument/2006/relationships/hyperlink" Target="https://pubs.asha.org/doi/epdf/10.1044/jshr.1202.246" TargetMode="External"/><Relationship Id="rId4" Type="http://schemas.openxmlformats.org/officeDocument/2006/relationships/slideLayout" Target="../slideLayouts/slideLayout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hyperlink" Target="https://www.deeplearningbook.org/" TargetMode="External"/><Relationship Id="rId2" Type="http://schemas.openxmlformats.org/officeDocument/2006/relationships/slideLayout" Target="../slideLayouts/slideLayout5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775080" y="3818160"/>
            <a:ext cx="673020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0" lang="pt-BR" sz="4000" spc="-51" strike="noStrike" u="non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alibri Light"/>
              </a:rPr>
              <a:t>Sistema de Reconhecimento de Fala Disártrica Usando Aprendizagem Autossupervisionada</a:t>
            </a:r>
            <a:br>
              <a:rPr sz="4000"/>
            </a:br>
            <a:br>
              <a:rPr sz="4000"/>
            </a:b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ubTitle"/>
          </p:nvPr>
        </p:nvSpPr>
        <p:spPr>
          <a:xfrm>
            <a:off x="825120" y="4455720"/>
            <a:ext cx="7543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pt-BR" sz="1200" spc="198" strike="noStrike" u="none" cap="all">
                <a:solidFill>
                  <a:schemeClr val="dk2"/>
                </a:solidFill>
                <a:effectLst/>
                <a:uFillTx/>
                <a:latin typeface="Calibri Light"/>
              </a:rPr>
              <a:t>Defesa de Dissertação de mestrado apresentada ao Programa de Pós-Graduação em Ciência da Computação do Centro de Ciências Exatas e de Tecnologia da Universidade Federal de São Carlos, como parte dos requisitos para a obtenção do título de Mestre em Ciência da Computação.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pt-BR" sz="1200" spc="198" strike="noStrike" u="none" cap="all">
                <a:solidFill>
                  <a:schemeClr val="dk2"/>
                </a:solidFill>
                <a:effectLst/>
                <a:uFillTx/>
                <a:latin typeface="Calibri Light"/>
              </a:rPr>
              <a:t>Área de concentração: Visão Computacional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pt-BR" sz="1200" spc="198" strike="noStrike" u="none" cap="all">
                <a:solidFill>
                  <a:schemeClr val="dk2"/>
                </a:solidFill>
                <a:effectLst/>
                <a:uFillTx/>
                <a:latin typeface="Calibri Light"/>
              </a:rPr>
              <a:t>Orientador: Jurandy G. Almeida Jr.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pt-BR" sz="1200" spc="198" strike="noStrike" u="none" cap="all">
                <a:solidFill>
                  <a:schemeClr val="dk2"/>
                </a:solidFill>
                <a:effectLst/>
                <a:uFillTx/>
                <a:latin typeface="Calibri Light"/>
              </a:rPr>
              <a:t>Sorocaba, 2025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aixaDeTexto 4"/>
          <p:cNvSpPr/>
          <p:nvPr/>
        </p:nvSpPr>
        <p:spPr>
          <a:xfrm>
            <a:off x="825120" y="794160"/>
            <a:ext cx="30956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Ricardo Alexandre Gracelli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m 5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15" name="Agrupar 7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16" name="CaixaDeTexto 3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Retângulo 6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F26167B1-78F7-4AC1-A0C2-C54A6D840571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FBA974AB-647C-4BA2-8711-6B9C0D86E0E4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Sumário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822960" y="179388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numCol="2" spcCol="0" lIns="0" rIns="0" tIns="45720" bIns="45720" anchor="t">
            <a:normAutofit fontScale="92500" lnSpcReduction="19999"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Introdução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Implicações e classificações da Disartria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Desafios da fala disártrica em reconhecimento de fala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Objetivos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4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Abordagem Supervisionada X Autosupervisionada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4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Aprendizado contrastivo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1640" indent="-34308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Conceitos básicos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Redes CNN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Autocodificadores (AE)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Autocodificadores Variacionais (VAE)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Espectrogramas STFT e MFCC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Aprendizado SSL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Aprendizado Contrastivo (SimCLR e SwAV)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1640" indent="-34308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Proposta: 1ª Etapa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Escolha dos métodos de aumento de dados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Explanação sobre artigo: </a:t>
            </a:r>
            <a:r>
              <a:rPr b="1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Explorando Métodos Alternativos de Aumento de Dados em Sistemas de Reconhecimento Automático de Fala Disártrica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1640" indent="-34308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Proposta: 2ª Etapa (CL)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543960" indent="-3430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Apresentação de metodologias, arquiteturas e resultados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1640" indent="-34308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Discussão e Conclusões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1640" indent="-34308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Referências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aixaDeTexto 9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tângulo 10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E85922EF-B025-46C3-882D-6200CB876FE7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F145B4B5-137A-4B46-97B5-EA95E5E3389D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Imagem 4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 txBox="1"/>
          <p:nvPr/>
        </p:nvSpPr>
        <p:spPr>
          <a:xfrm>
            <a:off x="3878280" y="5832000"/>
            <a:ext cx="13874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“Command”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 que é a disartria?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 disartria é um distúrbio da fala causado por alterações no controle dos músculos envolvidos na produção da fala. As causas incluem lesões no sistema nervoso central ou periférico, associadas a condições como Doença de Parkinson, AVC e Esclerose Lateral Amiotrófica.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Introdução / Motivação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pic>
        <p:nvPicPr>
          <p:cNvPr id="126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27" name="Agrupar 4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28" name="CaixaDeTexto 5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Retângulo 6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AE71BEDF-856D-4FC5-8C05-D930368AB5B9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BECEDE9F-E4C3-4A44-B25F-5AC44B544E6D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30" name="Play" descr="Clique para reproduzir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3897000" y="4500000"/>
            <a:ext cx="1350000" cy="1080000"/>
          </a:xfrm>
          <a:prstGeom prst="rect">
            <a:avLst/>
          </a:prstGeom>
          <a:noFill/>
          <a:ln w="0">
            <a:noFill/>
          </a:ln>
          <a:effectLst>
            <a:outerShdw dist="107932" dir="2700000" blurRad="165240" rotWithShape="0">
              <a:srgbClr val="808080">
                <a:alpha val="75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Implicações e Classificações da Disartria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Implicações: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Fala lenta, arrastada, com articulação imprecisa.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Alterações na fonação, prosódia e ressonância.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Classificações: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Hipocinética: voz rouca, tremores.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Hipercinética: problemas vocálicos, soprosidade.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4" name="Agrupar 4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35" name="CaixaDeTexto 5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Retângulo 6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E99E8033-C674-425C-BE56-0D798FC90E76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C45C311E-0509-4C84-8175-5A9E94D1C898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Desafios da fala disártrica em Reconhecimento de fala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Dificuldades motoras comprometem a </a:t>
            </a:r>
            <a:r>
              <a:rPr b="1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precisão de sistemas tradicionais de ASR</a:t>
            </a: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Corpora específicos para fala disártrica são </a:t>
            </a:r>
            <a:r>
              <a:rPr b="1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reduzidos e limitados</a:t>
            </a: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9" name="Agrupar 7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40" name="CaixaDeTexto 8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tângulo 9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5242E3AF-F562-4FCD-8D0D-DD67F1222EDD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DE138DD8-0B30-424D-816C-DB2C902A6CDB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42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Objetivos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1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Melhorar o reconhecimento de fala disártrica pelos ASR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Utilizar técnicas de </a:t>
            </a:r>
            <a:r>
              <a:rPr b="1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aumento de dados</a:t>
            </a: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e de </a:t>
            </a:r>
            <a:r>
              <a:rPr b="1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autossupervisão</a:t>
            </a: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para superar a limitação de dados rotulados.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Focar em </a:t>
            </a:r>
            <a:r>
              <a:rPr b="0" lang="pt-BR" sz="1800" strike="noStrike" u="sng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SOLUÇÕES</a:t>
            </a: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para os desafios impostos por dificuldades motoras que afetam a fala.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Aumento de dados: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Oclusão Espectral: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Mascara seletivamente partes de espectrogramas de fala normal.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Simula características acústicas de fala disártrica.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6" name="Agrupar 4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47" name="CaixaDeTexto 5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Retângulo 6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F2227D68-EDBE-4DF1-9483-CA8651F6528C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4DE3BC36-1CA9-4D44-8E60-6774DDF5D5ED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49" name="Conector: Angulado 8"/>
          <p:cNvCxnSpPr/>
          <p:nvPr/>
        </p:nvCxnSpPr>
        <p:spPr>
          <a:xfrm rot="5400000">
            <a:off x="1813680" y="3142080"/>
            <a:ext cx="847800" cy="606960"/>
          </a:xfrm>
          <a:prstGeom prst="bentConnector3">
            <a:avLst>
              <a:gd name="adj1" fmla="val 50042"/>
            </a:avLst>
          </a:prstGeom>
          <a:ln w="57240">
            <a:solidFill>
              <a:srgbClr val="00b05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Abordagem Supervisionada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Utiliza áudios com transcrições anotadas manualmente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Modelos aprendem a mapear sinais acústicos para palavras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Exige grandes volumes de dados rotulados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53" name="Agrupar 4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54" name="CaixaDeTexto 5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Retângulo 6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981A005B-D6CE-4100-AAD4-3F0F4FDF6654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27285522-594F-4445-B30B-63419B474E97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6" name="Rectangle 3"/>
          <p:cNvSpPr/>
          <p:nvPr/>
        </p:nvSpPr>
        <p:spPr>
          <a:xfrm>
            <a:off x="1976040" y="-319320"/>
            <a:ext cx="5324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Aprendizado a partir de dados não rotulados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marL="91440" indent="0" defTabSz="914400">
              <a:lnSpc>
                <a:spcPct val="6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pt-BR" sz="25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Técnicas de Aumento de Dados (Data Augmentation):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822960" y="1593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0" defTabSz="914400">
              <a:lnSpc>
                <a:spcPct val="6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6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Aplicadas aos espectrogramas ou diretamente ao áudio para melhorar a robustez do modelo: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6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Oclusão Espectral (Spectral Masking):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6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Mascara regiões do espectro simulando distorções articulatórias (disartria, ruídos internos)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6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Adição de Ruído (Additive Noise):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6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Injeta ruídos ambientais (ex: estático, fala de fundo) para melhorar a generalização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6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Alongamento de Tempo (Time Stretch):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6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Modifica a velocidade da fala sem alterar o pitch, simulando variações de ritmo entre falantes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m 8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60" name="Agrupar 3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61" name="CaixaDeTexto 26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Retângulo 4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5E2E1CEE-1A66-4C4B-B81A-36BE85327928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737967D7-D60A-4320-896A-9BCF98B3D42B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3" name="Rectangle 1"/>
          <p:cNvSpPr/>
          <p:nvPr/>
        </p:nvSpPr>
        <p:spPr>
          <a:xfrm>
            <a:off x="1976040" y="-319320"/>
            <a:ext cx="5324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Aprendizado a partir de dados não rotulados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marL="91440" indent="0" defTabSz="914400">
              <a:lnSpc>
                <a:spcPct val="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pt-BR" sz="25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🎯    </a:t>
            </a:r>
            <a:r>
              <a:rPr b="1" lang="pt-BR" sz="25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Benefícios</a:t>
            </a:r>
            <a:r>
              <a:rPr b="0" lang="pt-BR" sz="25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: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pic>
        <p:nvPicPr>
          <p:cNvPr id="165" name="Imagem 12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66" name="Agrupar 5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67" name="CaixaDeTexto 27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Retângulo 13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B441B976-F3CB-4FFB-8B25-5F5042BBAF2F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435B8376-4178-4463-A815-219ADBD0BFA6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9" name="Rectangle 2"/>
          <p:cNvSpPr/>
          <p:nvPr/>
        </p:nvSpPr>
        <p:spPr>
          <a:xfrm>
            <a:off x="1976040" y="-319320"/>
            <a:ext cx="5324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1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Aprendizado a partir de dados não rotulados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822960" y="184176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0" defTabSz="914400">
              <a:lnSpc>
                <a:spcPct val="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defTabSz="914400">
              <a:lnSpc>
                <a:spcPct val="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5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Aumenta a diversidade dos dados de treino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5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Melhora a robustez do reconhecimento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5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Auxilia no desempenho em fala disártrica ou degradada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SSL - Abordagem Contrastiva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 lnSpcReduction="9999"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SimCLR: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Explora similaridade entre transformações de dados.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Diferencia padrões acústicos de fala normotípica e disártrica.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412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10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SwAV: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Utiliza agrupamento online para associar representações a protótipos, sem depender da comparação entre pares.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Aprende representações robustas mesmo sem rótulos explícitos ou contraste direto.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Na fala, reduz ruídos e variações intra-falante, gerando </a:t>
            </a:r>
            <a:r>
              <a:rPr b="0" i="1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embeddings</a:t>
            </a: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mais estáveis e favorecendo o reconhecimento preciso de padrões disártricos.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3" name="Agrupar 4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74" name="CaixaDeTexto 5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Retângulo 6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4A19D9CC-C7B7-4714-8DB2-CDF54071CC08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25576F25-6D26-4CEF-9DD6-866397CF08DF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76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Hipóteses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822960" y="2241720"/>
            <a:ext cx="78166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/>
          </a:bodyPr>
          <a:p>
            <a:pPr marL="91440" indent="-91440" algn="just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H1. A introdução de múltiplas técnicas de aumento (ruído aditivo, alongamento temporal, Oclusão Espectral e suas combinações) nos espectrogramas de fala disártrica leva os modelos ASR a aprenderem representações acústicas mais robustas. </a:t>
            </a: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Segoe UI Emoji"/>
                <a:hlinkClick r:id="rId1"/>
              </a:rPr>
              <a:t>⬅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0" algn="just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algn="just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Microsoft YaHei"/>
              </a:rPr>
              <a:t> H2. Empregar essas mesmas transformações como base para formar pares positivos no pré-treinamento contrastivo (SimCLR ou SwAV) gera </a:t>
            </a:r>
            <a:r>
              <a:rPr b="0" i="1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Microsoft YaHei"/>
              </a:rPr>
              <a:t>embeddings</a:t>
            </a: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Microsoft YaHei"/>
              </a:rPr>
              <a:t> que aprimoram de modo consistente o desempenho do reconhecimento de fala disártrica. </a:t>
            </a: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Segoe UI Emoji"/>
                <a:ea typeface="Microsoft YaHei"/>
                <a:hlinkClick r:id="rId2"/>
              </a:rPr>
              <a:t>⬅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9" name="Agrupar 1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80" name="CaixaDeTexto 2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Retângulo 3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3D48E4D9-A392-4355-8E92-027CD4DB976F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C7DDB11D-DB7C-41AE-9894-1D09BCA96F35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82" name="Imagem 7" descr=""/>
          <p:cNvPicPr/>
          <p:nvPr/>
        </p:nvPicPr>
        <p:blipFill>
          <a:blip r:embed="rId3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22960" y="758880"/>
            <a:ext cx="7543080" cy="356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0" lang="en-US" sz="8000" spc="-51" strike="noStrike" u="non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alibri Light"/>
              </a:rPr>
              <a:t>Conceitos Básicos</a:t>
            </a:r>
            <a:endParaRPr b="0" lang="en-US" sz="80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ubTitle"/>
          </p:nvPr>
        </p:nvSpPr>
        <p:spPr>
          <a:xfrm>
            <a:off x="825120" y="4455720"/>
            <a:ext cx="7543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pt-BR" sz="2400" spc="198" strike="noStrike" u="none" cap="all">
                <a:solidFill>
                  <a:schemeClr val="dk2"/>
                </a:solidFill>
                <a:effectLst/>
                <a:uFillTx/>
                <a:latin typeface="Calibri Light"/>
              </a:rPr>
              <a:t>Fundamentação teórica sobre Redes Convolucionais, Autocodificadores, Espectrogramas e Aprendizado Autossupervisionado.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86" name="Agrupar 4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187" name="CaixaDeTexto 5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Retângulo 6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5A2D581C-9D53-47A3-B89F-CEAEE887F7B0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819E0E26-70E4-4D50-8C24-1021632FDCEF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Redes Neurais Convolucionais (CNNs)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 fontScale="85000" lnSpcReduction="19999"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Definição: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Arquitetura projetada para dados em grade, como imagens e séries temporais.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Aplicações: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Processamento de imagens.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Visão computacional.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Estrutura: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Camadas convolucionais para extração de características.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Camadas de agrupamento (Pooling) para redução de dimensionalidade.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Camadas totalmente conectadas para classificação.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CaixaDeTexto 8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tângulo 9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2FD97A0D-65E1-43C7-B336-760E9A3B3BD6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ABB2046B-7DF7-442B-8465-09A590DCFB54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Imagem 11" descr=""/>
          <p:cNvPicPr/>
          <p:nvPr/>
        </p:nvPicPr>
        <p:blipFill>
          <a:blip r:embed="rId2"/>
          <a:stretch/>
        </p:blipFill>
        <p:spPr>
          <a:xfrm>
            <a:off x="3783600" y="2536200"/>
            <a:ext cx="4975560" cy="191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aixaDeTexto 12"/>
          <p:cNvSpPr/>
          <p:nvPr/>
        </p:nvSpPr>
        <p:spPr>
          <a:xfrm>
            <a:off x="5053320" y="4475880"/>
            <a:ext cx="3764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KATEGARU(2020) – Adaptado.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Picture 2" descr=""/>
          <p:cNvPicPr/>
          <p:nvPr/>
        </p:nvPicPr>
        <p:blipFill>
          <a:blip r:embed="rId1"/>
          <a:stretch/>
        </p:blipFill>
        <p:spPr>
          <a:xfrm>
            <a:off x="4572000" y="2972520"/>
            <a:ext cx="4054320" cy="176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Autocodificadores (AEs)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 fontScale="85000" lnSpcReduction="19999"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Definição: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Modelos para aprender representações compactas de dados.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Estrutura: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Codificador: comprime os dados de entrada.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Decodificador: reconstrói os dados</a:t>
            </a: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originais.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Perda MSE (Erro quadrático médio)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Objetivo: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Reduzir dimensionalidade.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Minimizar a perda de reconstrução.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CaixaDeTexto 11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etângulo 12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887028D0-FF01-4D14-B914-AB756057709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BE63E85E-E593-4B9F-97B0-C3D59E35C83A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m 4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 fontScale="70000" lnSpcReduction="19999"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Definição: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Extensão probabilística dos AEs que aprendem distribuições latentes.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Estrutura: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Codificador: mapeia dados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para uma distribuição latente.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Decodificador: gera amostras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a partir da distribuição latente.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Perda: Erro de Reconstrução (Recon Loss) + 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Divergência KL (Kullback-Leibler Divergence)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Objetivo: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Gerar novos dados semelhantes aos dados originais.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m 13" descr=""/>
          <p:cNvPicPr/>
          <p:nvPr/>
        </p:nvPicPr>
        <p:blipFill>
          <a:blip r:embed="rId1"/>
          <a:stretch/>
        </p:blipFill>
        <p:spPr>
          <a:xfrm>
            <a:off x="5991120" y="4881600"/>
            <a:ext cx="1108800" cy="84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PlaceHolder 2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Autocodificadores Variacionais (VAEs)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05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6AFD4568-3DE7-4316-8E4A-7F1BBB0513B9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C5C8CA87-ADA1-4AD3-9D81-3609DD34ED49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" descr=""/>
          <p:cNvPicPr/>
          <p:nvPr/>
        </p:nvPicPr>
        <p:blipFill>
          <a:blip r:embed="rId2"/>
          <a:stretch/>
        </p:blipFill>
        <p:spPr>
          <a:xfrm>
            <a:off x="4594680" y="2972520"/>
            <a:ext cx="4054320" cy="1769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Picture 2" descr=""/>
          <p:cNvPicPr/>
          <p:nvPr/>
        </p:nvPicPr>
        <p:blipFill>
          <a:blip r:embed="rId3"/>
          <a:stretch/>
        </p:blipFill>
        <p:spPr>
          <a:xfrm>
            <a:off x="6258240" y="4444560"/>
            <a:ext cx="573840" cy="57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9" name="Imagem 5" descr=""/>
          <p:cNvPicPr/>
          <p:nvPr/>
        </p:nvPicPr>
        <p:blipFill>
          <a:blip r:embed="rId4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Espectrogramas STFT e MFCC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11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F27804DA-0FCA-420A-879C-7D5DB125F787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DE7151BB-5A93-4503-AEBA-D52D4E2A64CB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agem 10" descr=""/>
          <p:cNvPicPr/>
          <p:nvPr/>
        </p:nvPicPr>
        <p:blipFill>
          <a:blip r:embed="rId1"/>
          <a:srcRect l="3893" t="0" r="4224" b="0"/>
          <a:stretch/>
        </p:blipFill>
        <p:spPr>
          <a:xfrm>
            <a:off x="1872000" y="3432600"/>
            <a:ext cx="4759920" cy="278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aixaDeTexto 11"/>
          <p:cNvSpPr/>
          <p:nvPr/>
        </p:nvSpPr>
        <p:spPr>
          <a:xfrm>
            <a:off x="5066640" y="1762920"/>
            <a:ext cx="367884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MFCC: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Escala Mel para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melhor percepção humana.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- Ideal para reconhecimento de fala.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- Captura características relevantes do áudio (reduz dimensionalidade)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aixaDeTexto 13"/>
          <p:cNvSpPr/>
          <p:nvPr/>
        </p:nvSpPr>
        <p:spPr>
          <a:xfrm>
            <a:off x="609120" y="1762920"/>
            <a:ext cx="346788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STFT: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- Representação tempo-frequência de sinais.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Alta resolução temporal, limitada em frequência em janelas curtas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(princípio da incerteza)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m 4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Aprendizado Autossupervisionado (SSL)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 fontScale="92500" lnSpcReduction="19999"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Definição: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Técnica que utiliza dados não rotulados com tarefas auxiliares para aprendizado.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Exemplos: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Predição de palavras (</a:t>
            </a: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PLN).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Predição mascarada (HuBERT).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Benefícios: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Reduz dependência de dados rotulados.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Aprende representações robustas.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62B07002-301B-44E4-93B6-C37C03567E5F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D0A5C232-4398-40CD-8900-B5ED01460610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1" name="Imagem 4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Aprendizado Contrastivo: SimCLR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 fontScale="92500" lnSpcReduction="9999"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Definição: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Framework simples para aprendizado contrastivo de representações visuais.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Funcionamento: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Maximiza similaridade entre transformações de uma mesma amostra (pares positivos).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Minimiza similaridade com outras amostras (pares negativos).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Função de Perda: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- </a:t>
            </a: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Inter"/>
              </a:rPr>
              <a:t>NT-Xent ( perda de entropia cruzada em escala de temperatura normalizada )</a:t>
            </a: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para otimização do contraste entre pares.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17914C63-8BCD-4449-A28B-16E841BE693E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659C596F-E189-4D14-BD0E-170A935B8CE1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Imagem 4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Aprendizado Contrastivo: SimCLR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pic>
        <p:nvPicPr>
          <p:cNvPr id="228" name="Espaço Reservado para Conteúdo 4" descr=""/>
          <p:cNvPicPr/>
          <p:nvPr/>
        </p:nvPicPr>
        <p:blipFill>
          <a:blip r:embed="rId1"/>
          <a:stretch/>
        </p:blipFill>
        <p:spPr>
          <a:xfrm>
            <a:off x="218880" y="1737360"/>
            <a:ext cx="8790120" cy="422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86204520-812E-4DD9-8015-DD372F5F4CE8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F10FFAA5-3137-4E53-91EF-44F99D0CC22E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m 2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"/>
          <p:cNvSpPr/>
          <p:nvPr/>
        </p:nvSpPr>
        <p:spPr>
          <a:xfrm>
            <a:off x="3623400" y="4555080"/>
            <a:ext cx="2857320" cy="140616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Espaço Reservado para Conteúdo 10" descr=""/>
          <p:cNvPicPr/>
          <p:nvPr/>
        </p:nvPicPr>
        <p:blipFill>
          <a:blip r:embed="rId1"/>
          <a:stretch/>
        </p:blipFill>
        <p:spPr>
          <a:xfrm>
            <a:off x="1376280" y="1943280"/>
            <a:ext cx="5838120" cy="298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Como crianças correlacionam imagens?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36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A1C4E67F-CBC8-4785-879C-DA5EEFC0CEBB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F807F890-0EB1-45CD-95EE-BD14B59BDE30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tângulo 15"/>
          <p:cNvSpPr/>
          <p:nvPr/>
        </p:nvSpPr>
        <p:spPr>
          <a:xfrm>
            <a:off x="1511280" y="1957680"/>
            <a:ext cx="4407480" cy="470880"/>
          </a:xfrm>
          <a:prstGeom prst="rect">
            <a:avLst/>
          </a:prstGeom>
          <a:solidFill>
            <a:srgbClr val="f8f8f8"/>
          </a:solidFill>
          <a:ln w="15840">
            <a:solidFill>
              <a:srgbClr val="f5f5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40" name="CaixaDeTexto 14"/>
          <p:cNvSpPr/>
          <p:nvPr/>
        </p:nvSpPr>
        <p:spPr>
          <a:xfrm>
            <a:off x="1511280" y="1875240"/>
            <a:ext cx="3993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Combine o animal correto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CaixaDeTexto 18"/>
          <p:cNvSpPr/>
          <p:nvPr/>
        </p:nvSpPr>
        <p:spPr>
          <a:xfrm>
            <a:off x="490680" y="5496120"/>
            <a:ext cx="8011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É possível “ensinar” máquinas usando abordagem semelhante?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m 2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Aprendizado contrastivo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44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1EF6209C-8C0E-43EA-BEA5-14C11A643F1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31809B5B-8ECE-4F5A-BA3F-59D28DE49028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CaixaDeTexto 16"/>
          <p:cNvSpPr/>
          <p:nvPr/>
        </p:nvSpPr>
        <p:spPr>
          <a:xfrm>
            <a:off x="853200" y="1877400"/>
            <a:ext cx="6135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Exemplos similares e diferentes são necessários: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m 19" descr=""/>
          <p:cNvPicPr/>
          <p:nvPr/>
        </p:nvPicPr>
        <p:blipFill>
          <a:blip r:embed="rId1"/>
          <a:stretch/>
        </p:blipFill>
        <p:spPr>
          <a:xfrm>
            <a:off x="236520" y="2613240"/>
            <a:ext cx="8524080" cy="2494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Retângulo 20"/>
          <p:cNvSpPr/>
          <p:nvPr/>
        </p:nvSpPr>
        <p:spPr>
          <a:xfrm>
            <a:off x="505800" y="4518720"/>
            <a:ext cx="7703640" cy="38952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        Imagem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	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	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	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Similar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	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                    Diferente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	</a:t>
            </a: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             Diferente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Imagem 2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Paradigmas Supervisionado x Autossupervisionado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52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99843C1E-6BB7-438D-BB24-78D42A9683F6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0189711F-7337-492C-AD89-22B65C203D53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5" name="Imagem 4" descr=""/>
          <p:cNvPicPr/>
          <p:nvPr/>
        </p:nvPicPr>
        <p:blipFill>
          <a:blip r:embed="rId1"/>
          <a:stretch/>
        </p:blipFill>
        <p:spPr>
          <a:xfrm>
            <a:off x="0" y="2472840"/>
            <a:ext cx="9143280" cy="235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Retângulo 5"/>
          <p:cNvSpPr/>
          <p:nvPr/>
        </p:nvSpPr>
        <p:spPr>
          <a:xfrm>
            <a:off x="609480" y="2560320"/>
            <a:ext cx="2873880" cy="393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Abordagem Supervisionada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tângulo 10"/>
          <p:cNvSpPr/>
          <p:nvPr/>
        </p:nvSpPr>
        <p:spPr>
          <a:xfrm>
            <a:off x="236520" y="3031920"/>
            <a:ext cx="1658880" cy="29916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Grupo de imagens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etângulo 11"/>
          <p:cNvSpPr/>
          <p:nvPr/>
        </p:nvSpPr>
        <p:spPr>
          <a:xfrm>
            <a:off x="1655640" y="3840480"/>
            <a:ext cx="779040" cy="393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Anotação Manual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tângulo 14"/>
          <p:cNvSpPr/>
          <p:nvPr/>
        </p:nvSpPr>
        <p:spPr>
          <a:xfrm>
            <a:off x="2866680" y="2900520"/>
            <a:ext cx="876960" cy="29916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Rotulação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Retângulo 15"/>
          <p:cNvSpPr/>
          <p:nvPr/>
        </p:nvSpPr>
        <p:spPr>
          <a:xfrm>
            <a:off x="3811680" y="3842280"/>
            <a:ext cx="876960" cy="393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Diferente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tângulo 16"/>
          <p:cNvSpPr/>
          <p:nvPr/>
        </p:nvSpPr>
        <p:spPr>
          <a:xfrm>
            <a:off x="3811680" y="3277440"/>
            <a:ext cx="876960" cy="393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Similar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tângulo 17"/>
          <p:cNvSpPr/>
          <p:nvPr/>
        </p:nvSpPr>
        <p:spPr>
          <a:xfrm>
            <a:off x="4093920" y="2544480"/>
            <a:ext cx="4651560" cy="393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Como podemos gerar pares automaticamente ?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tângulo 18"/>
          <p:cNvSpPr/>
          <p:nvPr/>
        </p:nvSpPr>
        <p:spPr>
          <a:xfrm>
            <a:off x="4537080" y="2934000"/>
            <a:ext cx="1658880" cy="29916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Grupo de imagens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etângulo 19"/>
          <p:cNvSpPr/>
          <p:nvPr/>
        </p:nvSpPr>
        <p:spPr>
          <a:xfrm>
            <a:off x="7399440" y="2842200"/>
            <a:ext cx="876960" cy="29916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Rotulação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tângulo 20"/>
          <p:cNvSpPr/>
          <p:nvPr/>
        </p:nvSpPr>
        <p:spPr>
          <a:xfrm>
            <a:off x="8351280" y="3229200"/>
            <a:ext cx="754560" cy="393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Similar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Retângulo 22"/>
          <p:cNvSpPr/>
          <p:nvPr/>
        </p:nvSpPr>
        <p:spPr>
          <a:xfrm>
            <a:off x="8326800" y="3866040"/>
            <a:ext cx="779040" cy="393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Diferente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Imagem 2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Imagem 6" descr=""/>
          <p:cNvPicPr/>
          <p:nvPr/>
        </p:nvPicPr>
        <p:blipFill>
          <a:blip r:embed="rId1"/>
          <a:stretch/>
        </p:blipFill>
        <p:spPr>
          <a:xfrm>
            <a:off x="1403280" y="2358360"/>
            <a:ext cx="6382080" cy="163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Autossupervisionado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70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E9B22928-3F21-4201-BE47-6BBE5B4EBCB4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F26D44B1-C18C-44E6-9D36-79CCDB464CD0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etângulo 5"/>
          <p:cNvSpPr/>
          <p:nvPr/>
        </p:nvSpPr>
        <p:spPr>
          <a:xfrm>
            <a:off x="1315440" y="3597480"/>
            <a:ext cx="2004840" cy="393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Imagem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etângulo 12"/>
          <p:cNvSpPr/>
          <p:nvPr/>
        </p:nvSpPr>
        <p:spPr>
          <a:xfrm>
            <a:off x="4990680" y="3348720"/>
            <a:ext cx="2496960" cy="5954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Representação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CaixaDeTexto 13"/>
          <p:cNvSpPr/>
          <p:nvPr/>
        </p:nvSpPr>
        <p:spPr>
          <a:xfrm>
            <a:off x="843120" y="1829880"/>
            <a:ext cx="3286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Algum método de representação: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6" name="Imagem 23" descr=""/>
          <p:cNvPicPr/>
          <p:nvPr/>
        </p:nvPicPr>
        <p:blipFill>
          <a:blip r:embed="rId2"/>
          <a:stretch/>
        </p:blipFill>
        <p:spPr>
          <a:xfrm>
            <a:off x="1320120" y="4533840"/>
            <a:ext cx="6453360" cy="14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CaixaDeTexto 24"/>
          <p:cNvSpPr/>
          <p:nvPr/>
        </p:nvSpPr>
        <p:spPr>
          <a:xfrm>
            <a:off x="849600" y="4269600"/>
            <a:ext cx="4533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Algum mecanismo para calcular a similaridade: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etângulo 25"/>
          <p:cNvSpPr/>
          <p:nvPr/>
        </p:nvSpPr>
        <p:spPr>
          <a:xfrm>
            <a:off x="1713240" y="4834440"/>
            <a:ext cx="2651400" cy="735840"/>
          </a:xfrm>
          <a:prstGeom prst="rect">
            <a:avLst/>
          </a:prstGeom>
          <a:solidFill>
            <a:srgbClr val="ffffff"/>
          </a:solidFill>
          <a:ln w="158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similaridade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m 2" descr=""/>
          <p:cNvPicPr/>
          <p:nvPr/>
        </p:nvPicPr>
        <p:blipFill>
          <a:blip r:embed="rId3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 : Estrutura do Dataset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81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B0EF6811-0471-4D2F-A2BC-82383781D399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0402D41A-6A34-4BA3-B087-D6B62C411EE2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m 4" descr=""/>
          <p:cNvPicPr/>
          <p:nvPr/>
        </p:nvPicPr>
        <p:blipFill>
          <a:blip r:embed="rId1"/>
          <a:stretch/>
        </p:blipFill>
        <p:spPr>
          <a:xfrm>
            <a:off x="1540800" y="1950480"/>
            <a:ext cx="2369880" cy="180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Retângulo 10"/>
          <p:cNvSpPr/>
          <p:nvPr/>
        </p:nvSpPr>
        <p:spPr>
          <a:xfrm>
            <a:off x="1049760" y="1908000"/>
            <a:ext cx="3351960" cy="29556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Dataset de imagens brutas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6" name="Imagem 14" descr=""/>
          <p:cNvPicPr/>
          <p:nvPr/>
        </p:nvPicPr>
        <p:blipFill>
          <a:blip r:embed="rId2"/>
          <a:stretch/>
        </p:blipFill>
        <p:spPr>
          <a:xfrm>
            <a:off x="3645720" y="3050280"/>
            <a:ext cx="2800800" cy="17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Seta: Dobrada para Cima 15"/>
          <p:cNvSpPr/>
          <p:nvPr/>
        </p:nvSpPr>
        <p:spPr>
          <a:xfrm flipV="1">
            <a:off x="3645720" y="2511360"/>
            <a:ext cx="1586160" cy="60192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accent1"/>
          </a:solidFill>
          <a:ln w="15840">
            <a:solidFill>
              <a:schemeClr val="accent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88" name="Retângulo 16"/>
          <p:cNvSpPr/>
          <p:nvPr/>
        </p:nvSpPr>
        <p:spPr>
          <a:xfrm>
            <a:off x="4334760" y="3157920"/>
            <a:ext cx="1497960" cy="229680"/>
          </a:xfrm>
          <a:prstGeom prst="rect">
            <a:avLst/>
          </a:prstGeom>
          <a:solidFill>
            <a:srgbClr val="f5f5f5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89" name="CaixaDeTexto 17"/>
          <p:cNvSpPr/>
          <p:nvPr/>
        </p:nvSpPr>
        <p:spPr>
          <a:xfrm>
            <a:off x="4262760" y="3081960"/>
            <a:ext cx="1642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Conjunto treino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etângulo 18"/>
          <p:cNvSpPr/>
          <p:nvPr/>
        </p:nvSpPr>
        <p:spPr>
          <a:xfrm>
            <a:off x="4021560" y="3852360"/>
            <a:ext cx="1986480" cy="219240"/>
          </a:xfrm>
          <a:prstGeom prst="rect">
            <a:avLst/>
          </a:prstGeom>
          <a:solidFill>
            <a:srgbClr val="f5f5f5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Tam. lote=2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CaixaDeTexto 19"/>
          <p:cNvSpPr/>
          <p:nvPr/>
        </p:nvSpPr>
        <p:spPr>
          <a:xfrm>
            <a:off x="4305240" y="4746240"/>
            <a:ext cx="15570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Obs: Lote paper original = 8192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2" name="Imagem 2" descr=""/>
          <p:cNvPicPr/>
          <p:nvPr/>
        </p:nvPicPr>
        <p:blipFill>
          <a:blip r:embed="rId3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Aumento de dados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294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0CCDFD4C-122F-4D52-8457-D09429F3BBB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C971777B-5B25-419C-B63B-881341E84DD8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7" name="Picture 2" descr="Aumento aleatório na imagem"/>
          <p:cNvPicPr/>
          <p:nvPr/>
        </p:nvPicPr>
        <p:blipFill>
          <a:blip r:embed="rId1"/>
          <a:stretch/>
        </p:blipFill>
        <p:spPr>
          <a:xfrm>
            <a:off x="2319480" y="2395440"/>
            <a:ext cx="4504680" cy="20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Retângulo 2"/>
          <p:cNvSpPr/>
          <p:nvPr/>
        </p:nvSpPr>
        <p:spPr>
          <a:xfrm>
            <a:off x="2192760" y="2395440"/>
            <a:ext cx="3167640" cy="33012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Transformações aleatórias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etângulo 5"/>
          <p:cNvSpPr/>
          <p:nvPr/>
        </p:nvSpPr>
        <p:spPr>
          <a:xfrm>
            <a:off x="3759120" y="3009960"/>
            <a:ext cx="1328400" cy="1036440"/>
          </a:xfrm>
          <a:prstGeom prst="rect">
            <a:avLst/>
          </a:prstGeom>
          <a:solidFill>
            <a:srgbClr val="dae8fc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Aumento de dados (T)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etângulo 6"/>
          <p:cNvSpPr/>
          <p:nvPr/>
        </p:nvSpPr>
        <p:spPr>
          <a:xfrm>
            <a:off x="2192760" y="4233240"/>
            <a:ext cx="1337040" cy="22824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Imagem original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etângulo 12"/>
          <p:cNvSpPr/>
          <p:nvPr/>
        </p:nvSpPr>
        <p:spPr>
          <a:xfrm>
            <a:off x="5217120" y="4216320"/>
            <a:ext cx="1690920" cy="22824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Imagem transformada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CaixaDeTexto 13"/>
          <p:cNvSpPr/>
          <p:nvPr/>
        </p:nvSpPr>
        <p:spPr>
          <a:xfrm>
            <a:off x="1331640" y="4952880"/>
            <a:ext cx="66276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7d12ba"/>
                </a:solidFill>
                <a:effectLst/>
                <a:uFillTx/>
                <a:latin typeface="SFMono-Regular"/>
                <a:ea typeface="DejaVu Sans"/>
              </a:rPr>
              <a:t>random (crop + flip + color jitter + grayscale)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3" name="Imagem 4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Preparar pares similares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305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44395FB4-27F2-453C-8E1D-7AC68397F458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60D54369-AC0E-4D74-B17D-3685D1A74D23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m 10" descr=""/>
          <p:cNvPicPr/>
          <p:nvPr/>
        </p:nvPicPr>
        <p:blipFill>
          <a:blip r:embed="rId1"/>
          <a:stretch/>
        </p:blipFill>
        <p:spPr>
          <a:xfrm>
            <a:off x="1136160" y="2471760"/>
            <a:ext cx="6916680" cy="321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Retângulo 11"/>
          <p:cNvSpPr/>
          <p:nvPr/>
        </p:nvSpPr>
        <p:spPr>
          <a:xfrm>
            <a:off x="1244520" y="3674520"/>
            <a:ext cx="829080" cy="25308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800" strike="noStrike" u="none">
                <a:solidFill>
                  <a:srgbClr val="939393"/>
                </a:solidFill>
                <a:effectLst/>
                <a:uFillTx/>
                <a:latin typeface="Calibri"/>
                <a:ea typeface="DejaVu Sans"/>
              </a:rPr>
              <a:t>Lote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etângulo 14"/>
          <p:cNvSpPr/>
          <p:nvPr/>
        </p:nvSpPr>
        <p:spPr>
          <a:xfrm>
            <a:off x="2074320" y="5283720"/>
            <a:ext cx="1116720" cy="25308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100" strike="noStrike" u="none">
                <a:solidFill>
                  <a:srgbClr val="939393"/>
                </a:solidFill>
                <a:effectLst/>
                <a:uFillTx/>
                <a:latin typeface="Calibri"/>
                <a:ea typeface="DejaVu Sans"/>
              </a:rPr>
              <a:t>Imagens Brutas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etângulo 16"/>
          <p:cNvSpPr/>
          <p:nvPr/>
        </p:nvSpPr>
        <p:spPr>
          <a:xfrm>
            <a:off x="4961520" y="5282280"/>
            <a:ext cx="1116720" cy="25308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100" strike="noStrike" u="none">
                <a:solidFill>
                  <a:srgbClr val="939393"/>
                </a:solidFill>
                <a:effectLst/>
                <a:uFillTx/>
                <a:latin typeface="Calibri"/>
                <a:ea typeface="DejaVu Sans"/>
              </a:rPr>
              <a:t>Dados treino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tângulo 17"/>
          <p:cNvSpPr/>
          <p:nvPr/>
        </p:nvSpPr>
        <p:spPr>
          <a:xfrm>
            <a:off x="6663240" y="3648960"/>
            <a:ext cx="1473480" cy="27756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100" strike="noStrike" u="none">
                <a:solidFill>
                  <a:srgbClr val="939393"/>
                </a:solidFill>
                <a:effectLst/>
                <a:uFillTx/>
                <a:latin typeface="Calibri"/>
                <a:ea typeface="DejaVu Sans"/>
              </a:rPr>
              <a:t>Dados Aumentados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etângulo 18"/>
          <p:cNvSpPr/>
          <p:nvPr/>
        </p:nvSpPr>
        <p:spPr>
          <a:xfrm>
            <a:off x="3228840" y="3556080"/>
            <a:ext cx="957960" cy="634320"/>
          </a:xfrm>
          <a:prstGeom prst="rect">
            <a:avLst/>
          </a:prstGeom>
          <a:solidFill>
            <a:srgbClr val="f9f7ed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Retângulo 20"/>
          <p:cNvSpPr/>
          <p:nvPr/>
        </p:nvSpPr>
        <p:spPr>
          <a:xfrm>
            <a:off x="3279600" y="3751920"/>
            <a:ext cx="907200" cy="253080"/>
          </a:xfrm>
          <a:prstGeom prst="rect">
            <a:avLst/>
          </a:prstGeom>
          <a:solidFill>
            <a:srgbClr val="ffffff">
              <a:alpha val="14000"/>
            </a:srgbClr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100" strike="noStrike" u="none">
                <a:solidFill>
                  <a:srgbClr val="939393"/>
                </a:solidFill>
                <a:effectLst/>
                <a:uFillTx/>
                <a:latin typeface="Calibri"/>
                <a:ea typeface="DejaVu Sans"/>
              </a:rPr>
              <a:t>Aumento Aleatório (T)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etângulo 23"/>
          <p:cNvSpPr/>
          <p:nvPr/>
        </p:nvSpPr>
        <p:spPr>
          <a:xfrm>
            <a:off x="5837040" y="3154680"/>
            <a:ext cx="339480" cy="182160"/>
          </a:xfrm>
          <a:prstGeom prst="rect">
            <a:avLst/>
          </a:prstGeom>
          <a:solidFill>
            <a:srgbClr val="f9f7ed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6" name="CaixaDeTexto 24"/>
          <p:cNvSpPr/>
          <p:nvPr/>
        </p:nvSpPr>
        <p:spPr>
          <a:xfrm>
            <a:off x="5774040" y="3106800"/>
            <a:ext cx="459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9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Par 1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etângulo 26"/>
          <p:cNvSpPr/>
          <p:nvPr/>
        </p:nvSpPr>
        <p:spPr>
          <a:xfrm>
            <a:off x="5837040" y="4460400"/>
            <a:ext cx="339480" cy="156600"/>
          </a:xfrm>
          <a:prstGeom prst="rect">
            <a:avLst/>
          </a:prstGeom>
          <a:solidFill>
            <a:srgbClr val="f9f7ed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8" name="CaixaDeTexto 25"/>
          <p:cNvSpPr/>
          <p:nvPr/>
        </p:nvSpPr>
        <p:spPr>
          <a:xfrm>
            <a:off x="5774040" y="4423680"/>
            <a:ext cx="4597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9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Par 2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9" name="Imagem 2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Obtendo representações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321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08C4BB9C-886F-4F11-BF1D-5998F27E15E3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11031275-EEAF-44F5-88F0-6A556607D6D9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m 6" descr=""/>
          <p:cNvPicPr/>
          <p:nvPr/>
        </p:nvPicPr>
        <p:blipFill>
          <a:blip r:embed="rId1"/>
          <a:stretch/>
        </p:blipFill>
        <p:spPr>
          <a:xfrm>
            <a:off x="1356840" y="1753920"/>
            <a:ext cx="6049080" cy="239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5" name="Imagem 13" descr=""/>
          <p:cNvPicPr/>
          <p:nvPr/>
        </p:nvPicPr>
        <p:blipFill>
          <a:blip r:embed="rId2"/>
          <a:stretch/>
        </p:blipFill>
        <p:spPr>
          <a:xfrm>
            <a:off x="3137760" y="4045320"/>
            <a:ext cx="2730600" cy="19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Retângulo 15"/>
          <p:cNvSpPr/>
          <p:nvPr/>
        </p:nvSpPr>
        <p:spPr>
          <a:xfrm>
            <a:off x="2946240" y="3677760"/>
            <a:ext cx="842400" cy="33588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dk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27" name="CaixaDeTexto 19"/>
          <p:cNvSpPr/>
          <p:nvPr/>
        </p:nvSpPr>
        <p:spPr>
          <a:xfrm>
            <a:off x="2964240" y="3647160"/>
            <a:ext cx="912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Imgs. 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Transformadas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tângulo 21"/>
          <p:cNvSpPr/>
          <p:nvPr/>
        </p:nvSpPr>
        <p:spPr>
          <a:xfrm>
            <a:off x="3789720" y="3677760"/>
            <a:ext cx="726480" cy="30708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29" name="CaixaDeTexto 22"/>
          <p:cNvSpPr/>
          <p:nvPr/>
        </p:nvSpPr>
        <p:spPr>
          <a:xfrm>
            <a:off x="3751560" y="3651120"/>
            <a:ext cx="747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Codificador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Base f(.)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tângulo 27"/>
          <p:cNvSpPr/>
          <p:nvPr/>
        </p:nvSpPr>
        <p:spPr>
          <a:xfrm>
            <a:off x="3241080" y="4161960"/>
            <a:ext cx="2119320" cy="244800"/>
          </a:xfrm>
          <a:prstGeom prst="rect">
            <a:avLst/>
          </a:prstGeom>
          <a:solidFill>
            <a:srgbClr val="f9f7ed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900" strike="noStrike" u="sng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Codificador escolhido no artigo original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etângulo 28"/>
          <p:cNvSpPr/>
          <p:nvPr/>
        </p:nvSpPr>
        <p:spPr>
          <a:xfrm>
            <a:off x="5257800" y="3744000"/>
            <a:ext cx="669960" cy="224640"/>
          </a:xfrm>
          <a:prstGeom prst="rect">
            <a:avLst/>
          </a:prstGeom>
          <a:solidFill>
            <a:srgbClr val="f5f5f5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32" name="CaixaDeTexto 29"/>
          <p:cNvSpPr/>
          <p:nvPr/>
        </p:nvSpPr>
        <p:spPr>
          <a:xfrm>
            <a:off x="5079960" y="3658680"/>
            <a:ext cx="1035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cecdcd"/>
                </a:solidFill>
                <a:effectLst/>
                <a:uFillTx/>
                <a:latin typeface="Arial"/>
                <a:ea typeface="DejaVu Sans"/>
              </a:rPr>
              <a:t>Cabeça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cecdcd"/>
                </a:solidFill>
                <a:effectLst/>
                <a:uFillTx/>
                <a:latin typeface="Arial"/>
                <a:ea typeface="DejaVu Sans"/>
              </a:rPr>
              <a:t>projeção g(.)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Retângulo 30"/>
          <p:cNvSpPr/>
          <p:nvPr/>
        </p:nvSpPr>
        <p:spPr>
          <a:xfrm>
            <a:off x="6746400" y="2646720"/>
            <a:ext cx="524880" cy="232920"/>
          </a:xfrm>
          <a:prstGeom prst="rect">
            <a:avLst/>
          </a:prstGeom>
          <a:solidFill>
            <a:srgbClr val="f5f5f5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34" name="CaixaDeTexto 31"/>
          <p:cNvSpPr/>
          <p:nvPr/>
        </p:nvSpPr>
        <p:spPr>
          <a:xfrm>
            <a:off x="6613200" y="2568960"/>
            <a:ext cx="7873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cecdcd"/>
                </a:solidFill>
                <a:effectLst/>
                <a:uFillTx/>
                <a:latin typeface="Arial"/>
                <a:ea typeface="DejaVu Sans"/>
              </a:rPr>
              <a:t>Maximiza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cecdcd"/>
                </a:solidFill>
                <a:effectLst/>
                <a:uFillTx/>
                <a:latin typeface="Arial"/>
                <a:ea typeface="DejaVu Sans"/>
              </a:rPr>
              <a:t>Similaridade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etângulo 32"/>
          <p:cNvSpPr/>
          <p:nvPr/>
        </p:nvSpPr>
        <p:spPr>
          <a:xfrm>
            <a:off x="3867480" y="2294640"/>
            <a:ext cx="542880" cy="244080"/>
          </a:xfrm>
          <a:prstGeom prst="rect">
            <a:avLst/>
          </a:prstGeom>
          <a:solidFill>
            <a:srgbClr val="cdeb8b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36" name="CaixaDeTexto 33"/>
          <p:cNvSpPr/>
          <p:nvPr/>
        </p:nvSpPr>
        <p:spPr>
          <a:xfrm>
            <a:off x="3875760" y="2322000"/>
            <a:ext cx="554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Codific.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etângulo 34"/>
          <p:cNvSpPr/>
          <p:nvPr/>
        </p:nvSpPr>
        <p:spPr>
          <a:xfrm>
            <a:off x="3854160" y="2967120"/>
            <a:ext cx="542880" cy="244080"/>
          </a:xfrm>
          <a:prstGeom prst="rect">
            <a:avLst/>
          </a:prstGeom>
          <a:solidFill>
            <a:srgbClr val="cdeb8b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38" name="CaixaDeTexto 35"/>
          <p:cNvSpPr/>
          <p:nvPr/>
        </p:nvSpPr>
        <p:spPr>
          <a:xfrm>
            <a:off x="3875760" y="2969640"/>
            <a:ext cx="554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Codific.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Imagem 2" descr=""/>
          <p:cNvPicPr/>
          <p:nvPr/>
        </p:nvPicPr>
        <p:blipFill>
          <a:blip r:embed="rId3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Cabeça de Projeção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341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A266A10E-9995-46F8-8423-129E0679898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BEEE3248-AC63-4DA0-B3BD-941F8B4EE036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Imagem 4" descr=""/>
          <p:cNvPicPr/>
          <p:nvPr/>
        </p:nvPicPr>
        <p:blipFill>
          <a:blip r:embed="rId1"/>
          <a:stretch/>
        </p:blipFill>
        <p:spPr>
          <a:xfrm>
            <a:off x="952200" y="2489400"/>
            <a:ext cx="7073640" cy="332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Retângulo 10"/>
          <p:cNvSpPr/>
          <p:nvPr/>
        </p:nvSpPr>
        <p:spPr>
          <a:xfrm>
            <a:off x="4444920" y="2489400"/>
            <a:ext cx="915480" cy="19404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Representação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Retângulo 11"/>
          <p:cNvSpPr/>
          <p:nvPr/>
        </p:nvSpPr>
        <p:spPr>
          <a:xfrm>
            <a:off x="7314480" y="3437640"/>
            <a:ext cx="851040" cy="35496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Maximiza 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Similaridade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CaixaDeTexto 12"/>
          <p:cNvSpPr/>
          <p:nvPr/>
        </p:nvSpPr>
        <p:spPr>
          <a:xfrm>
            <a:off x="2811600" y="4551120"/>
            <a:ext cx="912240" cy="3337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Imgs. 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Transformadas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CaixaDeTexto 14"/>
          <p:cNvSpPr/>
          <p:nvPr/>
        </p:nvSpPr>
        <p:spPr>
          <a:xfrm>
            <a:off x="3678120" y="4551120"/>
            <a:ext cx="915480" cy="3337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Codificador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Base f(.)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aixaDeTexto 17"/>
          <p:cNvSpPr/>
          <p:nvPr/>
        </p:nvSpPr>
        <p:spPr>
          <a:xfrm>
            <a:off x="5361120" y="4584960"/>
            <a:ext cx="965160" cy="3337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Cabeça de Projeção g(.)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CaixaDeTexto 18"/>
          <p:cNvSpPr/>
          <p:nvPr/>
        </p:nvSpPr>
        <p:spPr>
          <a:xfrm>
            <a:off x="3800520" y="3148200"/>
            <a:ext cx="618480" cy="2120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Codific.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CaixaDeTexto 19"/>
          <p:cNvSpPr/>
          <p:nvPr/>
        </p:nvSpPr>
        <p:spPr>
          <a:xfrm>
            <a:off x="3787920" y="3891960"/>
            <a:ext cx="631080" cy="21204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Codific.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CaixaDeTexto 21"/>
          <p:cNvSpPr/>
          <p:nvPr/>
        </p:nvSpPr>
        <p:spPr>
          <a:xfrm>
            <a:off x="2023560" y="3437640"/>
            <a:ext cx="792720" cy="45540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Aumento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de 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Dados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CaixaDeTexto 22"/>
          <p:cNvSpPr/>
          <p:nvPr/>
        </p:nvSpPr>
        <p:spPr>
          <a:xfrm>
            <a:off x="4419720" y="5064120"/>
            <a:ext cx="915480" cy="50292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9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Tarefas 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9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de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9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Downstream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aixaDeTexto 23"/>
          <p:cNvSpPr/>
          <p:nvPr/>
        </p:nvSpPr>
        <p:spPr>
          <a:xfrm>
            <a:off x="841320" y="3928680"/>
            <a:ext cx="915480" cy="3337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pt-BR" sz="800" strike="noStrike" u="none">
                <a:solidFill>
                  <a:srgbClr val="939393"/>
                </a:solidFill>
                <a:effectLst/>
                <a:uFillTx/>
                <a:latin typeface="Arial"/>
                <a:ea typeface="DejaVu Sans"/>
              </a:rPr>
              <a:t>Imagem Original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Imagem 2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"/>
          <p:cNvSpPr/>
          <p:nvPr/>
        </p:nvSpPr>
        <p:spPr>
          <a:xfrm flipV="1">
            <a:off x="4095720" y="4559760"/>
            <a:ext cx="1595520" cy="1337760"/>
          </a:xfrm>
          <a:custGeom>
            <a:avLst/>
            <a:gdLst>
              <a:gd name="textAreaLeft" fmla="*/ 350640 w 1595520"/>
              <a:gd name="textAreaRight" fmla="*/ 1244880 w 1595520"/>
              <a:gd name="textAreaTop" fmla="*/ 294120 h 1337760"/>
              <a:gd name="textAreaBottom" fmla="*/ 1043640 h 1337760"/>
              <a:gd name="GluePoint1X" fmla="*/ 6 w 21600"/>
              <a:gd name="GluePoint1Y" fmla="*/ 10800 h 21600"/>
              <a:gd name="GluePoint2X" fmla="*/ 10800 w 21600"/>
              <a:gd name="GluePoint2Y" fmla="*/ 21600 h 21600"/>
              <a:gd name="GluePoint3X" fmla="*/ 5 w 21600"/>
              <a:gd name="GluePoint3Y" fmla="*/ 10800 h 21600"/>
              <a:gd name="GluePoint4X" fmla="*/ 10800 w 21600"/>
              <a:gd name="GluePoint4Y" fmla="*/ 0 h 216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Vetores incorporação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358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35CD2617-0D8B-497D-8E21-980E51B8E51F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FEC0F88E-560C-4EF0-9B2E-7FB86F12FB5F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Imagem 5" descr=""/>
          <p:cNvPicPr/>
          <p:nvPr/>
        </p:nvPicPr>
        <p:blipFill>
          <a:blip r:embed="rId1"/>
          <a:stretch/>
        </p:blipFill>
        <p:spPr>
          <a:xfrm>
            <a:off x="1621440" y="2074680"/>
            <a:ext cx="5945760" cy="364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Retângulo 6"/>
          <p:cNvSpPr/>
          <p:nvPr/>
        </p:nvSpPr>
        <p:spPr>
          <a:xfrm>
            <a:off x="3454560" y="2100600"/>
            <a:ext cx="3047400" cy="36756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Embeddings Calculados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Retângulo 10"/>
          <p:cNvSpPr/>
          <p:nvPr/>
        </p:nvSpPr>
        <p:spPr>
          <a:xfrm>
            <a:off x="1836360" y="3618000"/>
            <a:ext cx="1617480" cy="108864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Lote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Imagens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pt-BR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Aumentadas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4" name="Imagem 2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Cálculo da perda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pic>
        <p:nvPicPr>
          <p:cNvPr id="366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CFAC03C5-5189-4354-B0F0-89415D55D4BA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318EA259-5EC0-4995-9F06-082BFC53D7B1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0" name="Imagem 4" descr=""/>
          <p:cNvPicPr/>
          <p:nvPr/>
        </p:nvPicPr>
        <p:blipFill>
          <a:blip r:embed="rId2"/>
          <a:srcRect l="0" t="0" r="0" b="29733"/>
          <a:stretch/>
        </p:blipFill>
        <p:spPr>
          <a:xfrm>
            <a:off x="1211040" y="2030760"/>
            <a:ext cx="6400080" cy="164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aixaDeTexto 6"/>
          <p:cNvSpPr/>
          <p:nvPr/>
        </p:nvSpPr>
        <p:spPr>
          <a:xfrm>
            <a:off x="825480" y="2030760"/>
            <a:ext cx="381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A)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2" name="Imagem 11" descr=""/>
          <p:cNvPicPr/>
          <p:nvPr/>
        </p:nvPicPr>
        <p:blipFill>
          <a:blip r:embed="rId3"/>
          <a:srcRect l="0" t="11653" r="0" b="0"/>
          <a:stretch/>
        </p:blipFill>
        <p:spPr>
          <a:xfrm>
            <a:off x="4768200" y="3741480"/>
            <a:ext cx="2503080" cy="22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3" name="Imagem 13" descr=""/>
          <p:cNvPicPr/>
          <p:nvPr/>
        </p:nvPicPr>
        <p:blipFill>
          <a:blip r:embed="rId4"/>
          <a:stretch/>
        </p:blipFill>
        <p:spPr>
          <a:xfrm>
            <a:off x="1319040" y="4010040"/>
            <a:ext cx="2795040" cy="11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Retângulo 14"/>
          <p:cNvSpPr/>
          <p:nvPr/>
        </p:nvSpPr>
        <p:spPr>
          <a:xfrm>
            <a:off x="1422360" y="2030760"/>
            <a:ext cx="4906440" cy="36864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Cálculo da similaridade das imagens aumentadas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Retângulo 15"/>
          <p:cNvSpPr/>
          <p:nvPr/>
        </p:nvSpPr>
        <p:spPr>
          <a:xfrm>
            <a:off x="1422360" y="2904120"/>
            <a:ext cx="1218600" cy="368640"/>
          </a:xfrm>
          <a:prstGeom prst="rect">
            <a:avLst/>
          </a:prstGeom>
          <a:solidFill>
            <a:srgbClr val="b0e3e6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6" name="CaixaDeTexto 16"/>
          <p:cNvSpPr/>
          <p:nvPr/>
        </p:nvSpPr>
        <p:spPr>
          <a:xfrm>
            <a:off x="1422360" y="2943000"/>
            <a:ext cx="15238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Similaridade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Retângulo 17"/>
          <p:cNvSpPr/>
          <p:nvPr/>
        </p:nvSpPr>
        <p:spPr>
          <a:xfrm>
            <a:off x="4595040" y="2704320"/>
            <a:ext cx="1305720" cy="664560"/>
          </a:xfrm>
          <a:prstGeom prst="rect">
            <a:avLst/>
          </a:prstGeom>
          <a:solidFill>
            <a:srgbClr val="b0e3e6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Similaridade cosseno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Cálculo da perda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379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07D32EEF-9F3A-46D1-9999-46675B049388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231AD6E2-8710-41E1-83F2-BA94E4C86942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CaixaDeTexto 9"/>
          <p:cNvSpPr/>
          <p:nvPr/>
        </p:nvSpPr>
        <p:spPr>
          <a:xfrm>
            <a:off x="5186880" y="6054120"/>
            <a:ext cx="2936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CHAUDHARY (2020) - Adaptado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CaixaDeTexto 6"/>
          <p:cNvSpPr/>
          <p:nvPr/>
        </p:nvSpPr>
        <p:spPr>
          <a:xfrm>
            <a:off x="775080" y="1808280"/>
            <a:ext cx="7922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B) </a:t>
            </a: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Inter"/>
                <a:ea typeface="DejaVu Sans"/>
              </a:rPr>
              <a:t>“ </a:t>
            </a:r>
            <a:r>
              <a:rPr b="1" lang="pt-BR" sz="1800" strike="noStrike" u="none">
                <a:solidFill>
                  <a:srgbClr val="000000"/>
                </a:solidFill>
                <a:effectLst/>
                <a:uFillTx/>
                <a:latin typeface="Inter"/>
                <a:ea typeface="DejaVu Sans"/>
              </a:rPr>
              <a:t>perda NT-Xent</a:t>
            </a: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Inter"/>
                <a:ea typeface="DejaVu Sans"/>
              </a:rPr>
              <a:t> ” ( </a:t>
            </a:r>
            <a:r>
              <a:rPr b="1" lang="pt-BR" sz="1800" strike="noStrike" u="none">
                <a:solidFill>
                  <a:srgbClr val="000000"/>
                </a:solidFill>
                <a:effectLst/>
                <a:uFillTx/>
                <a:latin typeface="Inter"/>
                <a:ea typeface="DejaVu Sans"/>
              </a:rPr>
              <a:t>perda de entropia cruzada em escala de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pt-BR" sz="1800" strike="noStrike" u="none">
                <a:solidFill>
                  <a:srgbClr val="000000"/>
                </a:solidFill>
                <a:effectLst/>
                <a:uFillTx/>
                <a:latin typeface="Inter"/>
                <a:ea typeface="DejaVu Sans"/>
              </a:rPr>
              <a:t>temperatura normalizada</a:t>
            </a: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Inter"/>
                <a:ea typeface="DejaVu Sans"/>
              </a:rPr>
              <a:t> )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3" name="Imagem 5" descr=""/>
          <p:cNvPicPr/>
          <p:nvPr/>
        </p:nvPicPr>
        <p:blipFill>
          <a:blip r:embed="rId1"/>
          <a:stretch/>
        </p:blipFill>
        <p:spPr>
          <a:xfrm>
            <a:off x="795240" y="2677680"/>
            <a:ext cx="3210840" cy="82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CaixaDeTexto 10"/>
          <p:cNvSpPr/>
          <p:nvPr/>
        </p:nvSpPr>
        <p:spPr>
          <a:xfrm>
            <a:off x="958320" y="2419920"/>
            <a:ext cx="2884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Imagens Aumentadas no lote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CaixaDeTexto 12"/>
          <p:cNvSpPr/>
          <p:nvPr/>
        </p:nvSpPr>
        <p:spPr>
          <a:xfrm>
            <a:off x="1206720" y="3416040"/>
            <a:ext cx="650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Par 1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CaixaDeTexto 15"/>
          <p:cNvSpPr/>
          <p:nvPr/>
        </p:nvSpPr>
        <p:spPr>
          <a:xfrm>
            <a:off x="2932200" y="3413520"/>
            <a:ext cx="650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Par 2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7" name="Imagem 17" descr=""/>
          <p:cNvPicPr/>
          <p:nvPr/>
        </p:nvPicPr>
        <p:blipFill>
          <a:blip r:embed="rId2"/>
          <a:stretch/>
        </p:blipFill>
        <p:spPr>
          <a:xfrm>
            <a:off x="30240" y="3724560"/>
            <a:ext cx="6305760" cy="2328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8" name="Imagem 21" descr=""/>
          <p:cNvPicPr/>
          <p:nvPr/>
        </p:nvPicPr>
        <p:blipFill>
          <a:blip r:embed="rId3"/>
          <a:stretch/>
        </p:blipFill>
        <p:spPr>
          <a:xfrm>
            <a:off x="5796720" y="2804040"/>
            <a:ext cx="2949840" cy="177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CaixaDeTexto 22"/>
          <p:cNvSpPr/>
          <p:nvPr/>
        </p:nvSpPr>
        <p:spPr>
          <a:xfrm>
            <a:off x="4992840" y="3913200"/>
            <a:ext cx="9867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1º Imagem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CaixaDeTexto 23"/>
          <p:cNvSpPr/>
          <p:nvPr/>
        </p:nvSpPr>
        <p:spPr>
          <a:xfrm>
            <a:off x="7031880" y="4509000"/>
            <a:ext cx="12124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pt-BR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Probabilidade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eta: para Baixo 25"/>
          <p:cNvSpPr/>
          <p:nvPr/>
        </p:nvSpPr>
        <p:spPr>
          <a:xfrm>
            <a:off x="2153880" y="3501000"/>
            <a:ext cx="353880" cy="13147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5840">
            <a:solidFill>
              <a:schemeClr val="accent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92" name="Seta: Dobrada para Cima 26"/>
          <p:cNvSpPr/>
          <p:nvPr/>
        </p:nvSpPr>
        <p:spPr>
          <a:xfrm>
            <a:off x="6441480" y="4816800"/>
            <a:ext cx="1320120" cy="7110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accent1"/>
          </a:solidFill>
          <a:ln w="15840">
            <a:solidFill>
              <a:schemeClr val="accent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93" name="Imagem 2" descr=""/>
          <p:cNvPicPr/>
          <p:nvPr/>
        </p:nvPicPr>
        <p:blipFill>
          <a:blip r:embed="rId4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Cálculo da perda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395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FF9FF525-AAF8-4028-AFBE-C070D65A7D5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05C2FF5E-BE7E-4321-BFB1-1AEEA1446A45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Imagem 15" descr=""/>
          <p:cNvPicPr/>
          <p:nvPr/>
        </p:nvPicPr>
        <p:blipFill>
          <a:blip r:embed="rId1"/>
          <a:stretch/>
        </p:blipFill>
        <p:spPr>
          <a:xfrm>
            <a:off x="236520" y="4449600"/>
            <a:ext cx="8805240" cy="186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Imagem 11" descr=""/>
          <p:cNvPicPr/>
          <p:nvPr/>
        </p:nvPicPr>
        <p:blipFill>
          <a:blip r:embed="rId2"/>
          <a:stretch/>
        </p:blipFill>
        <p:spPr>
          <a:xfrm>
            <a:off x="0" y="2146320"/>
            <a:ext cx="9143280" cy="246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9" name="Imagem 2" descr=""/>
          <p:cNvPicPr/>
          <p:nvPr/>
        </p:nvPicPr>
        <p:blipFill>
          <a:blip r:embed="rId3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Passo a passo: Perda total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01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5DC01C40-2C2D-4BCF-935F-32DB8C9F8FA8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4F11F240-D028-45C9-85E7-E4E1FBA0BD52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m 4" descr=""/>
          <p:cNvPicPr/>
          <p:nvPr/>
        </p:nvPicPr>
        <p:blipFill>
          <a:blip r:embed="rId1"/>
          <a:stretch/>
        </p:blipFill>
        <p:spPr>
          <a:xfrm>
            <a:off x="0" y="2325240"/>
            <a:ext cx="9143280" cy="350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CaixaDeTexto 5"/>
          <p:cNvSpPr/>
          <p:nvPr/>
        </p:nvSpPr>
        <p:spPr>
          <a:xfrm>
            <a:off x="857520" y="1896480"/>
            <a:ext cx="5580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Calcula a perda em todos os pares do lote e extrai a média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Retângulo 6"/>
          <p:cNvSpPr/>
          <p:nvPr/>
        </p:nvSpPr>
        <p:spPr>
          <a:xfrm>
            <a:off x="1752480" y="3547440"/>
            <a:ext cx="1802520" cy="34632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Perda Par 1 (k=1)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Retângulo 9"/>
          <p:cNvSpPr/>
          <p:nvPr/>
        </p:nvSpPr>
        <p:spPr>
          <a:xfrm>
            <a:off x="6070680" y="3573000"/>
            <a:ext cx="1802520" cy="346320"/>
          </a:xfrm>
          <a:prstGeom prst="rect">
            <a:avLst/>
          </a:prstGeom>
          <a:solidFill>
            <a:srgbClr val="ffffff"/>
          </a:solidFill>
          <a:ln w="158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pt-BR" sz="14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Perda Par 1 (k=2)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7" name="Imagem 2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" descr=""/>
          <p:cNvPicPr/>
          <p:nvPr/>
        </p:nvPicPr>
        <p:blipFill>
          <a:blip r:embed="rId1"/>
          <a:stretch/>
        </p:blipFill>
        <p:spPr>
          <a:xfrm>
            <a:off x="807120" y="2013480"/>
            <a:ext cx="7562520" cy="431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SwAV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10" name="CaixaDeTexto 3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etângulo 33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A2D6635F-8BDA-43FF-9EDE-69EB4787F85D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43EF69AE-EB03-4DEE-B25D-B67AC9A778F4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m 20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SwAV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14" name="CaixaDeTexto 38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Retângulo 37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88BE054C-CE2F-4BF4-8C57-E665E21804C7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EFC99208-B327-4F22-ABF2-51425CD6FC1B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Imagem 22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" descr=""/>
          <p:cNvPicPr/>
          <p:nvPr/>
        </p:nvPicPr>
        <p:blipFill>
          <a:blip r:embed="rId2"/>
          <a:stretch/>
        </p:blipFill>
        <p:spPr>
          <a:xfrm>
            <a:off x="1783800" y="2340000"/>
            <a:ext cx="5416200" cy="304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CaixaDeTexto 39"/>
          <p:cNvSpPr/>
          <p:nvPr/>
        </p:nvSpPr>
        <p:spPr>
          <a:xfrm>
            <a:off x="5186880" y="5910120"/>
            <a:ext cx="29361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pt-BR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DejaVu Sans"/>
              </a:rPr>
              <a:t>FONTE: FACEBOOK (2021) - https://github.com/facebookresearch/swav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822960" y="758880"/>
            <a:ext cx="7543080" cy="356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0" lang="pt-BR" sz="7200" spc="-51" strike="noStrike" u="non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alibri Light"/>
              </a:rPr>
              <a:t>1ª Etapa </a:t>
            </a:r>
            <a:br>
              <a:rPr sz="7200"/>
            </a:br>
            <a:r>
              <a:rPr b="0" lang="pt-BR" sz="3600" spc="-51" strike="noStrike" u="non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alibri Light"/>
              </a:rPr>
              <a:t>Emprego de aprendizado supervisionado e aumento de dados para Reconhecimento da Fala Disártrica</a:t>
            </a:r>
            <a:endParaRPr b="0" lang="en-US" sz="36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subTitle"/>
          </p:nvPr>
        </p:nvSpPr>
        <p:spPr>
          <a:xfrm>
            <a:off x="825120" y="4455720"/>
            <a:ext cx="75430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pt-BR" sz="2400" spc="198" strike="noStrike" u="none" cap="all">
                <a:solidFill>
                  <a:schemeClr val="dk2"/>
                </a:solidFill>
                <a:effectLst/>
                <a:uFillTx/>
                <a:latin typeface="Calibri Light"/>
              </a:rPr>
              <a:t>Escolha de métodos de aumento, explanação sobre o artigo: </a:t>
            </a:r>
            <a:r>
              <a:rPr b="1" lang="pt-BR" sz="2400" strike="noStrike" u="none" cap="all">
                <a:solidFill>
                  <a:srgbClr val="211c21"/>
                </a:solidFill>
                <a:effectLst/>
                <a:uFillTx/>
                <a:latin typeface="Hanken Grotesk"/>
                <a:ea typeface="Hanken Grotesk"/>
              </a:rPr>
              <a:t>Explorando Métodos Alternativos de Aumento de Dados em Sistemas de Reconhecimento Automático de fala Disártrica”</a:t>
            </a:r>
            <a:r>
              <a:rPr b="0" lang="pt-BR" sz="2400" spc="198" strike="noStrike" u="none" cap="all">
                <a:solidFill>
                  <a:schemeClr val="dk2"/>
                </a:solidFill>
                <a:effectLst/>
                <a:uFillTx/>
                <a:latin typeface="Calibri Light"/>
                <a:ea typeface="Hanken Grotesk"/>
              </a:rPr>
              <a:t> de Gracelli e Almeida (2024), apresentado na CBMS-2024.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Imagem 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22" name="Agrupar 4"/>
          <p:cNvGrpSpPr/>
          <p:nvPr/>
        </p:nvGrpSpPr>
        <p:grpSpPr>
          <a:xfrm>
            <a:off x="236520" y="6422400"/>
            <a:ext cx="5451840" cy="250200"/>
            <a:chOff x="236520" y="6422400"/>
            <a:chExt cx="5451840" cy="250200"/>
          </a:xfrm>
        </p:grpSpPr>
        <p:sp>
          <p:nvSpPr>
            <p:cNvPr id="423" name="CaixaDeTexto 5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rgbClr val="ffffff"/>
                  </a:solidFill>
                  <a:effectLst/>
                  <a:uFillTx/>
                  <a:latin typeface="Calibri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4" name="Retângulo 6"/>
            <p:cNvSpPr/>
            <p:nvPr/>
          </p:nvSpPr>
          <p:spPr>
            <a:xfrm>
              <a:off x="23652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8863C526-6A5B-4BE8-9CCE-ADD960239D47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141FC1BA-635A-41D0-B21F-DCD7F6606653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</a:pPr>
            <a:r>
              <a:rPr b="0" lang="pt-BR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Escolha dos métodos de aumento: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Baseada no artigo “</a:t>
            </a:r>
            <a:r>
              <a:rPr b="1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Explorando Métodos Alternativos de Aumento de Dados em Sistemas de Reconhecimento Automático de fala Disártrica”</a:t>
            </a: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 de Gracelli e Almeida (2024), apresentado na CBMS-2024.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124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Aumentos baseados nas características das falas disártricas;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124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124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124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567000" indent="-182880" algn="ctr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14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Fala mais lenta – Inserção de dilatação temporal;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567000" indent="-182880" algn="ctr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14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Gaps espectrais (oclusão espectral) causados pela dificuldade de articulação.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Retângulo: Cantos Arredondados 10"/>
          <p:cNvSpPr/>
          <p:nvPr/>
        </p:nvSpPr>
        <p:spPr>
          <a:xfrm>
            <a:off x="1684440" y="4783680"/>
            <a:ext cx="6053400" cy="990720"/>
          </a:xfrm>
          <a:prstGeom prst="roundRect">
            <a:avLst>
              <a:gd name="adj" fmla="val 16667"/>
            </a:avLst>
          </a:prstGeom>
          <a:solidFill>
            <a:srgbClr val="00b050">
              <a:alpha val="30000"/>
            </a:srgbClr>
          </a:solidFill>
          <a:ln w="15840">
            <a:solidFill>
              <a:srgbClr val="00b0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1ª Etapa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28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FD885C69-0D55-4001-83C6-39C2E9F08853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FC51B588-04F7-4832-B207-855856A4AB5B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eta: para Baixo 11"/>
          <p:cNvSpPr/>
          <p:nvPr/>
        </p:nvSpPr>
        <p:spPr>
          <a:xfrm>
            <a:off x="3879000" y="4129200"/>
            <a:ext cx="528840" cy="519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1584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pt-BR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431" name="Imagem 4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3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Visão Geral: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-182880" algn="just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Wingdings" charset="2"/>
              <a:buChar char=""/>
              <a:tabLst>
                <a:tab algn="l" pos="0"/>
              </a:tabLst>
            </a:pPr>
            <a:r>
              <a:rPr b="0" lang="pt-BR" sz="3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Breve apresentação dos conceitos e referências explorados no artigo base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1ª Etapa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34" name="CaixaDeTexto 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Retângulo 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DE391E01-0FB2-4DE5-9547-D9139A8E6426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5AFA4EB5-96DF-40DF-BCF1-6FD9DB830A2F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6" name="Imagem 4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/>
          </p:nvPr>
        </p:nvSpPr>
        <p:spPr>
          <a:xfrm>
            <a:off x="446760" y="3845520"/>
            <a:ext cx="4075560" cy="113940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91440" bIns="91440" anchor="t">
            <a:noAutofit/>
          </a:bodyPr>
          <a:p>
            <a:pPr indent="0" defTabSz="457200">
              <a:lnSpc>
                <a:spcPct val="150000"/>
              </a:lnSpc>
              <a:spcAft>
                <a:spcPts val="1001"/>
              </a:spcAft>
              <a:buNone/>
              <a:tabLst>
                <a:tab algn="l" pos="0"/>
              </a:tabLst>
            </a:pPr>
            <a:r>
              <a:rPr b="0" lang="pt-BR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Transformadores de Visão (ViT) empregam mecanismos de atenção para permitir que a rede se concentre em partes específicas de imagens, alcançando resultados excepcionais em tarefas de classificação.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/>
          </p:nvPr>
        </p:nvSpPr>
        <p:spPr>
          <a:xfrm>
            <a:off x="4613400" y="2230200"/>
            <a:ext cx="4070520" cy="113976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91440" bIns="91440" anchor="t">
            <a:noAutofit/>
          </a:bodyPr>
          <a:p>
            <a:pPr indent="0" defTabSz="457200">
              <a:lnSpc>
                <a:spcPct val="150000"/>
              </a:lnSpc>
              <a:spcAft>
                <a:spcPts val="1001"/>
              </a:spcAft>
              <a:buNone/>
              <a:tabLst>
                <a:tab algn="l" pos="0"/>
              </a:tabLst>
            </a:pPr>
            <a:r>
              <a:rPr b="0" lang="pt-BR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Mnih et al. introduziram um modelo de atenção recorrente para classificação de imagens, permitindo atenção sequencial a diferentes regiões da imagem para capturar características informativas.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title"/>
          </p:nvPr>
        </p:nvSpPr>
        <p:spPr>
          <a:xfrm>
            <a:off x="457200" y="112212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Mecanismos de Atenção</a:t>
            </a:r>
            <a:br>
              <a:rPr sz="2520"/>
            </a:b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 e Transformadores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/>
          </p:nvPr>
        </p:nvSpPr>
        <p:spPr>
          <a:xfrm>
            <a:off x="457200" y="2230200"/>
            <a:ext cx="4070520" cy="113976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91440" bIns="91440" anchor="t">
            <a:noAutofit/>
          </a:bodyPr>
          <a:p>
            <a:pPr indent="0" defTabSz="457200">
              <a:lnSpc>
                <a:spcPct val="150000"/>
              </a:lnSpc>
              <a:spcAft>
                <a:spcPts val="1001"/>
              </a:spcAft>
              <a:buNone/>
              <a:tabLst>
                <a:tab algn="l" pos="0"/>
              </a:tabLst>
            </a:pPr>
            <a:r>
              <a:rPr b="0" lang="pt-BR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Mecanismos de atenção têm ganhado destaque significativo no aprendizado profundo por sua aplicação em tarefas como tradução automática, reconhecimento de fala e legendagem de imagens.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1" name="Google Shape;702;p110"/>
          <p:cNvCxnSpPr/>
          <p:nvPr/>
        </p:nvCxnSpPr>
        <p:spPr>
          <a:xfrm>
            <a:off x="456840" y="2225160"/>
            <a:ext cx="2880" cy="1154880"/>
          </a:xfrm>
          <a:prstGeom prst="straightConnector1">
            <a:avLst/>
          </a:prstGeom>
          <a:ln w="38160">
            <a:solidFill>
              <a:srgbClr val="7765e3"/>
            </a:solidFill>
            <a:round/>
          </a:ln>
        </p:spPr>
      </p:cxnSp>
      <p:cxnSp>
        <p:nvCxnSpPr>
          <p:cNvPr id="442" name="Google Shape;703;p110"/>
          <p:cNvCxnSpPr/>
          <p:nvPr/>
        </p:nvCxnSpPr>
        <p:spPr>
          <a:xfrm>
            <a:off x="4613400" y="2225160"/>
            <a:ext cx="2880" cy="1154880"/>
          </a:xfrm>
          <a:prstGeom prst="straightConnector1">
            <a:avLst/>
          </a:prstGeom>
          <a:ln w="38160">
            <a:solidFill>
              <a:srgbClr val="7765e3"/>
            </a:solidFill>
            <a:round/>
          </a:ln>
        </p:spPr>
      </p:cxnSp>
      <p:cxnSp>
        <p:nvCxnSpPr>
          <p:cNvPr id="443" name="Google Shape;704;p110"/>
          <p:cNvCxnSpPr/>
          <p:nvPr/>
        </p:nvCxnSpPr>
        <p:spPr>
          <a:xfrm>
            <a:off x="446760" y="3840480"/>
            <a:ext cx="2880" cy="1154880"/>
          </a:xfrm>
          <a:prstGeom prst="straightConnector1">
            <a:avLst/>
          </a:prstGeom>
          <a:ln w="38160">
            <a:solidFill>
              <a:srgbClr val="7765e3"/>
            </a:solidFill>
            <a:round/>
          </a:ln>
        </p:spPr>
      </p:cxnSp>
      <p:sp>
        <p:nvSpPr>
          <p:cNvPr id="444" name="PlaceHolder 5"/>
          <p:cNvSpPr>
            <a:spLocks noGrp="1"/>
          </p:cNvSpPr>
          <p:nvPr>
            <p:ph/>
          </p:nvPr>
        </p:nvSpPr>
        <p:spPr>
          <a:xfrm>
            <a:off x="4608360" y="3845520"/>
            <a:ext cx="4075560" cy="113940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91440" bIns="91440" anchor="t">
            <a:noAutofit/>
          </a:bodyPr>
          <a:p>
            <a:pPr indent="0" defTabSz="457200">
              <a:lnSpc>
                <a:spcPct val="150000"/>
              </a:lnSpc>
              <a:spcAft>
                <a:spcPts val="1001"/>
              </a:spcAft>
              <a:buNone/>
              <a:tabLst>
                <a:tab algn="l" pos="0"/>
              </a:tabLst>
            </a:pPr>
            <a:r>
              <a:rPr b="0" lang="pt-BR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Transformadores superam as redes convolucionais de última geração quando pré-treinados em grandes conjuntos de dados e transferidos para diversos benchmarks, como ImageNet, CIFAR-100 e VTAB.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5" name="Google Shape;706;p110"/>
          <p:cNvCxnSpPr/>
          <p:nvPr/>
        </p:nvCxnSpPr>
        <p:spPr>
          <a:xfrm>
            <a:off x="4608000" y="3840480"/>
            <a:ext cx="2880" cy="1154880"/>
          </a:xfrm>
          <a:prstGeom prst="straightConnector1">
            <a:avLst/>
          </a:prstGeom>
          <a:ln w="38160">
            <a:solidFill>
              <a:srgbClr val="7765e3"/>
            </a:solidFill>
            <a:round/>
          </a:ln>
        </p:spPr>
      </p:cxnSp>
      <p:pic>
        <p:nvPicPr>
          <p:cNvPr id="446" name="Imagem 80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B85551BD-63A5-4B3A-9F5E-F1312567256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C23CE433-6A05-4ED8-ABBC-E3C120D5A245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/>
          </p:nvPr>
        </p:nvSpPr>
        <p:spPr>
          <a:xfrm>
            <a:off x="446760" y="3845520"/>
            <a:ext cx="4075560" cy="113940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91440" bIns="91440" anchor="t">
            <a:noAutofit/>
          </a:bodyPr>
          <a:p>
            <a:pPr indent="0" algn="just" defTabSz="457200">
              <a:lnSpc>
                <a:spcPct val="150000"/>
              </a:lnSpc>
              <a:spcAft>
                <a:spcPts val="1001"/>
              </a:spcAft>
              <a:buNone/>
              <a:tabLst>
                <a:tab algn="l" pos="0"/>
              </a:tabLst>
            </a:pPr>
            <a:r>
              <a:rPr b="0" lang="pt-BR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 Transformador de Fala Disártrica utiliza um pipeline de aprendizado por transferência em duas fases e aumento de dados de áudio para alcançar melhores precisões em 73% dos indivíduos com disartria.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2"/>
          <p:cNvSpPr>
            <a:spLocks noGrp="1"/>
          </p:cNvSpPr>
          <p:nvPr>
            <p:ph/>
          </p:nvPr>
        </p:nvSpPr>
        <p:spPr>
          <a:xfrm>
            <a:off x="4613400" y="2230200"/>
            <a:ext cx="4070520" cy="113976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91440" bIns="91440" anchor="t">
            <a:noAutofit/>
          </a:bodyPr>
          <a:p>
            <a:pPr indent="0" algn="just" defTabSz="457200">
              <a:lnSpc>
                <a:spcPct val="150000"/>
              </a:lnSpc>
              <a:spcAft>
                <a:spcPts val="1001"/>
              </a:spcAft>
              <a:buNone/>
              <a:tabLst>
                <a:tab algn="l" pos="0"/>
              </a:tabLst>
            </a:pPr>
            <a:r>
              <a:rPr b="1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  <a:ea typeface="Hanken Grotesk"/>
              </a:rPr>
              <a:t>O E2E-DASR utiliza uma abordagem espaço-temporal com Redes Neurais Convolucionais Espaciais e Transformadores de Atenção Multi-Cabeças, superando outros sistemas em 20,72% na precisão de reconhecimento.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title"/>
          </p:nvPr>
        </p:nvSpPr>
        <p:spPr>
          <a:xfrm>
            <a:off x="457200" y="112212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Reconhecimento Automático</a:t>
            </a:r>
            <a:br>
              <a:rPr sz="2520"/>
            </a:b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de Fala Disártrica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52" name="PlaceHolder 4"/>
          <p:cNvSpPr>
            <a:spLocks noGrp="1"/>
          </p:cNvSpPr>
          <p:nvPr>
            <p:ph/>
          </p:nvPr>
        </p:nvSpPr>
        <p:spPr>
          <a:xfrm>
            <a:off x="457200" y="2230200"/>
            <a:ext cx="4070520" cy="113976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91440" bIns="91440" anchor="t">
            <a:noAutofit/>
          </a:bodyPr>
          <a:p>
            <a:pPr indent="0" algn="just" defTabSz="457200">
              <a:lnSpc>
                <a:spcPct val="150000"/>
              </a:lnSpc>
              <a:spcAft>
                <a:spcPts val="1001"/>
              </a:spcAft>
              <a:buNone/>
              <a:tabLst>
                <a:tab algn="l" pos="0"/>
              </a:tabLst>
            </a:pPr>
            <a:r>
              <a:rPr b="0" lang="pt-BR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 SpeechVision é um sistema DASR de ponta a ponta que aborda a variabilidade de fonemas e a escassez de dados de fala por meio de aumento de dados visuais.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3" name="Google Shape;715;p111"/>
          <p:cNvCxnSpPr/>
          <p:nvPr/>
        </p:nvCxnSpPr>
        <p:spPr>
          <a:xfrm>
            <a:off x="456840" y="2225160"/>
            <a:ext cx="2880" cy="1154880"/>
          </a:xfrm>
          <a:prstGeom prst="straightConnector1">
            <a:avLst/>
          </a:prstGeom>
          <a:ln w="38160">
            <a:solidFill>
              <a:srgbClr val="7765e3"/>
            </a:solidFill>
            <a:round/>
          </a:ln>
        </p:spPr>
      </p:cxnSp>
      <p:cxnSp>
        <p:nvCxnSpPr>
          <p:cNvPr id="454" name="Google Shape;716;p111"/>
          <p:cNvCxnSpPr/>
          <p:nvPr/>
        </p:nvCxnSpPr>
        <p:spPr>
          <a:xfrm>
            <a:off x="4613400" y="2225160"/>
            <a:ext cx="2880" cy="1154880"/>
          </a:xfrm>
          <a:prstGeom prst="straightConnector1">
            <a:avLst/>
          </a:prstGeom>
          <a:ln w="38160">
            <a:solidFill>
              <a:srgbClr val="7765e3"/>
            </a:solidFill>
            <a:round/>
          </a:ln>
        </p:spPr>
      </p:cxnSp>
      <p:cxnSp>
        <p:nvCxnSpPr>
          <p:cNvPr id="455" name="Google Shape;717;p111"/>
          <p:cNvCxnSpPr/>
          <p:nvPr/>
        </p:nvCxnSpPr>
        <p:spPr>
          <a:xfrm>
            <a:off x="446760" y="3840480"/>
            <a:ext cx="2880" cy="1154880"/>
          </a:xfrm>
          <a:prstGeom prst="straightConnector1">
            <a:avLst/>
          </a:prstGeom>
          <a:ln w="38160">
            <a:solidFill>
              <a:srgbClr val="7765e3"/>
            </a:solidFill>
            <a:round/>
          </a:ln>
        </p:spPr>
      </p:cxnSp>
      <p:sp>
        <p:nvSpPr>
          <p:cNvPr id="456" name="PlaceHolder 5"/>
          <p:cNvSpPr>
            <a:spLocks noGrp="1"/>
          </p:cNvSpPr>
          <p:nvPr>
            <p:ph/>
          </p:nvPr>
        </p:nvSpPr>
        <p:spPr>
          <a:xfrm>
            <a:off x="4608360" y="3845520"/>
            <a:ext cx="4075560" cy="1139400"/>
          </a:xfrm>
          <a:prstGeom prst="rect">
            <a:avLst/>
          </a:prstGeom>
          <a:noFill/>
          <a:ln w="0">
            <a:noFill/>
          </a:ln>
        </p:spPr>
        <p:txBody>
          <a:bodyPr lIns="137160" rIns="137160" tIns="91440" bIns="91440" anchor="t">
            <a:noAutofit/>
          </a:bodyPr>
          <a:p>
            <a:pPr indent="0" algn="just" defTabSz="457200">
              <a:lnSpc>
                <a:spcPct val="150000"/>
              </a:lnSpc>
              <a:spcAft>
                <a:spcPts val="1001"/>
              </a:spcAft>
              <a:buNone/>
              <a:tabLst>
                <a:tab algn="l" pos="0"/>
              </a:tabLst>
            </a:pPr>
            <a:r>
              <a:rPr b="0" lang="pt-BR" sz="11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Os desafios incluem a variabilidade e imprecisão dos fonemas disártricos e a disponibilidade limitada de bases de dados robustas de vozes disártricas.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7" name="Google Shape;719;p111"/>
          <p:cNvCxnSpPr/>
          <p:nvPr/>
        </p:nvCxnSpPr>
        <p:spPr>
          <a:xfrm>
            <a:off x="4608000" y="3840480"/>
            <a:ext cx="2880" cy="1154880"/>
          </a:xfrm>
          <a:prstGeom prst="straightConnector1">
            <a:avLst/>
          </a:prstGeom>
          <a:ln w="38160">
            <a:solidFill>
              <a:srgbClr val="7765e3"/>
            </a:solidFill>
            <a:round/>
          </a:ln>
        </p:spPr>
      </p:cxnSp>
      <p:pic>
        <p:nvPicPr>
          <p:cNvPr id="458" name="Imagem 9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7F75E263-6099-4519-9307-EF217FFCBB3B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000D1793-5DC1-4F08-9D00-33FE65BAB48A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457200" y="130356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Bases de Dados Utilizadas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62" name="Google Shape;725;p112"/>
          <p:cNvSpPr/>
          <p:nvPr/>
        </p:nvSpPr>
        <p:spPr>
          <a:xfrm>
            <a:off x="457200" y="2022120"/>
            <a:ext cx="3992400" cy="3401280"/>
          </a:xfrm>
          <a:prstGeom prst="rect">
            <a:avLst/>
          </a:prstGeom>
          <a:solidFill>
            <a:srgbClr val="ffffff">
              <a:alpha val="20000"/>
            </a:srgbClr>
          </a:solidFill>
          <a:ln w="9360">
            <a:solidFill>
              <a:srgbClr val="ef233c"/>
            </a:solidFill>
            <a:round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3" name="Google Shape;726;p112"/>
          <p:cNvSpPr/>
          <p:nvPr/>
        </p:nvSpPr>
        <p:spPr>
          <a:xfrm>
            <a:off x="4691880" y="2022120"/>
            <a:ext cx="3992400" cy="3401280"/>
          </a:xfrm>
          <a:prstGeom prst="rect">
            <a:avLst/>
          </a:prstGeom>
          <a:solidFill>
            <a:srgbClr val="ffffff">
              <a:alpha val="20000"/>
            </a:srgbClr>
          </a:solidFill>
          <a:ln w="9360">
            <a:solidFill>
              <a:srgbClr val="7765e3"/>
            </a:solidFill>
            <a:round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/>
          </p:nvPr>
        </p:nvSpPr>
        <p:spPr>
          <a:xfrm>
            <a:off x="457200" y="2692080"/>
            <a:ext cx="3992400" cy="273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t">
            <a:noAutofit/>
          </a:bodyPr>
          <a:p>
            <a:pPr marL="395280" indent="-277560" defTabSz="457200">
              <a:lnSpc>
                <a:spcPct val="150000"/>
              </a:lnSpc>
              <a:buClr>
                <a:srgbClr val="ef233c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Gravações de áudio de 16 pacientes com Paralisia Cerebral e 13 falantes de controle.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5280" indent="-277560" defTabSz="457200">
              <a:lnSpc>
                <a:spcPct val="150000"/>
              </a:lnSpc>
              <a:buClr>
                <a:srgbClr val="ef233c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Sinais de fala amostrados a 16 kHz usando um arranjo de microfone de 7 canais.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5280" indent="-277560" defTabSz="457200">
              <a:lnSpc>
                <a:spcPct val="150000"/>
              </a:lnSpc>
              <a:buClr>
                <a:srgbClr val="ef233c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Cada falante fornece 721 enunciados com uma duração média de 1887 segundos.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ubTitle"/>
          </p:nvPr>
        </p:nvSpPr>
        <p:spPr>
          <a:xfrm>
            <a:off x="457200" y="2022120"/>
            <a:ext cx="3992400" cy="619920"/>
          </a:xfrm>
          <a:prstGeom prst="rect">
            <a:avLst/>
          </a:prstGeom>
          <a:noFill/>
          <a:ln w="0">
            <a:noFill/>
          </a:ln>
        </p:spPr>
        <p:txBody>
          <a:bodyPr lIns="182880" rIns="137160" tIns="91440" bIns="91440" anchor="b">
            <a:noAutofit/>
          </a:bodyPr>
          <a:p>
            <a:pPr marL="91440" indent="0" defTabSz="91440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ef233c"/>
                </a:solidFill>
                <a:effectLst/>
                <a:uFillTx/>
                <a:latin typeface="Hanken Grotesk SemiBold"/>
                <a:ea typeface="Hanken Grotesk SemiBold"/>
              </a:rPr>
              <a:t>UA-Speech Dataset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4"/>
          <p:cNvSpPr>
            <a:spLocks noGrp="1"/>
          </p:cNvSpPr>
          <p:nvPr>
            <p:ph/>
          </p:nvPr>
        </p:nvSpPr>
        <p:spPr>
          <a:xfrm>
            <a:off x="4691880" y="2692080"/>
            <a:ext cx="3992400" cy="273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t">
            <a:noAutofit/>
          </a:bodyPr>
          <a:p>
            <a:pPr marL="395280" indent="-277560" defTabSz="457200">
              <a:lnSpc>
                <a:spcPct val="150000"/>
              </a:lnSpc>
              <a:buClr>
                <a:srgbClr val="211c21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Aproximadamente 24 horas de dados de fala conectada rotulados.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5280" indent="-277560" defTabSz="457200">
              <a:lnSpc>
                <a:spcPct val="150000"/>
              </a:lnSpc>
              <a:buClr>
                <a:srgbClr val="211c21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13.100 gravações curtas de áudio de um único falante lendo trechos de texto.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5280" indent="-277560" defTabSz="457200">
              <a:lnSpc>
                <a:spcPct val="150000"/>
              </a:lnSpc>
              <a:buClr>
                <a:srgbClr val="211c21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Arquivos WAV PCM de 16 bits e canal único com uma taxa de amostragem de 22 kHz.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5"/>
          <p:cNvSpPr>
            <a:spLocks noGrp="1"/>
          </p:cNvSpPr>
          <p:nvPr>
            <p:ph type="subTitle"/>
          </p:nvPr>
        </p:nvSpPr>
        <p:spPr>
          <a:xfrm>
            <a:off x="4691880" y="2022120"/>
            <a:ext cx="3992400" cy="619920"/>
          </a:xfrm>
          <a:prstGeom prst="rect">
            <a:avLst/>
          </a:prstGeom>
          <a:noFill/>
          <a:ln w="0">
            <a:noFill/>
          </a:ln>
        </p:spPr>
        <p:txBody>
          <a:bodyPr lIns="182880" rIns="137160" tIns="91440" bIns="91440" anchor="b">
            <a:noAutofit/>
          </a:bodyPr>
          <a:p>
            <a:pPr marL="91440" indent="0" defTabSz="91440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7765e3"/>
                </a:solidFill>
                <a:effectLst/>
                <a:uFillTx/>
                <a:latin typeface="Hanken Grotesk SemiBold"/>
                <a:ea typeface="Hanken Grotesk SemiBold"/>
              </a:rPr>
              <a:t>LJ Speech Dataset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8" name="Imagem 104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9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4D2FE3CC-40ED-4A1A-B9F5-07BDB017ACAE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4B03A643-F790-448B-8F9C-C9767339AE50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736;p 1"/>
          <p:cNvSpPr/>
          <p:nvPr/>
        </p:nvSpPr>
        <p:spPr>
          <a:xfrm>
            <a:off x="457200" y="2022120"/>
            <a:ext cx="3992400" cy="3401280"/>
          </a:xfrm>
          <a:prstGeom prst="rect">
            <a:avLst/>
          </a:prstGeom>
          <a:solidFill>
            <a:srgbClr val="ffffff">
              <a:alpha val="20000"/>
            </a:srgbClr>
          </a:solidFill>
          <a:ln w="9360">
            <a:solidFill>
              <a:srgbClr val="ef233c"/>
            </a:solidFill>
            <a:round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2" name="Google Shape;737;p 1"/>
          <p:cNvSpPr/>
          <p:nvPr/>
        </p:nvSpPr>
        <p:spPr>
          <a:xfrm>
            <a:off x="4691880" y="2022120"/>
            <a:ext cx="3992400" cy="3401280"/>
          </a:xfrm>
          <a:prstGeom prst="rect">
            <a:avLst/>
          </a:prstGeom>
          <a:solidFill>
            <a:srgbClr val="ffffff">
              <a:alpha val="20000"/>
            </a:srgbClr>
          </a:solidFill>
          <a:ln w="9360">
            <a:solidFill>
              <a:srgbClr val="7765e3"/>
            </a:solidFill>
            <a:round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73" name="" descr=""/>
          <p:cNvPicPr/>
          <p:nvPr/>
        </p:nvPicPr>
        <p:blipFill>
          <a:blip r:embed="rId1"/>
          <a:stretch/>
        </p:blipFill>
        <p:spPr>
          <a:xfrm>
            <a:off x="4785480" y="2116800"/>
            <a:ext cx="3819600" cy="318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4" name="" descr=""/>
          <p:cNvPicPr/>
          <p:nvPr/>
        </p:nvPicPr>
        <p:blipFill>
          <a:blip r:embed="rId2"/>
          <a:stretch/>
        </p:blipFill>
        <p:spPr>
          <a:xfrm>
            <a:off x="492120" y="2124000"/>
            <a:ext cx="3913920" cy="317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457200" y="130356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Estruturas utilizadas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 type="subTitle"/>
          </p:nvPr>
        </p:nvSpPr>
        <p:spPr>
          <a:xfrm>
            <a:off x="457200" y="2022120"/>
            <a:ext cx="3992400" cy="619920"/>
          </a:xfrm>
          <a:prstGeom prst="rect">
            <a:avLst/>
          </a:prstGeom>
          <a:noFill/>
          <a:ln w="0">
            <a:noFill/>
          </a:ln>
        </p:spPr>
        <p:txBody>
          <a:bodyPr lIns="182880" rIns="137160" tIns="91440" bIns="91440" anchor="b">
            <a:noAutofit/>
          </a:bodyPr>
          <a:p>
            <a:pPr marL="91440" indent="0" defTabSz="91440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ef233c"/>
                </a:solidFill>
                <a:effectLst/>
                <a:uFillTx/>
                <a:latin typeface="Hanken Grotesk SemiBold"/>
                <a:ea typeface="Hanken Grotesk SemiBold"/>
              </a:rPr>
              <a:t>FW1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7" name="Imagem 114" descr=""/>
          <p:cNvPicPr/>
          <p:nvPr/>
        </p:nvPicPr>
        <p:blipFill>
          <a:blip r:embed="rId3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F741FE36-2CEA-4DEB-867A-5F551B7756C3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067ACA9D-4796-4685-93F3-3FF9AF8E9B18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ubTitle"/>
          </p:nvPr>
        </p:nvSpPr>
        <p:spPr>
          <a:xfrm>
            <a:off x="4691880" y="2022120"/>
            <a:ext cx="3992400" cy="619920"/>
          </a:xfrm>
          <a:prstGeom prst="rect">
            <a:avLst/>
          </a:prstGeom>
          <a:noFill/>
          <a:ln w="0">
            <a:noFill/>
          </a:ln>
        </p:spPr>
        <p:txBody>
          <a:bodyPr lIns="182880" rIns="137160" tIns="91440" bIns="91440" anchor="b">
            <a:noAutofit/>
          </a:bodyPr>
          <a:p>
            <a:pPr marL="91440" indent="-91440" defTabSz="91440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1400" strike="noStrike" u="none">
                <a:solidFill>
                  <a:srgbClr val="7765e3"/>
                </a:solidFill>
                <a:effectLst/>
                <a:uFillTx/>
                <a:latin typeface="Hanken Grotesk SemiBold"/>
                <a:ea typeface="Hanken Grotesk SemiBold"/>
              </a:rPr>
              <a:t>FW2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457200" y="130356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</a:rPr>
              <a:t>Estruturas utilizadas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82" name="Google Shape;736;p113"/>
          <p:cNvSpPr/>
          <p:nvPr/>
        </p:nvSpPr>
        <p:spPr>
          <a:xfrm>
            <a:off x="457200" y="2022120"/>
            <a:ext cx="3992400" cy="3401280"/>
          </a:xfrm>
          <a:prstGeom prst="rect">
            <a:avLst/>
          </a:prstGeom>
          <a:solidFill>
            <a:srgbClr val="ffffff">
              <a:alpha val="20000"/>
            </a:srgbClr>
          </a:solidFill>
          <a:ln w="9360">
            <a:solidFill>
              <a:srgbClr val="ef233c"/>
            </a:solidFill>
            <a:round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3" name="Google Shape;737;p113"/>
          <p:cNvSpPr/>
          <p:nvPr/>
        </p:nvSpPr>
        <p:spPr>
          <a:xfrm>
            <a:off x="4691880" y="2022120"/>
            <a:ext cx="3992400" cy="3401280"/>
          </a:xfrm>
          <a:prstGeom prst="rect">
            <a:avLst/>
          </a:prstGeom>
          <a:solidFill>
            <a:srgbClr val="ffffff">
              <a:alpha val="20000"/>
            </a:srgbClr>
          </a:solidFill>
          <a:ln w="9360">
            <a:solidFill>
              <a:srgbClr val="7765e3"/>
            </a:solidFill>
            <a:round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/>
          </p:nvPr>
        </p:nvSpPr>
        <p:spPr>
          <a:xfrm>
            <a:off x="457200" y="2692080"/>
            <a:ext cx="3992400" cy="273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t">
            <a:noAutofit/>
          </a:bodyPr>
          <a:p>
            <a:pPr marL="395280" indent="-277560" defTabSz="457200">
              <a:lnSpc>
                <a:spcPct val="150000"/>
              </a:lnSpc>
              <a:buClr>
                <a:srgbClr val="ef233c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Keras - ASR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5280" indent="-277560" defTabSz="457200">
              <a:lnSpc>
                <a:spcPct val="150000"/>
              </a:lnSpc>
              <a:spcBef>
                <a:spcPts val="1001"/>
              </a:spcBef>
              <a:buClr>
                <a:srgbClr val="ef233c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4 codificadores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5280" indent="-277560" defTabSz="457200">
              <a:lnSpc>
                <a:spcPct val="150000"/>
              </a:lnSpc>
              <a:spcBef>
                <a:spcPts val="1001"/>
              </a:spcBef>
              <a:spcAft>
                <a:spcPts val="1001"/>
              </a:spcAft>
              <a:buClr>
                <a:srgbClr val="ef233c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1 decodificador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ubTitle"/>
          </p:nvPr>
        </p:nvSpPr>
        <p:spPr>
          <a:xfrm>
            <a:off x="457200" y="2022120"/>
            <a:ext cx="3992400" cy="619920"/>
          </a:xfrm>
          <a:prstGeom prst="rect">
            <a:avLst/>
          </a:prstGeom>
          <a:noFill/>
          <a:ln w="0">
            <a:noFill/>
          </a:ln>
        </p:spPr>
        <p:txBody>
          <a:bodyPr lIns="182880" rIns="137160" tIns="91440" bIns="91440" anchor="b">
            <a:noAutofit/>
          </a:bodyPr>
          <a:p>
            <a:pPr marL="91440" indent="0" defTabSz="91440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ef233c"/>
                </a:solidFill>
                <a:effectLst/>
                <a:uFillTx/>
                <a:latin typeface="Hanken Grotesk SemiBold"/>
                <a:ea typeface="Hanken Grotesk SemiBold"/>
              </a:rPr>
              <a:t>FW1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4"/>
          <p:cNvSpPr>
            <a:spLocks noGrp="1"/>
          </p:cNvSpPr>
          <p:nvPr>
            <p:ph/>
          </p:nvPr>
        </p:nvSpPr>
        <p:spPr>
          <a:xfrm>
            <a:off x="4691880" y="2692080"/>
            <a:ext cx="3992400" cy="273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t">
            <a:noAutofit/>
          </a:bodyPr>
          <a:p>
            <a:pPr marL="395280" indent="-277560" defTabSz="457200">
              <a:lnSpc>
                <a:spcPct val="150000"/>
              </a:lnSpc>
              <a:buClr>
                <a:srgbClr val="211c21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PyTorch - Speech Transformer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5280" indent="-277560" defTabSz="457200">
              <a:lnSpc>
                <a:spcPct val="150000"/>
              </a:lnSpc>
              <a:spcBef>
                <a:spcPts val="1001"/>
              </a:spcBef>
              <a:buClr>
                <a:srgbClr val="211c21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5 codificadores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5280" indent="-277560" defTabSz="457200">
              <a:lnSpc>
                <a:spcPct val="150000"/>
              </a:lnSpc>
              <a:spcBef>
                <a:spcPts val="1001"/>
              </a:spcBef>
              <a:spcAft>
                <a:spcPts val="1001"/>
              </a:spcAft>
              <a:buClr>
                <a:srgbClr val="211c21"/>
              </a:buClr>
              <a:buFont typeface="Hanken Grotesk"/>
              <a:buChar char="•"/>
            </a:pPr>
            <a:r>
              <a:rPr b="0" lang="pt-BR" sz="11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3 decodificadores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5"/>
          <p:cNvSpPr>
            <a:spLocks noGrp="1"/>
          </p:cNvSpPr>
          <p:nvPr>
            <p:ph type="subTitle"/>
          </p:nvPr>
        </p:nvSpPr>
        <p:spPr>
          <a:xfrm>
            <a:off x="4691880" y="2022120"/>
            <a:ext cx="3992400" cy="619920"/>
          </a:xfrm>
          <a:prstGeom prst="rect">
            <a:avLst/>
          </a:prstGeom>
          <a:noFill/>
          <a:ln w="0">
            <a:noFill/>
          </a:ln>
        </p:spPr>
        <p:txBody>
          <a:bodyPr lIns="182880" rIns="137160" tIns="91440" bIns="91440" anchor="b">
            <a:noAutofit/>
          </a:bodyPr>
          <a:p>
            <a:pPr marL="91440" indent="0" defTabSz="91440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7765e3"/>
                </a:solidFill>
                <a:effectLst/>
                <a:uFillTx/>
                <a:latin typeface="Hanken Grotesk SemiBold"/>
                <a:ea typeface="Hanken Grotesk SemiBold"/>
              </a:rPr>
              <a:t>FW2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Imagem 126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9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63948B58-387A-404C-97E6-4F372414CC0A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B606CBA4-9A27-435B-84CE-FD682B1E26F2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746;p114"/>
          <p:cNvSpPr/>
          <p:nvPr/>
        </p:nvSpPr>
        <p:spPr>
          <a:xfrm>
            <a:off x="5928840" y="857160"/>
            <a:ext cx="2588040" cy="5037480"/>
          </a:xfrm>
          <a:prstGeom prst="rect">
            <a:avLst/>
          </a:prstGeom>
          <a:solidFill>
            <a:srgbClr val="a09cab"/>
          </a:solidFill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457200" y="1302120"/>
            <a:ext cx="546876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420" strike="noStrike" u="none">
                <a:solidFill>
                  <a:schemeClr val="dk1"/>
                </a:solidFill>
                <a:effectLst/>
                <a:uFillTx/>
                <a:latin typeface="Hanken Grotesk"/>
              </a:rPr>
              <a:t>Nossa abordagem</a:t>
            </a:r>
            <a:endParaRPr b="0" lang="en-US" sz="24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/>
          </p:nvPr>
        </p:nvSpPr>
        <p:spPr>
          <a:xfrm>
            <a:off x="457200" y="2489760"/>
            <a:ext cx="5024880" cy="2936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marL="433800" indent="-254880" defTabSz="457200">
              <a:lnSpc>
                <a:spcPct val="150000"/>
              </a:lnSpc>
              <a:buClr>
                <a:srgbClr val="211c21"/>
              </a:buClr>
              <a:buFont typeface="Hanken Grotesk SemiBold"/>
              <a:buChar char="●"/>
            </a:pPr>
            <a:r>
              <a:rPr b="0" lang="pt-BR" sz="1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Adição de ruído e dilatação temporal: Adicionar ruído aleatório ao sinal de áudio original e alterar a velocidade sem mudar o tom. Melhora a robustez do modelo em ambientes ruidosos.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3800" indent="-254880" defTabSz="457200">
              <a:lnSpc>
                <a:spcPct val="150000"/>
              </a:lnSpc>
              <a:buClr>
                <a:srgbClr val="211c21"/>
              </a:buClr>
              <a:buFont typeface="Hanken Grotesk SemiBold"/>
              <a:buChar char="●"/>
            </a:pPr>
            <a:r>
              <a:rPr b="0" lang="pt-BR" sz="1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Oclusão Espectral (SO): Mascarar seções aleatórias do espectro da fala para simular deficiências de articulação. Melhora a capacidade do modelo de lidar com fala com lacunas espectrais.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3800" indent="-254880" defTabSz="457200">
              <a:lnSpc>
                <a:spcPct val="150000"/>
              </a:lnSpc>
              <a:spcBef>
                <a:spcPts val="1001"/>
              </a:spcBef>
              <a:spcAft>
                <a:spcPts val="1001"/>
              </a:spcAft>
              <a:buClr>
                <a:srgbClr val="211c21"/>
              </a:buClr>
              <a:buFont typeface="Hanken Grotesk SemiBold"/>
              <a:buChar char="●"/>
            </a:pPr>
            <a:r>
              <a:rPr b="0" lang="pt-BR" sz="1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  <a:ea typeface="Hanken Grotesk"/>
              </a:rPr>
              <a:t>Essas técnicas foram escolhidas devido à sua eficácia em focar em características essenciais e melhorar o desempenho em ambientes ruidosos do mundo real.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ubTitle"/>
          </p:nvPr>
        </p:nvSpPr>
        <p:spPr>
          <a:xfrm>
            <a:off x="457200" y="1999080"/>
            <a:ext cx="5516640" cy="4388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marL="91440" indent="0" defTabSz="91440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Técnicas de Aumento de Dados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Google Shape;750;p114"/>
          <p:cNvSpPr/>
          <p:nvPr/>
        </p:nvSpPr>
        <p:spPr>
          <a:xfrm>
            <a:off x="5702040" y="3198600"/>
            <a:ext cx="457560" cy="457560"/>
          </a:xfrm>
          <a:prstGeom prst="ellipse">
            <a:avLst/>
          </a:prstGeom>
          <a:solidFill>
            <a:srgbClr val="a09cab"/>
          </a:solidFill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6" name="Google Shape;751;p114"/>
          <p:cNvSpPr/>
          <p:nvPr/>
        </p:nvSpPr>
        <p:spPr>
          <a:xfrm>
            <a:off x="8361360" y="1457640"/>
            <a:ext cx="322560" cy="322560"/>
          </a:xfrm>
          <a:prstGeom prst="ellipse">
            <a:avLst/>
          </a:prstGeom>
          <a:solidFill>
            <a:srgbClr val="a09cab"/>
          </a:solidFill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7" name="Google Shape;752;p114" descr=""/>
          <p:cNvPicPr/>
          <p:nvPr/>
        </p:nvPicPr>
        <p:blipFill>
          <a:blip r:embed="rId1"/>
          <a:srcRect l="0" t="0" r="46977" b="0"/>
          <a:stretch/>
        </p:blipFill>
        <p:spPr>
          <a:xfrm>
            <a:off x="5959800" y="857160"/>
            <a:ext cx="2724120" cy="5037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8" name="Imagem 137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6684FD26-BFF6-4A43-A765-E710CB180B63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0207CC8F-7479-436E-A4F0-22326C1B8E94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" descr=""/>
          <p:cNvPicPr/>
          <p:nvPr/>
        </p:nvPicPr>
        <p:blipFill>
          <a:blip r:embed="rId1"/>
          <a:srcRect l="0" t="0" r="0" b="26197"/>
          <a:stretch/>
        </p:blipFill>
        <p:spPr>
          <a:xfrm>
            <a:off x="631800" y="1440000"/>
            <a:ext cx="7562160" cy="424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457200" y="1302120"/>
            <a:ext cx="546876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420" strike="noStrike" u="none">
                <a:solidFill>
                  <a:schemeClr val="dk1"/>
                </a:solidFill>
                <a:effectLst/>
                <a:uFillTx/>
                <a:latin typeface="Hanken Grotesk"/>
              </a:rPr>
              <a:t>Diagrama do processo Supervisionado</a:t>
            </a:r>
            <a:endParaRPr b="0" lang="en-US" sz="24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503" name="Google Shape;751;p 2"/>
          <p:cNvSpPr/>
          <p:nvPr/>
        </p:nvSpPr>
        <p:spPr>
          <a:xfrm>
            <a:off x="8361360" y="1457640"/>
            <a:ext cx="322560" cy="322560"/>
          </a:xfrm>
          <a:prstGeom prst="ellipse">
            <a:avLst/>
          </a:prstGeom>
          <a:solidFill>
            <a:srgbClr val="a09cab"/>
          </a:solidFill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04" name="Imagem 18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CaixaDeTexto 30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Retângulo 31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4D01A658-16A1-42EE-900E-4AA21B17186B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B27F3576-429C-4C6A-A16B-CCC1B319AFD7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Imagem 141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633600" y="1951920"/>
            <a:ext cx="1741680" cy="13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PlaceHolder 1"/>
          <p:cNvSpPr>
            <a:spLocks noGrp="1"/>
          </p:cNvSpPr>
          <p:nvPr>
            <p:ph type="subTitle"/>
          </p:nvPr>
        </p:nvSpPr>
        <p:spPr>
          <a:xfrm>
            <a:off x="457200" y="3475080"/>
            <a:ext cx="5516640" cy="4388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marL="91440" indent="-91440" defTabSz="91440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Clr>
                <a:srgbClr val="e48312"/>
              </a:buClr>
              <a:buFont typeface="Calibri"/>
              <a:buChar char=" "/>
              <a:tabLst>
                <a:tab algn="l" pos="0"/>
              </a:tabLst>
            </a:pPr>
            <a:r>
              <a:rPr b="0" lang="pt-BR" sz="1400" strike="noStrike" u="none">
                <a:solidFill>
                  <a:srgbClr val="211c21"/>
                </a:solidFill>
                <a:effectLst/>
                <a:uFillTx/>
                <a:latin typeface="Hanken Grotesk SemiBold"/>
              </a:rPr>
              <a:t>Resultados das transformações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9" name="Imagem 145" descr=""/>
          <p:cNvPicPr/>
          <p:nvPr/>
        </p:nvPicPr>
        <p:blipFill>
          <a:blip r:embed="rId3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0" name="PlaceHolder 8"/>
          <p:cNvSpPr/>
          <p:nvPr/>
        </p:nvSpPr>
        <p:spPr>
          <a:xfrm>
            <a:off x="454320" y="1351440"/>
            <a:ext cx="5516640" cy="4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1440" bIns="91440" anchor="b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pt-BR" sz="14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	</a:t>
            </a:r>
            <a:r>
              <a:rPr b="0" lang="pt-BR" sz="14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Fala normal</a:t>
            </a:r>
            <a:r>
              <a:rPr b="0" lang="pt-BR" sz="14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	</a:t>
            </a:r>
            <a:r>
              <a:rPr b="0" lang="pt-BR" sz="14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       X </a:t>
            </a:r>
            <a:r>
              <a:rPr b="0" lang="pt-BR" sz="14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	</a:t>
            </a:r>
            <a:r>
              <a:rPr b="0" lang="pt-BR" sz="14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    Fala disártrica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Imagem 149" descr=""/>
          <p:cNvPicPr/>
          <p:nvPr/>
        </p:nvPicPr>
        <p:blipFill>
          <a:blip r:embed="rId4"/>
          <a:stretch/>
        </p:blipFill>
        <p:spPr>
          <a:xfrm>
            <a:off x="540000" y="4051080"/>
            <a:ext cx="1740600" cy="130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2" name="Imagem 150" descr="">
            <a:hlinkClick r:id="rId5"/>
          </p:cNvPr>
          <p:cNvPicPr/>
          <p:nvPr/>
        </p:nvPicPr>
        <p:blipFill>
          <a:blip r:embed="rId6"/>
          <a:stretch/>
        </p:blipFill>
        <p:spPr>
          <a:xfrm>
            <a:off x="2578680" y="4051080"/>
            <a:ext cx="1740600" cy="130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Imagem 152" descr="">
            <a:hlinkClick r:id="rId7"/>
          </p:cNvPr>
          <p:cNvPicPr/>
          <p:nvPr/>
        </p:nvPicPr>
        <p:blipFill>
          <a:blip r:embed="rId8"/>
          <a:stretch/>
        </p:blipFill>
        <p:spPr>
          <a:xfrm>
            <a:off x="6915600" y="4051080"/>
            <a:ext cx="1740600" cy="130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CaixaDeTexto 153"/>
          <p:cNvSpPr/>
          <p:nvPr/>
        </p:nvSpPr>
        <p:spPr>
          <a:xfrm>
            <a:off x="805680" y="5321160"/>
            <a:ext cx="10180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1. n-aug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CaixaDeTexto 154"/>
          <p:cNvSpPr/>
          <p:nvPr/>
        </p:nvSpPr>
        <p:spPr>
          <a:xfrm>
            <a:off x="3041280" y="5321160"/>
            <a:ext cx="8154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 aug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aixaDeTexto 155"/>
          <p:cNvSpPr/>
          <p:nvPr/>
        </p:nvSpPr>
        <p:spPr>
          <a:xfrm>
            <a:off x="5265000" y="5321160"/>
            <a:ext cx="68760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 ap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CaixaDeTexto 156"/>
          <p:cNvSpPr/>
          <p:nvPr/>
        </p:nvSpPr>
        <p:spPr>
          <a:xfrm>
            <a:off x="7361280" y="5321160"/>
            <a:ext cx="8154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 app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8191F0FC-F89A-409C-9C8C-81D08674C80C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20E72BA4-4ACD-4239-8C26-5F9174892767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0" name="Imagem 140" descr="">
            <a:hlinkClick r:id="rId9"/>
          </p:cNvPr>
          <p:cNvPicPr/>
          <p:nvPr/>
        </p:nvPicPr>
        <p:blipFill>
          <a:blip r:embed="rId10"/>
          <a:stretch/>
        </p:blipFill>
        <p:spPr>
          <a:xfrm>
            <a:off x="3096000" y="1937160"/>
            <a:ext cx="1741680" cy="130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Imagem 151" descr="">
            <a:hlinkClick r:id="rId11"/>
          </p:cNvPr>
          <p:cNvPicPr/>
          <p:nvPr/>
        </p:nvPicPr>
        <p:blipFill>
          <a:blip r:embed="rId12"/>
          <a:stretch/>
        </p:blipFill>
        <p:spPr>
          <a:xfrm>
            <a:off x="4738680" y="4051080"/>
            <a:ext cx="1740600" cy="1305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" name="" descr=""/>
          <p:cNvPicPr/>
          <p:nvPr/>
        </p:nvPicPr>
        <p:blipFill>
          <a:blip r:embed="rId1"/>
          <a:srcRect l="0" t="0" r="859" b="2867"/>
          <a:stretch/>
        </p:blipFill>
        <p:spPr>
          <a:xfrm>
            <a:off x="5187600" y="4485600"/>
            <a:ext cx="2696400" cy="181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3" name="Imagem 157" descr=""/>
          <p:cNvPicPr/>
          <p:nvPr/>
        </p:nvPicPr>
        <p:blipFill>
          <a:blip r:embed="rId2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4" name="Google Shape;757;p115"/>
          <p:cNvSpPr/>
          <p:nvPr/>
        </p:nvSpPr>
        <p:spPr>
          <a:xfrm>
            <a:off x="0" y="1920960"/>
            <a:ext cx="9141120" cy="81288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457200" y="130212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Experimentos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 type="subTitle"/>
          </p:nvPr>
        </p:nvSpPr>
        <p:spPr>
          <a:xfrm>
            <a:off x="457200" y="1920960"/>
            <a:ext cx="3872880" cy="812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marL="91440" indent="0" defTabSz="91440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2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Resultados em WRA dos métodos de aumento de dados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7" name="Google Shape;761;p115"/>
          <p:cNvCxnSpPr/>
          <p:nvPr/>
        </p:nvCxnSpPr>
        <p:spPr>
          <a:xfrm>
            <a:off x="4452480" y="2011320"/>
            <a:ext cx="2880" cy="660960"/>
          </a:xfrm>
          <a:prstGeom prst="straightConnector1">
            <a:avLst/>
          </a:prstGeom>
          <a:ln w="38160">
            <a:solidFill>
              <a:srgbClr val="211c21"/>
            </a:solidFill>
            <a:round/>
          </a:ln>
        </p:spPr>
      </p:cxnSp>
      <p:sp>
        <p:nvSpPr>
          <p:cNvPr id="528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CFE9C91B-332E-4A6A-84B2-BBBA330397F8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9169DC3A-ACDB-480D-A01E-F5D9EA18C156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0" name="" descr=""/>
          <p:cNvPicPr/>
          <p:nvPr/>
        </p:nvPicPr>
        <p:blipFill>
          <a:blip r:embed="rId3"/>
          <a:srcRect l="0" t="1594" r="891" b="0"/>
          <a:stretch/>
        </p:blipFill>
        <p:spPr>
          <a:xfrm>
            <a:off x="561960" y="2574000"/>
            <a:ext cx="2749680" cy="177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1" name="" descr=""/>
          <p:cNvPicPr/>
          <p:nvPr/>
        </p:nvPicPr>
        <p:blipFill>
          <a:blip r:embed="rId4"/>
          <a:srcRect l="0" t="1594" r="892" b="0"/>
          <a:stretch/>
        </p:blipFill>
        <p:spPr>
          <a:xfrm>
            <a:off x="5202000" y="2574000"/>
            <a:ext cx="2703600" cy="176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Google Shape;760;p115"/>
          <p:cNvSpPr/>
          <p:nvPr/>
        </p:nvSpPr>
        <p:spPr>
          <a:xfrm>
            <a:off x="4572000" y="1920960"/>
            <a:ext cx="3645360" cy="81288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457200">
              <a:lnSpc>
                <a:spcPct val="150000"/>
              </a:lnSpc>
              <a:tabLst>
                <a:tab algn="l" pos="0"/>
              </a:tabLst>
            </a:pPr>
            <a:r>
              <a:rPr b="0" lang="pt-BR" sz="10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Os métodos de aumento de dados demonstram melhorias de desempenho variadas com base nos níveis de inteligibilidade da fala e no tipo de framework utilizado.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3" name="" descr=""/>
          <p:cNvPicPr/>
          <p:nvPr/>
        </p:nvPicPr>
        <p:blipFill>
          <a:blip r:embed="rId5"/>
          <a:srcRect l="688" t="0" r="1480" b="0"/>
          <a:stretch/>
        </p:blipFill>
        <p:spPr>
          <a:xfrm>
            <a:off x="586800" y="4485600"/>
            <a:ext cx="2765880" cy="178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Google Shape;776;p 1"/>
          <p:cNvSpPr/>
          <p:nvPr/>
        </p:nvSpPr>
        <p:spPr>
          <a:xfrm>
            <a:off x="4097880" y="409536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ef233c"/>
                </a:solidFill>
                <a:effectLst/>
                <a:uFillTx/>
                <a:latin typeface="Inter"/>
                <a:ea typeface="Inter"/>
              </a:rPr>
              <a:t>FW1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770;p116"/>
          <p:cNvSpPr/>
          <p:nvPr/>
        </p:nvSpPr>
        <p:spPr>
          <a:xfrm>
            <a:off x="0" y="1920960"/>
            <a:ext cx="9141120" cy="81288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457200" y="130212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Experimentos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537" name="PlaceHolder 2"/>
          <p:cNvSpPr>
            <a:spLocks noGrp="1"/>
          </p:cNvSpPr>
          <p:nvPr>
            <p:ph type="subTitle"/>
          </p:nvPr>
        </p:nvSpPr>
        <p:spPr>
          <a:xfrm>
            <a:off x="457200" y="1920960"/>
            <a:ext cx="3872880" cy="812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marL="91440" indent="0" defTabSz="91440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2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Resultados em WRA dos métodos de aumento de dados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8" name="Google Shape;773;p116"/>
          <p:cNvCxnSpPr/>
          <p:nvPr/>
        </p:nvCxnSpPr>
        <p:spPr>
          <a:xfrm>
            <a:off x="4452480" y="2011320"/>
            <a:ext cx="2880" cy="660960"/>
          </a:xfrm>
          <a:prstGeom prst="straightConnector1">
            <a:avLst/>
          </a:prstGeom>
          <a:ln w="38160">
            <a:solidFill>
              <a:srgbClr val="211c21"/>
            </a:solidFill>
            <a:round/>
          </a:ln>
        </p:spPr>
      </p:cxnSp>
      <p:sp>
        <p:nvSpPr>
          <p:cNvPr id="539" name="Google Shape;777;p116"/>
          <p:cNvSpPr/>
          <p:nvPr/>
        </p:nvSpPr>
        <p:spPr>
          <a:xfrm>
            <a:off x="4096800" y="408204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7765e3"/>
                </a:solidFill>
                <a:effectLst/>
                <a:uFillTx/>
                <a:latin typeface="Inter"/>
                <a:ea typeface="Inter"/>
              </a:rPr>
              <a:t>FW2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0" name="Imagem 179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CaixaDeTexto 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Retângulo 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E1F314CA-A161-44C5-9308-D48666E4F592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D0483B95-EA74-46F9-BAB9-74D0400B58A4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3" name="" descr=""/>
          <p:cNvPicPr/>
          <p:nvPr/>
        </p:nvPicPr>
        <p:blipFill>
          <a:blip r:embed="rId2"/>
          <a:stretch/>
        </p:blipFill>
        <p:spPr>
          <a:xfrm>
            <a:off x="561600" y="2574000"/>
            <a:ext cx="2750400" cy="177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4" name="" descr=""/>
          <p:cNvPicPr/>
          <p:nvPr/>
        </p:nvPicPr>
        <p:blipFill>
          <a:blip r:embed="rId3"/>
          <a:stretch/>
        </p:blipFill>
        <p:spPr>
          <a:xfrm>
            <a:off x="5205600" y="2574000"/>
            <a:ext cx="2750400" cy="177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5" name="" descr=""/>
          <p:cNvPicPr/>
          <p:nvPr/>
        </p:nvPicPr>
        <p:blipFill>
          <a:blip r:embed="rId4"/>
          <a:stretch/>
        </p:blipFill>
        <p:spPr>
          <a:xfrm>
            <a:off x="586800" y="4521600"/>
            <a:ext cx="2750400" cy="177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6" name="" descr=""/>
          <p:cNvPicPr/>
          <p:nvPr/>
        </p:nvPicPr>
        <p:blipFill>
          <a:blip r:embed="rId5"/>
          <a:stretch/>
        </p:blipFill>
        <p:spPr>
          <a:xfrm>
            <a:off x="5187600" y="4485600"/>
            <a:ext cx="2750400" cy="1771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7" name="Imagem 27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Google Shape;757;p 1"/>
          <p:cNvSpPr/>
          <p:nvPr/>
        </p:nvSpPr>
        <p:spPr>
          <a:xfrm>
            <a:off x="0" y="1920960"/>
            <a:ext cx="9141120" cy="81288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457200" y="130212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Experimentos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457200" y="1920960"/>
            <a:ext cx="3872880" cy="812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marL="91440" indent="0" defTabSz="91440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2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Resultados em CER dos métodos de aumento de dados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1" name="Google Shape;761;p 1"/>
          <p:cNvCxnSpPr/>
          <p:nvPr/>
        </p:nvCxnSpPr>
        <p:spPr>
          <a:xfrm>
            <a:off x="4452480" y="2011320"/>
            <a:ext cx="2880" cy="660960"/>
          </a:xfrm>
          <a:prstGeom prst="straightConnector1">
            <a:avLst/>
          </a:prstGeom>
          <a:ln w="38160">
            <a:solidFill>
              <a:srgbClr val="211c21"/>
            </a:solidFill>
            <a:round/>
          </a:ln>
        </p:spPr>
      </p:cxnSp>
      <p:sp>
        <p:nvSpPr>
          <p:cNvPr id="552" name="CaixaDeTexto 41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Retângulo 36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3F18E81A-8E33-42BB-965A-9C0DF81B6EA1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7ECABFBD-649E-4410-8483-ADF6532FCB9A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Google Shape;776;p 2"/>
          <p:cNvSpPr/>
          <p:nvPr/>
        </p:nvSpPr>
        <p:spPr>
          <a:xfrm>
            <a:off x="4097880" y="409536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ef233c"/>
                </a:solidFill>
                <a:effectLst/>
                <a:uFillTx/>
                <a:latin typeface="Inter"/>
                <a:ea typeface="Inter"/>
              </a:rPr>
              <a:t>FW1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5" name="" descr=""/>
          <p:cNvPicPr/>
          <p:nvPr/>
        </p:nvPicPr>
        <p:blipFill>
          <a:blip r:embed="rId2"/>
          <a:srcRect l="0" t="1594" r="780" b="0"/>
          <a:stretch/>
        </p:blipFill>
        <p:spPr>
          <a:xfrm>
            <a:off x="561600" y="2574000"/>
            <a:ext cx="2750400" cy="177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" descr=""/>
          <p:cNvPicPr/>
          <p:nvPr/>
        </p:nvPicPr>
        <p:blipFill>
          <a:blip r:embed="rId3"/>
          <a:srcRect l="0" t="1594" r="780" b="0"/>
          <a:stretch/>
        </p:blipFill>
        <p:spPr>
          <a:xfrm>
            <a:off x="5205600" y="2574000"/>
            <a:ext cx="2750400" cy="177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7" name="" descr=""/>
          <p:cNvPicPr/>
          <p:nvPr/>
        </p:nvPicPr>
        <p:blipFill>
          <a:blip r:embed="rId4"/>
          <a:stretch/>
        </p:blipFill>
        <p:spPr>
          <a:xfrm>
            <a:off x="586800" y="4521600"/>
            <a:ext cx="2750400" cy="177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8" name="" descr=""/>
          <p:cNvPicPr/>
          <p:nvPr/>
        </p:nvPicPr>
        <p:blipFill>
          <a:blip r:embed="rId5"/>
          <a:stretch/>
        </p:blipFill>
        <p:spPr>
          <a:xfrm>
            <a:off x="5187600" y="4485600"/>
            <a:ext cx="2750400" cy="1771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770;p 1"/>
          <p:cNvSpPr/>
          <p:nvPr/>
        </p:nvSpPr>
        <p:spPr>
          <a:xfrm>
            <a:off x="0" y="1920960"/>
            <a:ext cx="9141120" cy="81288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0" name="PlaceHolder 1"/>
          <p:cNvSpPr>
            <a:spLocks noGrp="1"/>
          </p:cNvSpPr>
          <p:nvPr>
            <p:ph type="title"/>
          </p:nvPr>
        </p:nvSpPr>
        <p:spPr>
          <a:xfrm>
            <a:off x="457200" y="1302120"/>
            <a:ext cx="8226720" cy="56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Experimentos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561" name="PlaceHolder 2"/>
          <p:cNvSpPr>
            <a:spLocks noGrp="1"/>
          </p:cNvSpPr>
          <p:nvPr>
            <p:ph type="subTitle"/>
          </p:nvPr>
        </p:nvSpPr>
        <p:spPr>
          <a:xfrm>
            <a:off x="457200" y="1920960"/>
            <a:ext cx="3872880" cy="812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 marL="91440" indent="0" defTabSz="91440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pt-BR" sz="1200" strike="noStrike" u="none">
                <a:solidFill>
                  <a:srgbClr val="211c21"/>
                </a:solidFill>
                <a:effectLst/>
                <a:uFillTx/>
                <a:latin typeface="Hanken Grotesk SemiBold"/>
                <a:ea typeface="Hanken Grotesk SemiBold"/>
              </a:rPr>
              <a:t>Resultados em CER dos métodos de aumento de dados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2" name="Google Shape;773;p 1"/>
          <p:cNvCxnSpPr/>
          <p:nvPr/>
        </p:nvCxnSpPr>
        <p:spPr>
          <a:xfrm>
            <a:off x="4452480" y="2011320"/>
            <a:ext cx="2880" cy="660960"/>
          </a:xfrm>
          <a:prstGeom prst="straightConnector1">
            <a:avLst/>
          </a:prstGeom>
          <a:ln w="38160">
            <a:solidFill>
              <a:srgbClr val="211c21"/>
            </a:solidFill>
            <a:round/>
          </a:ln>
        </p:spPr>
      </p:cxnSp>
      <p:sp>
        <p:nvSpPr>
          <p:cNvPr id="563" name="Google Shape;777;p 1"/>
          <p:cNvSpPr/>
          <p:nvPr/>
        </p:nvSpPr>
        <p:spPr>
          <a:xfrm>
            <a:off x="4096800" y="408204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7765e3"/>
                </a:solidFill>
                <a:effectLst/>
                <a:uFillTx/>
                <a:latin typeface="Inter"/>
                <a:ea typeface="Inter"/>
              </a:rPr>
              <a:t>FW2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Imagem 9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CaixaDeTexto 36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Retângulo 3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43E48D2A-6D2C-4986-866A-5121CF94D2C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DE8F2706-E025-47D5-BB03-727A024E59F3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7" name="" descr=""/>
          <p:cNvPicPr/>
          <p:nvPr/>
        </p:nvPicPr>
        <p:blipFill>
          <a:blip r:embed="rId2"/>
          <a:stretch/>
        </p:blipFill>
        <p:spPr>
          <a:xfrm>
            <a:off x="561600" y="2388600"/>
            <a:ext cx="3038400" cy="195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8" name="" descr=""/>
          <p:cNvPicPr/>
          <p:nvPr/>
        </p:nvPicPr>
        <p:blipFill>
          <a:blip r:embed="rId3"/>
          <a:stretch/>
        </p:blipFill>
        <p:spPr>
          <a:xfrm>
            <a:off x="5205600" y="2365200"/>
            <a:ext cx="3074400" cy="198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9" name="" descr=""/>
          <p:cNvPicPr/>
          <p:nvPr/>
        </p:nvPicPr>
        <p:blipFill>
          <a:blip r:embed="rId4"/>
          <a:stretch/>
        </p:blipFill>
        <p:spPr>
          <a:xfrm>
            <a:off x="586800" y="4345200"/>
            <a:ext cx="3024360" cy="194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0" name="" descr=""/>
          <p:cNvPicPr/>
          <p:nvPr/>
        </p:nvPicPr>
        <p:blipFill>
          <a:blip r:embed="rId5"/>
          <a:stretch/>
        </p:blipFill>
        <p:spPr>
          <a:xfrm>
            <a:off x="5187600" y="4265280"/>
            <a:ext cx="3092400" cy="199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CaixaDeTexto 6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Retângulo 7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8805D6F7-E8C9-4C60-BAF9-94F1CD5CC5C7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575F709D-F9DA-4674-8EF6-B49AC7039B01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itle 6"/>
          <p:cNvSpPr/>
          <p:nvPr/>
        </p:nvSpPr>
        <p:spPr>
          <a:xfrm>
            <a:off x="822960" y="286920"/>
            <a:ext cx="7543080" cy="14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85000"/>
              </a:lnSpc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Abordagem SimCLR</a:t>
            </a:r>
            <a:endParaRPr b="1" lang="pt-BR" sz="2500" strike="noStrike" u="none">
              <a:solidFill>
                <a:srgbClr val="000000"/>
              </a:solidFill>
              <a:effectLst/>
              <a:uFillTx/>
              <a:latin typeface="Hanken Grotesk"/>
            </a:endParaRPr>
          </a:p>
        </p:txBody>
      </p:sp>
      <p:pic>
        <p:nvPicPr>
          <p:cNvPr id="574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724040" y="1432440"/>
            <a:ext cx="6501600" cy="526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CaixaDeTexto 32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Retângulo 29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CF034810-33BC-4252-B56A-605035BEFA7E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AD4FF1F4-2403-4D03-8A88-4E667CE973E3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itle 7"/>
          <p:cNvSpPr/>
          <p:nvPr/>
        </p:nvSpPr>
        <p:spPr>
          <a:xfrm>
            <a:off x="822960" y="286920"/>
            <a:ext cx="7543080" cy="14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85000"/>
              </a:lnSpc>
            </a:pPr>
            <a:r>
              <a:rPr b="1" lang="en-US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Abordagem SwAV</a:t>
            </a:r>
            <a:endParaRPr b="1" lang="pt-BR" sz="2500" strike="noStrike" u="none">
              <a:solidFill>
                <a:srgbClr val="000000"/>
              </a:solidFill>
              <a:effectLst/>
              <a:uFillTx/>
              <a:latin typeface="Hanken Grotesk"/>
            </a:endParaRPr>
          </a:p>
        </p:txBody>
      </p:sp>
      <p:pic>
        <p:nvPicPr>
          <p:cNvPr id="578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749240" y="1440000"/>
            <a:ext cx="6446520" cy="522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Amostras das Transformações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580" name="CaixaDeTexto 25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Retângulo 26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2957DC28-F90D-49A3-AE02-4144596B3591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8CA162A2-B7CF-48BA-BD91-222B2B81F7C8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Imagem 2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3" name="" descr=""/>
          <p:cNvPicPr/>
          <p:nvPr/>
        </p:nvPicPr>
        <p:blipFill>
          <a:blip r:embed="rId2"/>
          <a:stretch/>
        </p:blipFill>
        <p:spPr>
          <a:xfrm>
            <a:off x="8640" y="2206800"/>
            <a:ext cx="9143280" cy="3047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Resultados – CL (WRA)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585" name="CaixaDeTexto 25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Retângulo 26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B6B6725A-650B-4AB3-B2AD-AE9116EBC0EE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6D566699-6DA5-4E9F-91A0-AE0C6B07BA49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Imagem 2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" descr=""/>
          <p:cNvPicPr/>
          <p:nvPr/>
        </p:nvPicPr>
        <p:blipFill>
          <a:blip r:embed="rId2"/>
          <a:stretch/>
        </p:blipFill>
        <p:spPr>
          <a:xfrm>
            <a:off x="5616000" y="2160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" descr=""/>
          <p:cNvPicPr/>
          <p:nvPr/>
        </p:nvPicPr>
        <p:blipFill>
          <a:blip r:embed="rId3"/>
          <a:stretch/>
        </p:blipFill>
        <p:spPr>
          <a:xfrm>
            <a:off x="5616000" y="4464000"/>
            <a:ext cx="30240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0" name="" descr=""/>
          <p:cNvPicPr/>
          <p:nvPr/>
        </p:nvPicPr>
        <p:blipFill>
          <a:blip r:embed="rId4"/>
          <a:stretch/>
        </p:blipFill>
        <p:spPr>
          <a:xfrm>
            <a:off x="579600" y="2160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1" name="" descr=""/>
          <p:cNvPicPr/>
          <p:nvPr/>
        </p:nvPicPr>
        <p:blipFill>
          <a:blip r:embed="rId5"/>
          <a:stretch/>
        </p:blipFill>
        <p:spPr>
          <a:xfrm>
            <a:off x="540000" y="4464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Google Shape;776;p 3"/>
          <p:cNvSpPr/>
          <p:nvPr/>
        </p:nvSpPr>
        <p:spPr>
          <a:xfrm>
            <a:off x="4313160" y="373464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ef233c"/>
                </a:solidFill>
                <a:effectLst/>
                <a:uFillTx/>
                <a:latin typeface="Inter"/>
                <a:ea typeface="Inter"/>
              </a:rPr>
              <a:t>FW1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Resultados – CL (WRA)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594" name="CaixaDeTexto 42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Retângulo 45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40806F30-1A62-4A55-B8D7-38DC0A3BFFE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186BCF8E-DB5C-49E0-993F-DA4CC092BE9B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Imagem 28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7" name="" descr=""/>
          <p:cNvPicPr/>
          <p:nvPr/>
        </p:nvPicPr>
        <p:blipFill>
          <a:blip r:embed="rId2"/>
          <a:stretch/>
        </p:blipFill>
        <p:spPr>
          <a:xfrm>
            <a:off x="5616000" y="4464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8" name="" descr=""/>
          <p:cNvPicPr/>
          <p:nvPr/>
        </p:nvPicPr>
        <p:blipFill>
          <a:blip r:embed="rId3"/>
          <a:stretch/>
        </p:blipFill>
        <p:spPr>
          <a:xfrm>
            <a:off x="579600" y="2160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9" name="" descr=""/>
          <p:cNvPicPr/>
          <p:nvPr/>
        </p:nvPicPr>
        <p:blipFill>
          <a:blip r:embed="rId4"/>
          <a:stretch/>
        </p:blipFill>
        <p:spPr>
          <a:xfrm>
            <a:off x="540000" y="4464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0" name="" descr=""/>
          <p:cNvPicPr/>
          <p:nvPr/>
        </p:nvPicPr>
        <p:blipFill>
          <a:blip r:embed="rId5"/>
          <a:stretch/>
        </p:blipFill>
        <p:spPr>
          <a:xfrm>
            <a:off x="5616000" y="2160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1" name="Google Shape;777;p 2"/>
          <p:cNvSpPr/>
          <p:nvPr/>
        </p:nvSpPr>
        <p:spPr>
          <a:xfrm>
            <a:off x="4312800" y="373320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7765e3"/>
                </a:solidFill>
                <a:effectLst/>
                <a:uFillTx/>
                <a:latin typeface="Inter"/>
                <a:ea typeface="Inter"/>
              </a:rPr>
              <a:t>FW2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Resultados – CL (CER)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03" name="CaixaDeTexto 43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Retângulo 46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EFA27519-AAA4-4167-9157-C1F988E4DC23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E187351E-98A1-434D-853D-A982807751A4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m 29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Google Shape;776;p 4"/>
          <p:cNvSpPr/>
          <p:nvPr/>
        </p:nvSpPr>
        <p:spPr>
          <a:xfrm>
            <a:off x="4313160" y="373464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ef233c"/>
                </a:solidFill>
                <a:effectLst/>
                <a:uFillTx/>
                <a:latin typeface="Inter"/>
                <a:ea typeface="Inter"/>
              </a:rPr>
              <a:t>FW1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" descr=""/>
          <p:cNvPicPr/>
          <p:nvPr/>
        </p:nvPicPr>
        <p:blipFill>
          <a:blip r:embed="rId2"/>
          <a:stretch/>
        </p:blipFill>
        <p:spPr>
          <a:xfrm>
            <a:off x="5616000" y="4464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" descr=""/>
          <p:cNvPicPr/>
          <p:nvPr/>
        </p:nvPicPr>
        <p:blipFill>
          <a:blip r:embed="rId3"/>
          <a:stretch/>
        </p:blipFill>
        <p:spPr>
          <a:xfrm>
            <a:off x="579600" y="2160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9" name="" descr=""/>
          <p:cNvPicPr/>
          <p:nvPr/>
        </p:nvPicPr>
        <p:blipFill>
          <a:blip r:embed="rId4"/>
          <a:stretch/>
        </p:blipFill>
        <p:spPr>
          <a:xfrm>
            <a:off x="540000" y="4464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0" name="" descr=""/>
          <p:cNvPicPr/>
          <p:nvPr/>
        </p:nvPicPr>
        <p:blipFill>
          <a:blip r:embed="rId5"/>
          <a:stretch/>
        </p:blipFill>
        <p:spPr>
          <a:xfrm>
            <a:off x="5616000" y="2160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Resultados – CL (CER)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12" name="CaixaDeTexto 44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Retângulo 47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F298D0F1-0E64-4C2E-849E-1B84E44CD30B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DDEC3601-9696-4B6A-8C28-3D2EAB1AD182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4" name="Imagem 30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5" name="Google Shape;777;p 3"/>
          <p:cNvSpPr/>
          <p:nvPr/>
        </p:nvSpPr>
        <p:spPr>
          <a:xfrm>
            <a:off x="4312800" y="373320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7765e3"/>
                </a:solidFill>
                <a:effectLst/>
                <a:uFillTx/>
                <a:latin typeface="Inter"/>
                <a:ea typeface="Inter"/>
              </a:rPr>
              <a:t>FW2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6" name="" descr=""/>
          <p:cNvPicPr/>
          <p:nvPr/>
        </p:nvPicPr>
        <p:blipFill>
          <a:blip r:embed="rId2"/>
          <a:stretch/>
        </p:blipFill>
        <p:spPr>
          <a:xfrm>
            <a:off x="5616000" y="2160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7" name="" descr=""/>
          <p:cNvPicPr/>
          <p:nvPr/>
        </p:nvPicPr>
        <p:blipFill>
          <a:blip r:embed="rId3"/>
          <a:stretch/>
        </p:blipFill>
        <p:spPr>
          <a:xfrm>
            <a:off x="5616000" y="4464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8" name="" descr=""/>
          <p:cNvPicPr/>
          <p:nvPr/>
        </p:nvPicPr>
        <p:blipFill>
          <a:blip r:embed="rId4"/>
          <a:stretch/>
        </p:blipFill>
        <p:spPr>
          <a:xfrm>
            <a:off x="579600" y="2160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9" name="" descr=""/>
          <p:cNvPicPr/>
          <p:nvPr/>
        </p:nvPicPr>
        <p:blipFill>
          <a:blip r:embed="rId5"/>
          <a:stretch/>
        </p:blipFill>
        <p:spPr>
          <a:xfrm>
            <a:off x="540000" y="4464000"/>
            <a:ext cx="3020400" cy="18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520" strike="noStrike" u="none">
                <a:solidFill>
                  <a:schemeClr val="dk1"/>
                </a:solidFill>
                <a:effectLst/>
                <a:uFillTx/>
                <a:latin typeface="Hanken Grotesk"/>
                <a:ea typeface="Hanken Grotesk"/>
              </a:rPr>
              <a:t>Considerações Finais</a:t>
            </a:r>
            <a:endParaRPr b="0" lang="en-US" sz="252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21" name="CaixaDeTexto 20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Retângulo 21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6B37FF84-B46D-46BF-9566-6C0AA506E8F1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A568D7D1-8162-43B3-B81E-4AA694B6DAE5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m 2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"/>
          <p:cNvSpPr txBox="1"/>
          <p:nvPr/>
        </p:nvSpPr>
        <p:spPr>
          <a:xfrm>
            <a:off x="892080" y="4977720"/>
            <a:ext cx="3247920" cy="344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2000" strike="noStrike" u="none">
                <a:solidFill>
                  <a:srgbClr val="ff0000"/>
                </a:solidFill>
                <a:effectLst/>
                <a:uFillTx/>
                <a:latin typeface="Calibri"/>
                <a:hlinkClick r:id="rId2"/>
              </a:rPr>
              <a:t>Retomando a H2 ...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2846520" y="5482080"/>
            <a:ext cx="3450960" cy="43020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pt-BR" sz="2400" strike="noStrike" u="none">
                <a:solidFill>
                  <a:srgbClr val="5eb91e"/>
                </a:solidFill>
                <a:effectLst/>
                <a:uFillTx/>
                <a:latin typeface="Arial"/>
              </a:rPr>
              <a:t>Hipótese confirmada!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936000" y="2376000"/>
            <a:ext cx="3648240" cy="188208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✅ Em relação ao </a:t>
            </a:r>
            <a:r>
              <a:rPr b="0" i="1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baseline: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📉 Erros (CER e WER)</a:t>
            </a: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pt-BR" sz="1800" strike="noStrike" u="none">
                <a:solidFill>
                  <a:srgbClr val="5eb91e"/>
                </a:solidFill>
                <a:effectLst/>
                <a:uFillTx/>
                <a:latin typeface="Arial"/>
              </a:rPr>
              <a:t>⬇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800" strike="noStrike" u="none">
                <a:solidFill>
                  <a:srgbClr val="81d41a"/>
                </a:solidFill>
                <a:effectLst/>
                <a:uFillTx/>
                <a:latin typeface="Arial"/>
              </a:rPr>
              <a:t>📈 </a:t>
            </a: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Acurácia por palavra (WRA) </a:t>
            </a:r>
            <a:r>
              <a:rPr b="0" lang="pt-BR" sz="1800" strike="noStrike" u="none">
                <a:solidFill>
                  <a:srgbClr val="5eb91e"/>
                </a:solidFill>
                <a:effectLst/>
                <a:uFillTx/>
                <a:latin typeface="Arial"/>
              </a:rPr>
              <a:t>⬆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"/>
          <p:cNvSpPr txBox="1"/>
          <p:nvPr/>
        </p:nvSpPr>
        <p:spPr>
          <a:xfrm rot="19875600">
            <a:off x="1872000" y="5438160"/>
            <a:ext cx="1017360" cy="77148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pt-BR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✅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" dur="indefinite" restart="never" nodeType="tmRoot">
          <p:childTnLst>
            <p:seq>
              <p:cTn id="8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"/>
                            </p:stCondLst>
                            <p:childTnLst>
                              <p:par>
                                <p:cTn id="14" nodeType="afterEffect" fill="hold" presetClass="entr" presetID="5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6" dur="500" fill="hold"/>
                                        <p:tgtEl>
                                          <p:spTgt spid="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2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7" dur="500" fill="hold"/>
                                        <p:tgtEl>
                                          <p:spTgt spid="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8" dur="500" fill="hold"/>
                                        <p:tgtEl>
                                          <p:spTgt spid="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9" dur="500" fill="hold"/>
                                        <p:tgtEl>
                                          <p:spTgt spid="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filter="fade" transition="in">
                                      <p:cBhvr additive="repl">
                                        <p:cTn id="20" dur="500"/>
                                        <p:tgtEl>
                                          <p:spTgt spid="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Supervisionado x CL (WRA)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29" name="CaixaDeTexto 45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Retângulo 48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72F9C41C-7828-46DF-AC6D-FB8D4197F36B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C10AF76D-F09F-43F8-9271-4E4385472137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1" name="Imagem 31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2" name="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860000" y="2520000"/>
            <a:ext cx="4201200" cy="36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3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68000" y="2520000"/>
            <a:ext cx="4201200" cy="36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Google Shape;776;p 5"/>
          <p:cNvSpPr/>
          <p:nvPr/>
        </p:nvSpPr>
        <p:spPr>
          <a:xfrm>
            <a:off x="2340000" y="208800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ef233c"/>
                </a:solidFill>
                <a:effectLst/>
                <a:uFillTx/>
                <a:latin typeface="Inter"/>
                <a:ea typeface="Inter"/>
              </a:rPr>
              <a:t>FW1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Google Shape;777;p 4"/>
          <p:cNvSpPr/>
          <p:nvPr/>
        </p:nvSpPr>
        <p:spPr>
          <a:xfrm>
            <a:off x="6473160" y="208800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7765e3"/>
                </a:solidFill>
                <a:effectLst/>
                <a:uFillTx/>
                <a:latin typeface="Inter"/>
                <a:ea typeface="Inter"/>
              </a:rPr>
              <a:t>FW2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Supervisionado x CL (CER)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37" name="CaixaDeTexto 46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Retângulo 49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E291BD5D-56F9-4A27-BE91-3C47248ACDED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25E7BC99-F476-410B-84BD-973BC7A7A165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9" name="Imagem 32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Google Shape;776;p 6"/>
          <p:cNvSpPr/>
          <p:nvPr/>
        </p:nvSpPr>
        <p:spPr>
          <a:xfrm>
            <a:off x="2340000" y="208800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ef233c"/>
                </a:solidFill>
                <a:effectLst/>
                <a:uFillTx/>
                <a:latin typeface="Inter"/>
                <a:ea typeface="Inter"/>
              </a:rPr>
              <a:t>FW1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Google Shape;777;p 5"/>
          <p:cNvSpPr/>
          <p:nvPr/>
        </p:nvSpPr>
        <p:spPr>
          <a:xfrm>
            <a:off x="6473160" y="2088000"/>
            <a:ext cx="726840" cy="45756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pt-BR" sz="1800" strike="noStrike" u="none">
                <a:solidFill>
                  <a:srgbClr val="7765e3"/>
                </a:solidFill>
                <a:effectLst/>
                <a:uFillTx/>
                <a:latin typeface="Inter"/>
                <a:ea typeface="Inter"/>
              </a:rPr>
              <a:t>FW2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2" name="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68000" y="2520000"/>
            <a:ext cx="4201200" cy="360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3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860000" y="2520000"/>
            <a:ext cx="4197600" cy="36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Conclusão...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45" name="CaixaDeTexto 1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Retângulo 1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C5382330-5FC2-4119-A8CF-92DFE88CC1AE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E5DFC6FB-9A73-488E-8118-DFA5BF93F9B8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7" name="Imagem 1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8" name=""/>
          <p:cNvSpPr txBox="1"/>
          <p:nvPr/>
        </p:nvSpPr>
        <p:spPr>
          <a:xfrm>
            <a:off x="853920" y="2165040"/>
            <a:ext cx="7801560" cy="378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Validação das Hipóteses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pt-BR" sz="1400" strike="noStrike" u="none">
                <a:solidFill>
                  <a:srgbClr val="ff0000"/>
                </a:solidFill>
                <a:effectLst/>
                <a:uFillTx/>
                <a:latin typeface="Arial"/>
              </a:rPr>
              <a:t>H1: Aumento de dados (ruído, dilatação, oclusão e combinações) promove representações mais robustas.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1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✅ Confirmada: reduziu CER/WER, com destaque para a arquitetura FW2 e os métodos APP e AP em falas severas.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pt-BR" sz="1400" strike="noStrike" u="none">
                <a:solidFill>
                  <a:srgbClr val="ff0000"/>
                </a:solidFill>
                <a:effectLst/>
                <a:uFillTx/>
                <a:latin typeface="Arial"/>
              </a:rPr>
              <a:t>H2: Usar os aumentos para formar pares positivos no </a:t>
            </a:r>
            <a:r>
              <a:rPr b="0" i="1" lang="pt-BR" sz="1400" strike="noStrike" u="none">
                <a:solidFill>
                  <a:srgbClr val="ff0000"/>
                </a:solidFill>
                <a:effectLst/>
                <a:uFillTx/>
                <a:latin typeface="Arial"/>
              </a:rPr>
              <a:t>upstream</a:t>
            </a:r>
            <a:r>
              <a:rPr b="0" lang="pt-BR" sz="1400" strike="noStrike" u="none">
                <a:solidFill>
                  <a:srgbClr val="ff0000"/>
                </a:solidFill>
                <a:effectLst/>
                <a:uFillTx/>
                <a:latin typeface="Arial"/>
              </a:rPr>
              <a:t> contrastivo (SimCLR/SwAV) melhora o reconhecimento.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1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✅ Confirmada: CL gerou </a:t>
            </a:r>
            <a:r>
              <a:rPr b="1" i="1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embeddings</a:t>
            </a:r>
            <a:r>
              <a:rPr b="1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mais discriminativos e ganhos consistentes.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"/>
          <p:cNvSpPr txBox="1"/>
          <p:nvPr/>
        </p:nvSpPr>
        <p:spPr>
          <a:xfrm>
            <a:off x="541440" y="3700080"/>
            <a:ext cx="860400" cy="657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pt-BR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🕸️</a:t>
            </a: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Conclusão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51" name="CaixaDeTexto 47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Retângulo 50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52FBACC5-A50B-4924-B8B4-F5D0E2D9E385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4E20BCDF-498A-4387-BA11-51E6F6F1C2A6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3" name="Imagem 33" descr=""/>
          <p:cNvPicPr/>
          <p:nvPr/>
        </p:nvPicPr>
        <p:blipFill>
          <a:blip r:embed="rId1"/>
          <a:stretch/>
        </p:blipFill>
        <p:spPr>
          <a:xfrm>
            <a:off x="7272000" y="1162440"/>
            <a:ext cx="1473480" cy="10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4" name=""/>
          <p:cNvSpPr txBox="1"/>
          <p:nvPr/>
        </p:nvSpPr>
        <p:spPr>
          <a:xfrm>
            <a:off x="1317600" y="2128680"/>
            <a:ext cx="7239600" cy="3800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Aprendizado Supervisionado vs. Contrastivo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spcBef>
                <a:spcPts val="1191"/>
              </a:spcBef>
              <a:spcAft>
                <a:spcPts val="992"/>
              </a:spcAf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 modelo Supervisionado mostrou bons resultados com aumentos, mas limitado à base disponível.👍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spcBef>
                <a:spcPts val="1191"/>
              </a:spcBef>
              <a:spcAft>
                <a:spcPts val="992"/>
              </a:spcAft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spcBef>
                <a:spcPts val="1191"/>
              </a:spcBef>
              <a:spcAft>
                <a:spcPts val="992"/>
              </a:spcAf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 modelo contrastivo (</a:t>
            </a:r>
            <a:r>
              <a:rPr b="1" lang="pt-BR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CL</a:t>
            </a: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) ampliou a generalização mesmo sem rótulos - </a:t>
            </a: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apesar da performance menor em relação ao modelo Supervisionado em FW2 - mostrando grande potencial, com margem para melhorias. 👍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spcBef>
                <a:spcPts val="1191"/>
              </a:spcBef>
              <a:spcAft>
                <a:spcPts val="992"/>
              </a:spcAft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spcBef>
                <a:spcPts val="1191"/>
              </a:spcBef>
              <a:spcAft>
                <a:spcPts val="992"/>
              </a:spcAf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Infraestrutura, rotina de treinamento e hiperparâmetros (</a:t>
            </a:r>
            <a:r>
              <a:rPr b="0" i="1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batch size</a:t>
            </a: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) similares à literatura inaugural dos métodos CL, tendem a melhorar os resultados.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571680" y="5028120"/>
            <a:ext cx="877320" cy="6573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pt-BR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🛠</a:t>
            </a: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788040" y="3912120"/>
            <a:ext cx="740160" cy="715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☯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72400" y="2508120"/>
            <a:ext cx="1001160" cy="6573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pt-BR" sz="4000" strike="noStrike" u="none">
                <a:solidFill>
                  <a:srgbClr val="000000"/>
                </a:solidFill>
                <a:effectLst/>
                <a:uFillTx/>
                <a:latin typeface="Segoe UI Emoji"/>
              </a:rPr>
              <a:t>🕸️</a:t>
            </a:r>
            <a:r>
              <a:rPr b="0" lang="pt-BR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"/>
          <p:cNvSpPr txBox="1"/>
          <p:nvPr/>
        </p:nvSpPr>
        <p:spPr>
          <a:xfrm rot="19996200">
            <a:off x="6202440" y="5302800"/>
            <a:ext cx="4255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pt-BR" sz="1400" strike="noStrike" u="none">
                <a:solidFill>
                  <a:srgbClr val="5eb91e"/>
                </a:solidFill>
                <a:effectLst/>
                <a:uFillTx/>
                <a:latin typeface="Segoe UI Emoji"/>
              </a:rPr>
              <a:t>⚠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Agradecimentos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/>
          </p:nvPr>
        </p:nvSpPr>
        <p:spPr>
          <a:xfrm>
            <a:off x="822960" y="1845720"/>
            <a:ext cx="7543080" cy="40226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124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4120" indent="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None/>
              <a:tabLst>
                <a:tab algn="l" pos="0"/>
              </a:tabLst>
            </a:pPr>
            <a:r>
              <a:rPr b="0" lang="pt-BR" sz="2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1" name="" descr=""/>
          <p:cNvPicPr/>
          <p:nvPr/>
        </p:nvPicPr>
        <p:blipFill>
          <a:blip r:embed="rId1"/>
          <a:stretch/>
        </p:blipFill>
        <p:spPr>
          <a:xfrm>
            <a:off x="5868000" y="1800000"/>
            <a:ext cx="2634840" cy="198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2" name="" descr=""/>
          <p:cNvPicPr/>
          <p:nvPr/>
        </p:nvPicPr>
        <p:blipFill>
          <a:blip r:embed="rId2"/>
          <a:stretch/>
        </p:blipFill>
        <p:spPr>
          <a:xfrm>
            <a:off x="2932200" y="2779560"/>
            <a:ext cx="2755800" cy="200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"/>
          <p:cNvSpPr txBox="1"/>
          <p:nvPr/>
        </p:nvSpPr>
        <p:spPr>
          <a:xfrm>
            <a:off x="996480" y="4783680"/>
            <a:ext cx="3188880" cy="11131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 anchorCtr="1">
            <a:spAutoFit/>
          </a:bodyPr>
          <a:p>
            <a:pPr algn="ctr"/>
            <a:r>
              <a:rPr b="0" lang="pt-BR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Orientador:</a:t>
            </a: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b="0" lang="pt-B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Jurandy Almeida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5736600" y="4495680"/>
            <a:ext cx="2436840" cy="17913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 anchorCtr="1">
            <a:spAutoFit/>
          </a:bodyPr>
          <a:p>
            <a:pPr algn="ctr"/>
            <a:r>
              <a:rPr b="0" lang="pt-BR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Membros </a:t>
            </a: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b="0" lang="pt-BR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da</a:t>
            </a: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b="0" lang="pt-BR" sz="4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Banca</a:t>
            </a:r>
            <a:endParaRPr b="0" lang="pt-B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5" name="" descr=""/>
          <p:cNvPicPr/>
          <p:nvPr/>
        </p:nvPicPr>
        <p:blipFill>
          <a:blip r:embed="rId3"/>
          <a:stretch/>
        </p:blipFill>
        <p:spPr>
          <a:xfrm>
            <a:off x="834120" y="1845720"/>
            <a:ext cx="3682800" cy="81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Repositório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pic>
        <p:nvPicPr>
          <p:cNvPr id="667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300480" y="2682000"/>
            <a:ext cx="2044080" cy="204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8" name=""/>
          <p:cNvSpPr txBox="1"/>
          <p:nvPr/>
        </p:nvSpPr>
        <p:spPr>
          <a:xfrm>
            <a:off x="3203280" y="2311560"/>
            <a:ext cx="22388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Amostras e Códigos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1776600" y="4839480"/>
            <a:ext cx="5591160" cy="431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i="1" lang="pt-BR" sz="1800" strike="noStrike" u="none">
                <a:solidFill>
                  <a:srgbClr val="000000"/>
                </a:solidFill>
                <a:effectLst/>
                <a:uFillTx/>
                <a:latin typeface="Arial"/>
                <a:hlinkClick r:id="rId3"/>
              </a:rPr>
              <a:t>https://ragracelli.github.io/CONTRASTIVE_DASR/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Referências I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71" name="CaixaDeTexto 20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Retângulo 21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125A115C-B8C2-46D0-B19C-DF241036A176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91DF125C-37FB-4E6B-A8AC-B85E6C50954C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aixaDeTexto 22"/>
          <p:cNvSpPr/>
          <p:nvPr/>
        </p:nvSpPr>
        <p:spPr>
          <a:xfrm>
            <a:off x="414720" y="1803240"/>
            <a:ext cx="7951320" cy="460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646920" indent="-228600" algn="just" defTabSz="457200">
              <a:lnSpc>
                <a:spcPct val="105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ABAYOMI-ALLI,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O.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O.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et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al.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Data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augmentation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and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deep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learning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methods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sound classification: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 systematic review.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Electronics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 v. 11, p. 3795, 2022.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5000"/>
              </a:lnSpc>
              <a:spcBef>
                <a:spcPts val="1054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ALLEN,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J.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B.; RABINER,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L.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R.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Short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term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spectral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analysis, synthesis, and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modification by</a:t>
            </a:r>
            <a:r>
              <a:rPr b="0" lang="en-US" sz="900" spc="12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discrete</a:t>
            </a:r>
            <a:r>
              <a:rPr b="0" lang="en-US" sz="900" spc="12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fourier</a:t>
            </a:r>
            <a:r>
              <a:rPr b="0" lang="en-US" sz="900" spc="12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transform.</a:t>
            </a:r>
            <a:r>
              <a:rPr b="0" lang="en-US" sz="900" spc="12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IEEE</a:t>
            </a:r>
            <a:r>
              <a:rPr b="1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Transactions</a:t>
            </a:r>
            <a:r>
              <a:rPr b="1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on</a:t>
            </a:r>
            <a:r>
              <a:rPr b="1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Acoustics,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Speech,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and Signal Processing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</a:t>
            </a:r>
            <a:r>
              <a:rPr b="0" lang="en-US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IEEE,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v.</a:t>
            </a:r>
            <a:r>
              <a:rPr b="0" lang="en-US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25,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n.</a:t>
            </a:r>
            <a:r>
              <a:rPr b="0" lang="en-US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3,</a:t>
            </a:r>
            <a:r>
              <a:rPr b="0" lang="en-US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p.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235–238,</a:t>
            </a:r>
            <a:r>
              <a:rPr b="0" lang="en-US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1977.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5000"/>
              </a:lnSpc>
              <a:spcBef>
                <a:spcPts val="1040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ALMADHOR, A. et al. E2e-dasr: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End-to-end deep learning-based dysarthric automatic speech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recognition.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Expert Systems with Applications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 Pergamon, v.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222, p.</a:t>
            </a:r>
            <a:r>
              <a:rPr b="0" lang="en-US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119797, 7 2023. ISSN 0957-4174.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5000"/>
              </a:lnSpc>
              <a:spcBef>
                <a:spcPts val="1049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BAEVSKI,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et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wav2vec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2.0:</a:t>
            </a:r>
            <a:r>
              <a:rPr b="0" lang="en-US" sz="900" spc="39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framework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for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self-supervised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learning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speech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representations.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Advances</a:t>
            </a:r>
            <a:r>
              <a:rPr b="1" lang="en-US" sz="900" spc="4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</a:t>
            </a:r>
            <a:r>
              <a:rPr b="1" lang="en-US" sz="900" spc="4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Neural</a:t>
            </a:r>
            <a:r>
              <a:rPr b="1" lang="en-US" sz="900" spc="4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Information</a:t>
            </a:r>
            <a:r>
              <a:rPr b="1" lang="en-US" sz="900" spc="4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Processing</a:t>
            </a:r>
            <a:r>
              <a:rPr b="1" lang="en-US" sz="900" spc="4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Systems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 v. 33, p.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12449–12460, 2020.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5000"/>
              </a:lnSpc>
              <a:spcBef>
                <a:spcPts val="1046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BAHDANAU, D.; CHO, K.; BENGIO, Y. Neural machine translation by jointly learning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to</a:t>
            </a:r>
            <a:r>
              <a:rPr b="0" lang="en-US" sz="900" spc="-65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align</a:t>
            </a:r>
            <a:r>
              <a:rPr b="0" lang="en-US" sz="900" spc="-65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and</a:t>
            </a:r>
            <a:r>
              <a:rPr b="0" lang="en-US" sz="900" spc="-65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translate.</a:t>
            </a:r>
            <a:r>
              <a:rPr b="0" lang="en-US" sz="900" spc="-65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In: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International</a:t>
            </a:r>
            <a:r>
              <a:rPr b="1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Conference</a:t>
            </a:r>
            <a:r>
              <a:rPr b="1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on</a:t>
            </a:r>
            <a:r>
              <a:rPr b="1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Learning</a:t>
            </a:r>
            <a:r>
              <a:rPr b="1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Representations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(ICLR’15)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 [S.l.: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s.n.], 2015.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5000"/>
              </a:lnSpc>
              <a:spcBef>
                <a:spcPts val="1046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CADET,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X.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F.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et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al.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study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on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the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impact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self-supervised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learning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on</a:t>
            </a:r>
            <a:r>
              <a:rPr b="0" lang="en-US" sz="900" spc="17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automatic dysarthric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speech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assessment.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Journal</a:t>
            </a:r>
            <a:r>
              <a:rPr b="1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Name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Publisher,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Volume,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n.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Number,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p.</a:t>
            </a:r>
            <a:r>
              <a:rPr b="0" lang="en-US" sz="900" spc="-7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Pages, </a:t>
            </a:r>
            <a:r>
              <a:rPr b="0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2024.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5000"/>
              </a:lnSpc>
              <a:spcBef>
                <a:spcPts val="1046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CHEN, T. et al. A simple framework for contrastive learning of visual representations.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arXiv</a:t>
            </a:r>
            <a:r>
              <a:rPr b="1" lang="en-US" sz="900" spc="9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preprint</a:t>
            </a:r>
            <a:r>
              <a:rPr b="1" lang="en-US" sz="900" spc="9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arXiv:2002.05709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 2020. </a:t>
            </a:r>
            <a:r>
              <a:rPr b="0" lang="pt-PT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Disponível em: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pc="-11" strike="noStrike" u="sng">
                <a:solidFill>
                  <a:srgbClr val="2998e3"/>
                </a:solidFill>
                <a:effectLst/>
                <a:uFillTx/>
                <a:latin typeface="Times New Roman"/>
                <a:ea typeface="Times New Roman"/>
                <a:hlinkClick r:id="rId1"/>
              </a:rPr>
              <a:t>&lt;https://arxiv.org/abs/</a:t>
            </a:r>
            <a:r>
              <a:rPr b="0" lang="pt-PT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pc="-11" strike="noStrike" u="sng">
                <a:solidFill>
                  <a:srgbClr val="2998e3"/>
                </a:solidFill>
                <a:effectLst/>
                <a:uFillTx/>
                <a:latin typeface="Times New Roman"/>
                <a:ea typeface="Times New Roman"/>
                <a:hlinkClick r:id="rId2"/>
              </a:rPr>
              <a:t>2002.05709&gt;</a:t>
            </a:r>
            <a:r>
              <a:rPr b="0" lang="pt-PT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3000"/>
              </a:lnSpc>
              <a:spcBef>
                <a:spcPts val="1049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CHOROWSKI, J. K. et al.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Attention-based models for speech recognition. In: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Advances</a:t>
            </a:r>
            <a:r>
              <a:rPr b="1" lang="en-US" sz="900" spc="39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</a:t>
            </a:r>
            <a:r>
              <a:rPr b="1" lang="en-US" sz="900" spc="4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Neural</a:t>
            </a:r>
            <a:r>
              <a:rPr b="1" lang="en-US" sz="900" spc="4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Information</a:t>
            </a:r>
            <a:r>
              <a:rPr b="1" lang="en-US" sz="900" spc="4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Processing</a:t>
            </a:r>
            <a:r>
              <a:rPr b="1" lang="en-US" sz="900" spc="4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Systems</a:t>
            </a:r>
            <a:r>
              <a:rPr b="1" lang="en-US" sz="900" spc="4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(NeurIPS’15)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 [S.l.:</a:t>
            </a:r>
            <a:r>
              <a:rPr b="0" lang="en-US" sz="900" spc="13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s.n.], 2015. p.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0000"/>
              </a:lnSpc>
              <a:spcBef>
                <a:spcPts val="11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pt-PT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577–585.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5000"/>
              </a:lnSpc>
              <a:spcBef>
                <a:spcPts val="1131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COSTA,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F.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P.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d.;</a:t>
            </a:r>
            <a:r>
              <a:rPr b="0" lang="pt-PT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DIAFéRIA,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G.;</a:t>
            </a:r>
            <a:r>
              <a:rPr b="0" lang="pt-PT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BEHLAU,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M.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Aspectos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comunicativos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</a:t>
            </a:r>
            <a:r>
              <a:rPr b="0" lang="pt-PT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enfrentamento da disfonia em pacientes com doença de parkinson.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CoDAS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 v. 28, n. 1, p. 46–52, 2016.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6920" indent="-228600" algn="just" defTabSz="457200">
              <a:lnSpc>
                <a:spcPct val="105000"/>
              </a:lnSpc>
              <a:spcBef>
                <a:spcPts val="1049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DARLEY,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F.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L.;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ARONSON,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A.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E.;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BROWN,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J.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R.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Differential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diagnostic</a:t>
            </a:r>
            <a:r>
              <a:rPr b="0" lang="en-US" sz="900" spc="18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patterns of</a:t>
            </a:r>
            <a:r>
              <a:rPr b="0" lang="en-US" sz="900" spc="13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dysarthria.</a:t>
            </a:r>
            <a:r>
              <a:rPr b="0" lang="en-US" sz="900" spc="13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Journal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speech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and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hearing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research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</a:t>
            </a:r>
            <a:r>
              <a:rPr b="0" lang="en-US" sz="900" spc="16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American</a:t>
            </a:r>
            <a:r>
              <a:rPr b="0" lang="en-US" sz="900" spc="13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Speech-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Language-Hearing Association, v. 12, p. 246–269, 1969. </a:t>
            </a:r>
            <a:r>
              <a:rPr b="0" lang="pt-PT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ISSN 00224685. Disponível em:</a:t>
            </a: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pc="-11" strike="noStrike" u="sng">
                <a:solidFill>
                  <a:srgbClr val="2998e3"/>
                </a:solidFill>
                <a:effectLst/>
                <a:uFillTx/>
                <a:latin typeface="Times New Roman"/>
                <a:ea typeface="Times New Roman"/>
                <a:hlinkClick r:id="rId3"/>
              </a:rPr>
              <a:t>&lt;https://pubs.asha.org/doi/epdf/10.1044/jshr.1202.246&gt;</a:t>
            </a:r>
            <a:r>
              <a:rPr b="0" lang="pt-PT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Referências II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75" name="CaixaDeTexto 20"/>
          <p:cNvSpPr/>
          <p:nvPr/>
        </p:nvSpPr>
        <p:spPr>
          <a:xfrm>
            <a:off x="651240" y="6422400"/>
            <a:ext cx="503712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Aprendizagem Autossupervisionada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Retângulo 21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6D04CC80-5A2F-4600-AAB5-9E69D0CCE40E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A3F83468-F7BA-4F16-964B-F87623BB9DDB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CaixaDeTexto 22"/>
          <p:cNvSpPr/>
          <p:nvPr/>
        </p:nvSpPr>
        <p:spPr>
          <a:xfrm>
            <a:off x="770400" y="1803240"/>
            <a:ext cx="7595640" cy="37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92680" indent="-228600" defTabSz="457200">
              <a:lnSpc>
                <a:spcPct val="105000"/>
              </a:lnSpc>
              <a:buClr>
                <a:srgbClr val="000000"/>
              </a:buClr>
              <a:buFont typeface="OpenSymbol"/>
              <a:buAutoNum type="arabicPeriod" startAt="12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DAVIS,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B.;</a:t>
            </a:r>
            <a:r>
              <a:rPr b="0" lang="en-US" sz="900" spc="39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MERMELSTEIN,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Comparison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parametric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representations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for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monosyllabic word recognition in continuously spoken sentences.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IEEE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Transactions on Acoustics, Speech, and Signal Processing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IEEE,</a:t>
            </a:r>
            <a:r>
              <a:rPr b="0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v.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28,</a:t>
            </a:r>
            <a:r>
              <a:rPr b="0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n.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4,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p.</a:t>
            </a:r>
            <a:r>
              <a:rPr b="0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357–366,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1980.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2680" indent="-228600" defTabSz="457200">
              <a:lnSpc>
                <a:spcPct val="105000"/>
              </a:lnSpc>
              <a:spcBef>
                <a:spcPts val="1066"/>
              </a:spcBef>
              <a:buClr>
                <a:srgbClr val="000000"/>
              </a:buClr>
              <a:buFont typeface="OpenSymbol"/>
              <a:buAutoNum type="arabicPeriod" startAt="12"/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DEVLIN,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J.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et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Bert:</a:t>
            </a:r>
            <a:r>
              <a:rPr b="0" lang="en-US" sz="900" spc="39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Pre-training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deep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bidirectional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transformers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for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language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understanding.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Proceedings</a:t>
            </a:r>
            <a:r>
              <a:rPr b="1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1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the</a:t>
            </a:r>
            <a:r>
              <a:rPr b="1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2019</a:t>
            </a:r>
            <a:r>
              <a:rPr b="1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Conference</a:t>
            </a:r>
            <a:r>
              <a:rPr b="1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1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the</a:t>
            </a:r>
            <a:r>
              <a:rPr b="1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North</a:t>
            </a:r>
            <a:r>
              <a:rPr b="1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American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Chapter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the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Association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for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Computational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Linguistics:</a:t>
            </a:r>
            <a:r>
              <a:rPr b="1" lang="en-US" sz="900" spc="13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Human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3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Language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Technologies,</a:t>
            </a:r>
            <a:r>
              <a:rPr b="1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Volume</a:t>
            </a:r>
            <a:r>
              <a:rPr b="1" lang="en-US" sz="900" spc="-1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1</a:t>
            </a:r>
            <a:r>
              <a:rPr b="1" lang="en-US" sz="900" spc="-1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(Long</a:t>
            </a:r>
            <a:r>
              <a:rPr b="1" lang="en-US" sz="900" spc="-1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and</a:t>
            </a:r>
            <a:r>
              <a:rPr b="1" lang="en-US" sz="900" spc="-1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Short</a:t>
            </a:r>
            <a:r>
              <a:rPr b="1" lang="en-US" sz="900" spc="-1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Papers)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</a:t>
            </a:r>
            <a:r>
              <a:rPr b="0" lang="en-US" sz="900" spc="-5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Association</a:t>
            </a:r>
            <a:r>
              <a:rPr b="0" lang="en-US" sz="900" spc="-5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for</a:t>
            </a:r>
            <a:r>
              <a:rPr b="0" lang="en-US" sz="900" spc="-5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Computational Linguistics, p. 4171–4186, 2019.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2680" indent="-228600" defTabSz="457200">
              <a:lnSpc>
                <a:spcPct val="105000"/>
              </a:lnSpc>
              <a:spcBef>
                <a:spcPts val="1069"/>
              </a:spcBef>
              <a:buClr>
                <a:srgbClr val="000000"/>
              </a:buClr>
              <a:buFont typeface="OpenSymbol"/>
              <a:buAutoNum type="arabicPeriod" startAt="12"/>
              <a:tabLst>
                <a:tab algn="l" pos="460440"/>
              </a:tabLst>
            </a:pPr>
            <a:r>
              <a:rPr b="0" lang="en-US" sz="9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Bert:</a:t>
            </a:r>
            <a:r>
              <a:rPr b="0" lang="en-US" sz="900" spc="39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Pre-training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deep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bidirectional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transformers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for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language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understanding. In:</a:t>
            </a:r>
            <a:r>
              <a:rPr b="0" lang="en-US" sz="900" spc="9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Proceedings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the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2019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Conference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the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North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American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Chapter</a:t>
            </a:r>
            <a:r>
              <a:rPr b="1" lang="en-US" sz="900" spc="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 the</a:t>
            </a:r>
            <a:r>
              <a:rPr b="1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Association</a:t>
            </a:r>
            <a:r>
              <a:rPr b="1" lang="en-US" sz="900" spc="-1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for</a:t>
            </a:r>
            <a:r>
              <a:rPr b="1" lang="en-US" sz="900" spc="-1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Computational</a:t>
            </a:r>
            <a:r>
              <a:rPr b="1" lang="en-US" sz="900" spc="-1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Linguistics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r>
              <a:rPr b="0" lang="en-US" sz="900" spc="-5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[S.l.:</a:t>
            </a:r>
            <a:r>
              <a:rPr b="0" lang="en-US" sz="900" spc="3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s.n.],</a:t>
            </a:r>
            <a:r>
              <a:rPr b="0" lang="en-US" sz="900" spc="-5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2019.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2680" indent="-228600" defTabSz="457200">
              <a:lnSpc>
                <a:spcPct val="105000"/>
              </a:lnSpc>
              <a:spcBef>
                <a:spcPts val="1066"/>
              </a:spcBef>
              <a:buClr>
                <a:srgbClr val="000000"/>
              </a:buClr>
              <a:buFont typeface="OpenSymbol"/>
              <a:buAutoNum type="arabicPeriod" startAt="12"/>
              <a:tabLst>
                <a:tab algn="l" pos="460440"/>
              </a:tabLst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DOSOVITSKIY, A. et al. An image is worth 16x16 words: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Transformers for image </a:t>
            </a:r>
            <a:r>
              <a:rPr b="0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recognition at scale. In:</a:t>
            </a:r>
            <a:r>
              <a:rPr b="0" lang="en-US" sz="900" spc="12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International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Conference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on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Learning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2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Representations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(ICLR’21)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 [S.l.: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s.n.], 2021.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2680" indent="-228600" defTabSz="457200">
              <a:lnSpc>
                <a:spcPct val="105000"/>
              </a:lnSpc>
              <a:spcBef>
                <a:spcPts val="1060"/>
              </a:spcBef>
              <a:buClr>
                <a:srgbClr val="000000"/>
              </a:buClr>
              <a:buFont typeface="OpenSymbol"/>
              <a:buAutoNum type="arabicPeriod" startAt="12"/>
              <a:tabLst>
                <a:tab algn="l" pos="460440"/>
              </a:tabLst>
            </a:pP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FRACASSI,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A.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S.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et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al.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Adjustment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to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the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portuguese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and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application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to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patients with parkinson’s disease of protocol within central origin dysarthrias’ assessment.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Rev. CEFAC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 v. 13, n. 16, p. 1056–1065, 2011.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2680" indent="-228600" algn="just" defTabSz="457200">
              <a:lnSpc>
                <a:spcPct val="105000"/>
              </a:lnSpc>
              <a:spcBef>
                <a:spcPts val="1066"/>
              </a:spcBef>
              <a:buClr>
                <a:srgbClr val="000000"/>
              </a:buClr>
              <a:buFont typeface="OpenSymbol"/>
              <a:buAutoNum type="arabicPeriod" startAt="12"/>
              <a:tabLst>
                <a:tab algn="l" pos="460440"/>
              </a:tabLst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FU, J.; ZHENG, H.; MEI, T. Look closer to see better: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Recurrent attention convolutional neural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network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for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fine-grained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image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recognition.</a:t>
            </a:r>
            <a:r>
              <a:rPr b="0" lang="en-US" sz="900" spc="-3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In:</a:t>
            </a:r>
            <a:r>
              <a:rPr b="0" lang="en-US" sz="900" spc="11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IEEE Conference on Computer Vision and Pattern Recognition (CVPR’17)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[S.l.:</a:t>
            </a:r>
            <a:r>
              <a:rPr b="0" lang="pt-PT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s.n.], 2017. p. 4438–4446.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2680" indent="-228600" algn="just" defTabSz="457200">
              <a:lnSpc>
                <a:spcPct val="105000"/>
              </a:lnSpc>
              <a:spcBef>
                <a:spcPts val="1066"/>
              </a:spcBef>
              <a:buClr>
                <a:srgbClr val="000000"/>
              </a:buClr>
              <a:buFont typeface="OpenSymbol"/>
              <a:buAutoNum type="arabicPeriod" startAt="12"/>
              <a:tabLst>
                <a:tab algn="l" pos="460440"/>
              </a:tabLst>
            </a:pP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GASPARINI, G.; DIAFéRIA, G.; BEHLAU, M. Queixa vocal e análise perceptivo- auditiva</a:t>
            </a:r>
            <a:r>
              <a:rPr b="0" lang="pt-PT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de</a:t>
            </a:r>
            <a:r>
              <a:rPr b="0" lang="pt-PT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pacientes</a:t>
            </a:r>
            <a:r>
              <a:rPr b="0" lang="pt-PT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com</a:t>
            </a:r>
            <a:r>
              <a:rPr b="0" lang="pt-PT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doença</a:t>
            </a:r>
            <a:r>
              <a:rPr b="0" lang="pt-PT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de</a:t>
            </a:r>
            <a:r>
              <a:rPr b="0" lang="pt-PT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parkinson.</a:t>
            </a:r>
            <a:r>
              <a:rPr b="0" lang="pt-PT" sz="900" spc="-4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Revista</a:t>
            </a:r>
            <a:r>
              <a:rPr b="1" lang="pt-PT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de</a:t>
            </a:r>
            <a:r>
              <a:rPr b="1" lang="pt-PT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Ciências</a:t>
            </a:r>
            <a:r>
              <a:rPr b="1" lang="pt-PT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Médicas</a:t>
            </a:r>
            <a:r>
              <a:rPr b="1" lang="pt-PT" sz="900" spc="-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 Biológicas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, v. 2, n. 1, p. 72, 2003.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2680" indent="-228600" algn="just" defTabSz="4572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Font typeface="OpenSymbol"/>
              <a:buAutoNum type="arabicPeriod" startAt="12"/>
              <a:tabLst>
                <a:tab algn="l" pos="460440"/>
              </a:tabLst>
            </a:pP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GOODFELLOW,</a:t>
            </a:r>
            <a:r>
              <a:rPr b="0" lang="pt-PT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I.;</a:t>
            </a:r>
            <a:r>
              <a:rPr b="0" lang="pt-PT" sz="900" spc="9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BENGIO,</a:t>
            </a:r>
            <a:r>
              <a:rPr b="0" lang="pt-PT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Y.;</a:t>
            </a:r>
            <a:r>
              <a:rPr b="0" lang="pt-PT" sz="900" spc="9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COURVILLE,</a:t>
            </a:r>
            <a:r>
              <a:rPr b="0" lang="pt-PT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A.</a:t>
            </a:r>
            <a:r>
              <a:rPr b="0" lang="pt-PT" sz="900" spc="94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Deep</a:t>
            </a:r>
            <a:r>
              <a:rPr b="1" lang="pt-PT" sz="900" spc="14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Learning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r>
              <a:rPr b="0" lang="pt-PT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MIT</a:t>
            </a:r>
            <a:r>
              <a:rPr b="0" lang="pt-PT" sz="900" spc="8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Press,</a:t>
            </a:r>
            <a:r>
              <a:rPr b="0" lang="pt-PT" sz="900" spc="8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2016.</a:t>
            </a:r>
            <a:r>
              <a:rPr b="0" lang="pt-BR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Disponível</a:t>
            </a:r>
            <a:r>
              <a:rPr b="0" lang="pt-PT" sz="900" spc="11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em:</a:t>
            </a:r>
            <a:r>
              <a:rPr b="0" lang="pt-PT" sz="900" spc="26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pt-PT" sz="900" spc="-11" strike="noStrike" u="sng">
                <a:solidFill>
                  <a:srgbClr val="2998e3"/>
                </a:solidFill>
                <a:effectLst/>
                <a:uFillTx/>
                <a:latin typeface="Times New Roman"/>
                <a:ea typeface="Times New Roman"/>
                <a:hlinkClick r:id="rId1"/>
              </a:rPr>
              <a:t>&lt;https://www.deeplearningbook.org/&gt;</a:t>
            </a:r>
            <a:r>
              <a:rPr b="0" lang="pt-PT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2680" indent="-228600" defTabSz="457200">
              <a:lnSpc>
                <a:spcPct val="105000"/>
              </a:lnSpc>
              <a:spcBef>
                <a:spcPts val="1145"/>
              </a:spcBef>
              <a:buClr>
                <a:srgbClr val="000000"/>
              </a:buClr>
              <a:buFont typeface="OpenSymbol"/>
              <a:buAutoNum type="arabicPeriod" startAt="12"/>
              <a:tabLst>
                <a:tab algn="l" pos="460440"/>
              </a:tabLst>
            </a:pP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GRAVES,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et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al.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Connectionist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temporal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classification:</a:t>
            </a:r>
            <a:r>
              <a:rPr b="0" lang="en-US" sz="900" spc="39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Labelling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unsegmented</a:t>
            </a:r>
            <a:r>
              <a:rPr b="0" lang="en-US" sz="900" spc="39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sequence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data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with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recurrent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neural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networks.</a:t>
            </a:r>
            <a:r>
              <a:rPr b="0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In:</a:t>
            </a:r>
            <a:r>
              <a:rPr b="0" lang="en-US" sz="900" spc="397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Proceedings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of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the</a:t>
            </a:r>
            <a:r>
              <a:rPr b="1" lang="en-US" sz="900" spc="198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23rd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International</a:t>
            </a:r>
            <a:r>
              <a:rPr b="1" lang="en-US" sz="900" spc="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Conference</a:t>
            </a:r>
            <a:r>
              <a:rPr b="1" lang="en-US" sz="900" spc="9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on</a:t>
            </a:r>
            <a:r>
              <a:rPr b="1" lang="en-US" sz="900" spc="3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Machine</a:t>
            </a:r>
            <a:r>
              <a:rPr b="1" lang="en-US" sz="900" spc="9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Learning</a:t>
            </a:r>
            <a:r>
              <a:rPr b="1" lang="en-US" sz="900" spc="9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1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(ICML)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r>
              <a:rPr b="0" lang="en-US" sz="900" spc="-2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[S.l.]:</a:t>
            </a:r>
            <a:r>
              <a:rPr b="0" lang="en-US" sz="900" spc="82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ACM,</a:t>
            </a:r>
            <a:r>
              <a:rPr b="0" lang="en-US" sz="900" spc="-2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2006.</a:t>
            </a:r>
            <a:r>
              <a:rPr b="0" lang="en-US" sz="900" spc="-26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b="0" lang="en-US" sz="900" spc="-11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p. 369–376.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Referências III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sp>
        <p:nvSpPr>
          <p:cNvPr id="679" name="CaixaDeTexto 20"/>
          <p:cNvSpPr/>
          <p:nvPr/>
        </p:nvSpPr>
        <p:spPr>
          <a:xfrm>
            <a:off x="671760" y="6422400"/>
            <a:ext cx="46670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pt-BR" sz="105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rPr>
              <a:t>Sistema de Reconhecimento de Fala Disártrica usando Modelos de Autossupervisão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Retângulo 21"/>
          <p:cNvSpPr/>
          <p:nvPr/>
        </p:nvSpPr>
        <p:spPr>
          <a:xfrm>
            <a:off x="236520" y="6422400"/>
            <a:ext cx="537840" cy="190440"/>
          </a:xfrm>
          <a:prstGeom prst="rect">
            <a:avLst/>
          </a:prstGeom>
          <a:noFill/>
          <a:ln w="0">
            <a:noFill/>
          </a:ln>
          <a:effectLst>
            <a:outerShdw dist="49893" dir="2700000" blurRad="19044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fld id="{843E072D-979E-49EB-941F-2E8257D553D2}" type="slidenum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&lt;número&gt;</a:t>
            </a:fld>
            <a:r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/</a:t>
            </a:r>
            <a:fld id="{F4B2B09C-8FC6-47DA-A0AD-20D44D78DC2E}" type="slidecount">
              <a:rPr b="0" lang="en-BR" sz="1000" spc="-4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64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aixaDeTexto 14"/>
          <p:cNvSpPr/>
          <p:nvPr/>
        </p:nvSpPr>
        <p:spPr>
          <a:xfrm>
            <a:off x="822960" y="1737360"/>
            <a:ext cx="7822440" cy="435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HASEGAWA-JOHNSON, M. et al. UASpeech – Statistical Speech Technology Group. 2008. Accessed: 2024-09-03. Disponível em: &lt;https://speechtechnology.web. illinois.edu/uaspeech/&gt;.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HSU, W.-N. et al. Hubert: Self-supervised speech representation learning by masked prediction of hidden units. In: Proceedings of the 2021 IEEE/ACM International Conference on Acoustics, Speech and Signal Processing (ICASSP). [S.l.]: IEEE, 2021. p. 6413–6417.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HU, I. et al. Gather-excite: Exploiting feature context in convolutional neural networks. In: Advances in Neural Information Processing Systems (NeurIPS’18). [S.l.: s.n.], 2018. p. 9423–9433.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KINGMA, D. P.; WELLING, M. Auto-encoding variational bayes. arXiv preprint arXiv:1312.6114, 2014. Disponível em: &lt;https://arxiv.org/abs/1312.6114&gt;.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LECUN, Y. et al. Deep learning. Nature, v. 521, n. 7553, p. 436–444, 2015. MNIH, V. et al. Recurrent models of visual attention. In: Advances in Neural Information Processing Systems (NeurIPS’14). [S.l.: s.n.], 2014. p. 2204–2212.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NAIR, V.; HINTON, G. E. Rectified linear units improve restricted boltzmann machines. In: OMNIPRESS. Proceedings of the 27th International Conference on Machine Learning (ICML-10). Haifa, Israel, 2010. p. 807–814.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OPPENHEIM, A. V.; SCHAFER, R. W. Discrete-time signal processing. [S.l.]: Prentice Hall, 1999.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ORTIZ, K. Z. Distúrbios neurológicos adquiridos : fala e deglutição. Manole, 2010. 510 p. ISBN 9788520428856. Disponível em: &lt;https://ria.ufrn.br/jspui/handle/ 123456789/2783&gt;.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PORTALETE, C. R. et al. Tratamento motor da fala na disartria flácida: um estudo de caso. Audiology - Communication Research, Academia Brasileira de Audiologia, v. 24, p. e2118, 9 2019. ISSN 2317-6431. Disponível em: &lt;https://www.scielo.br/j/acr/a/wgNNz7ghTqwP5yJ7Q4WdNVw/&gt;.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RAMIG, L. O. Intensive voice treatment (lsvt(r)) for patients with parkinson’s disease: a 2 year follow up. Journal of Neurology, Neurosurgery and Psychiatry, v. 71, n. 4, p. 493–498, 2001.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RAMIG, L. O.; FOX, C.; SAPIR, S. Speech treatment for parkinson’s disease. Expert Review of Neurotherapeutics, v. 8, n. 2, p. 297–309, 2008.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21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RAVANELLI, M. et al. Multi-task self-supervised learning for robust speech recognition. arXiv preprint arXiv:2001.09239, 2020.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822960" y="286560"/>
            <a:ext cx="7543080" cy="145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pt-BR" sz="2500" spc="-51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Hanken Grotesk"/>
              </a:rPr>
              <a:t>Referências IV</a:t>
            </a:r>
            <a:endParaRPr b="0" lang="en-US" sz="2500" spc="-51" strike="noStrike" u="non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alibri Light"/>
            </a:endParaRPr>
          </a:p>
        </p:txBody>
      </p:sp>
      <p:grpSp>
        <p:nvGrpSpPr>
          <p:cNvPr id="683" name="Agrupar 2"/>
          <p:cNvGrpSpPr/>
          <p:nvPr/>
        </p:nvGrpSpPr>
        <p:grpSpPr>
          <a:xfrm>
            <a:off x="237600" y="6422400"/>
            <a:ext cx="5450760" cy="250200"/>
            <a:chOff x="237600" y="6422400"/>
            <a:chExt cx="5450760" cy="250200"/>
          </a:xfrm>
        </p:grpSpPr>
        <p:sp>
          <p:nvSpPr>
            <p:cNvPr id="684" name="CaixaDeTexto 20"/>
            <p:cNvSpPr/>
            <p:nvPr/>
          </p:nvSpPr>
          <p:spPr>
            <a:xfrm>
              <a:off x="651240" y="6422400"/>
              <a:ext cx="5037120" cy="25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pt-BR" sz="1050" strike="noStrike" u="none">
                  <a:solidFill>
                    <a:schemeClr val="lt1"/>
                  </a:solidFill>
                  <a:effectLst/>
                  <a:uFillTx/>
                  <a:latin typeface="Calibri"/>
                  <a:ea typeface="DejaVu Sans"/>
                </a:rPr>
                <a:t>Sistema de Reconhecimento de Fala Disártrica usando Aprendizagem Autossupervisionada</a:t>
              </a:r>
              <a:endParaRPr b="0" lang="pt-BR" sz="10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5" name="Retângulo 24"/>
            <p:cNvSpPr/>
            <p:nvPr/>
          </p:nvSpPr>
          <p:spPr>
            <a:xfrm>
              <a:off x="237600" y="6422400"/>
              <a:ext cx="537840" cy="190440"/>
            </a:xfrm>
            <a:prstGeom prst="rect">
              <a:avLst/>
            </a:prstGeom>
            <a:noFill/>
            <a:ln w="0">
              <a:noFill/>
            </a:ln>
            <a:effectLst>
              <a:outerShdw dist="49893" dir="2700000" blurRad="190440" rotWithShape="0">
                <a:srgbClr val="808080"/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57200">
                <a:lnSpc>
                  <a:spcPct val="100000"/>
                </a:lnSpc>
              </a:pPr>
              <a:fld id="{FD843BB2-099B-43DC-9A82-9A8CAECDF96E}" type="slidenum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&lt;número&gt;</a:t>
              </a:fld>
              <a:r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/</a:t>
              </a:r>
              <a:fld id="{8280A777-B759-4CF7-97EA-2786BFA5530B}" type="slidecount">
                <a:rPr b="0" lang="en-BR" sz="1000" spc="-4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64</a:t>
              </a:fld>
              <a:endParaRPr b="0" lang="pt-BR" sz="1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6" name="CaixaDeTexto 14"/>
          <p:cNvSpPr/>
          <p:nvPr/>
        </p:nvSpPr>
        <p:spPr>
          <a:xfrm>
            <a:off x="822960" y="1737360"/>
            <a:ext cx="7822440" cy="46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RUDER, S. An overview of gradient descent optimization algorithms. arXiv preprint arXiv:1609.04747, 2016.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RUMELHART, D. E. et al. Learning representations by back-propagating errors. Nature, v. 323, n. 6088, p. 533–536, 1986.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SCHU, G.; JANBAKHSHI, P.; KODRASI, I. On using the ua-speech and torgo databases to validate automatic dysarthric speech classification approaches. 11 2022. Disponível em: &lt;https://arxiv.org/abs/2211.08833v1&gt;.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SHAHAMIRI, S. R. Speech vision: An end-to-end deep learning-based dysarthric automatic speech recognition system. IEEE Transactions on Neural Systems and Rehabilitation Engineering, v. 29, p. 852–861, 2021.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SHAHAMIRI, S. R.; LAL, V.; SHAH, D. Dysarthric speech transformer: A sequence- to-sequence dysarthric speech recognition system. IEEE Transactions on Neural Systems and Rehabilitation Engineering, v. 31, p. 3407–3416, 2023.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STEVENS, S. S.; VOLKMANN, J.; NEWMAN, E. B. A scale for the measurement of the psychological magnitude pitch. The Journal of the Acoustical Society of America, Acoustical Society of America, v. 8, n. 3, p. 185–190, 1937.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VACHHANI, B.; BHAT, C.; KOPPARAPU, S. K. Data augmentation using healthy speech for dysarthric speech recognition. In: Annual Conference of the International Speech Communication Association (Interspeech’18). [S.l.: s.n.], 2018. p. 471–475.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WANG, F. et al. Residual attention network for image classification. In: IEEE Conference on Computer Vision and Pattern Recognition (CVPR’17). [S.l.: s.n.], 2017. p. 3156–3164.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WANG, S. et al. Enhancing dysarthric speech recognition for unseen speakers via prototype-based adaptation. arXiv preprint arXiv:2407.18461v1, 2024. Disponível em: &lt;https://arxiv.org/abs/2407.18461v1&gt;.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WEI, S. et al. A comparison on data augmentation methods based on deep learning for audio classification. Journal of Physics: Conference Series, v. 1453, p. 012085, 2020.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WOO, S. et al. Cbam: Convolutional block attention module. In: European Conference on Computer Vision (ECCV’18). [S.l.: s.n.], 2018. p. 3–19.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 startAt="33"/>
            </a:pPr>
            <a:r>
              <a:rPr b="0" lang="pt-BR" sz="9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XU, J. et al. Show, attend and tell: Neural image caption generation with visual attention. In: International Conference on Machine Learning (ICML’15). [S.l.: s.n.], 2015. p. 2048–2057.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Retrospectiva">
  <a:themeElements>
    <a:clrScheme name="Retrospectiva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12173</TotalTime>
  <Application>LibreOffice/25.2.5.2$Windows_X86_64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Ricardo Gracelli</dc:creator>
  <dc:description>generated using python-pptx</dc:description>
  <dc:language>pt-BR</dc:language>
  <cp:lastModifiedBy/>
  <dcterms:modified xsi:type="dcterms:W3CDTF">2025-08-18T18:32:35Z</dcterms:modified>
  <cp:revision>93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r8>1</vt:r8>
  </property>
  <property fmtid="{D5CDD505-2E9C-101B-9397-08002B2CF9AE}" pid="3" name="PresentationFormat">
    <vt:lpwstr>Apresentação na tela (4:3)</vt:lpwstr>
  </property>
  <property fmtid="{D5CDD505-2E9C-101B-9397-08002B2CF9AE}" pid="4" name="Slides">
    <vt:r8>62</vt:r8>
  </property>
</Properties>
</file>