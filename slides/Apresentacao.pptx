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46.xml" ContentType="application/vnd.openxmlformats-officedocument.presentationml.notesSlide+xml"/>
  <Override PartName="/ppt/notesSlides/_rels/notesSlide4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21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50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5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52.xml.rels" ContentType="application/vnd.openxmlformats-package.relationships+xml"/>
  <Override PartName="/ppt/slides/_rels/slide25.xml.rels" ContentType="application/vnd.openxmlformats-package.relationships+xml"/>
  <Override PartName="/ppt/slides/_rels/slide9.xml.rels" ContentType="application/vnd.openxmlformats-package.relationships+xml"/>
  <Override PartName="/ppt/slides/_rels/slide53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media/image57.png" ContentType="image/png"/>
  <Override PartName="/ppt/media/image1.png" ContentType="image/png"/>
  <Override PartName="/ppt/media/image58.png" ContentType="image/png"/>
  <Override PartName="/ppt/media/image2.png" ContentType="image/png"/>
  <Override PartName="/ppt/media/image61.svg" ContentType="image/svg"/>
  <Override PartName="/ppt/media/image3.png" ContentType="image/png"/>
  <Override PartName="/ppt/media/image21.png" ContentType="image/png"/>
  <Override PartName="/ppt/media/image6.jpeg" ContentType="image/jpeg"/>
  <Override PartName="/ppt/media/image70.png" ContentType="image/png"/>
  <Override PartName="/ppt/media/image4.png" ContentType="image/png"/>
  <Override PartName="/ppt/media/image8.gif" ContentType="image/gif"/>
  <Override PartName="/ppt/media/image53.png" ContentType="image/png"/>
  <Override PartName="/ppt/media/image71.png" ContentType="image/png"/>
  <Override PartName="/ppt/media/image5.png" ContentType="image/png"/>
  <Override PartName="/ppt/media/image73.png" ContentType="image/png"/>
  <Override PartName="/ppt/media/image7.png" ContentType="image/png"/>
  <Override PartName="/ppt/media/image75.png" ContentType="image/png"/>
  <Override PartName="/ppt/media/image9.png" ContentType="image/png"/>
  <Override PartName="/ppt/media/image10.png" ContentType="image/png"/>
  <Override PartName="/ppt/media/image31.gif" ContentType="image/gif"/>
  <Override PartName="/ppt/media/image59.svg" ContentType="image/sv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gif" ContentType="image/gif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  <Override PartName="/ppt/media/image72.png" ContentType="image/png"/>
  <Override PartName="/ppt/media/image74.png" ContentType="image/png"/>
  <Override PartName="/ppt/media/image76.png" ContentType="image/png"/>
  <Override PartName="/ppt/media/image77.png" ContentType="image/png"/>
  <Override PartName="/ppt/media/image78.png" ContentType="image/png"/>
  <Override PartName="/ppt/media/image79.png" ContentType="image/png"/>
  <Override PartName="/ppt/media/image80.svg" ContentType="image/svg"/>
  <Override PartName="/ppt/media/image81.png" ContentType="image/png"/>
  <Override PartName="/ppt/media/image82.svg" ContentType="image/svg"/>
  <Override PartName="/ppt/media/image83.png" ContentType="image/png"/>
  <Override PartName="/ppt/media/image84.svg" ContentType="image/svg"/>
  <Override PartName="/ppt/media/image85.png" ContentType="image/png"/>
  <Override PartName="/ppt/media/image86.svg" ContentType="image/svg"/>
  <Override PartName="/ppt/media/image87.png" ContentType="image/png"/>
  <Override PartName="/ppt/media/image88.png" ContentType="image/png"/>
  <Override PartName="/ppt/media/image89.png" ContentType="image/png"/>
  <Override PartName="/ppt/media/image90.png" ContentType="image/png"/>
  <Override PartName="/ppt/media/image91.svg" ContentType="image/sv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59" r:id="rId7"/>
    <p:sldMasterId id="2147483660" r:id="rId8"/>
    <p:sldMasterId id="2147483661" r:id="rId9"/>
    <p:sldMasterId id="2147483662" r:id="rId10"/>
    <p:sldMasterId id="2147483663" r:id="rId11"/>
    <p:sldMasterId id="2147483664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FFA99B6-BA60-4C72-9457-26CF3A827A9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Diferentes transformações para a palavra “Line”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endParaRPr b="0" lang="en-US" sz="48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30510D-F660-4A65-A069-5B9DFACFCB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endParaRPr b="0" lang="en-US" sz="48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C65D27-A59B-4D0B-A41F-A7EC6A0D72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endParaRPr b="0" lang="en-US" sz="48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D3E3F0-59BB-42C8-9E06-D5E0D1F46E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endParaRPr b="0" lang="en-US" sz="48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4227D69-78F8-4BCB-B66B-647285F2DE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endParaRPr b="0" lang="en-US" sz="48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9EA882A-E103-4CE7-AA91-CE84117071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DA478A4-AB77-46D8-B22B-485F677901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2520" y="6400800"/>
            <a:ext cx="914076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9140760" cy="633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5" name="Straight Connector 8"/>
          <p:cNvCxnSpPr/>
          <p:nvPr/>
        </p:nvCxnSpPr>
        <p:spPr>
          <a:xfrm>
            <a:off x="905400" y="4343400"/>
            <a:ext cx="740736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1"/>
          </p:nvPr>
        </p:nvSpPr>
        <p:spPr>
          <a:xfrm>
            <a:off x="2764800" y="6459840"/>
            <a:ext cx="3616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2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7D54616-1E8B-44CF-9640-56B55F6BEDCC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dt" idx="3"/>
          </p:nvPr>
        </p:nvSpPr>
        <p:spPr>
          <a:xfrm>
            <a:off x="822960" y="6459840"/>
            <a:ext cx="18536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" name="Rectangle 8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17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ftr" idx="4"/>
          </p:nvPr>
        </p:nvSpPr>
        <p:spPr>
          <a:xfrm>
            <a:off x="2764800" y="6459840"/>
            <a:ext cx="3616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5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752D34-D6D8-44B1-90B7-FAD7C63E6A85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6"/>
          </p:nvPr>
        </p:nvSpPr>
        <p:spPr>
          <a:xfrm>
            <a:off x="822960" y="6459840"/>
            <a:ext cx="18536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 hidden="1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" name="Rectangle 8" hidden="1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27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28" name="Rectangle 6"/>
          <p:cNvSpPr/>
          <p:nvPr/>
        </p:nvSpPr>
        <p:spPr>
          <a:xfrm>
            <a:off x="2520" y="6400800"/>
            <a:ext cx="914076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" name="Rectangle 7"/>
          <p:cNvSpPr/>
          <p:nvPr/>
        </p:nvSpPr>
        <p:spPr>
          <a:xfrm>
            <a:off x="0" y="6334200"/>
            <a:ext cx="9140760" cy="633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7"/>
          </p:nvPr>
        </p:nvSpPr>
        <p:spPr>
          <a:xfrm>
            <a:off x="2764800" y="6459840"/>
            <a:ext cx="3616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8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B18184-EC59-4B0A-B739-2F2FBE0D98CA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dt" idx="9"/>
          </p:nvPr>
        </p:nvSpPr>
        <p:spPr>
          <a:xfrm>
            <a:off x="822960" y="6459840"/>
            <a:ext cx="18536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6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Rectangle 8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39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8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Clique para editar o formato do texto do título</a:t>
            </a:r>
            <a:endParaRPr b="0" lang="en-US" sz="48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10"/>
          </p:nvPr>
        </p:nvSpPr>
        <p:spPr>
          <a:xfrm>
            <a:off x="2764800" y="6459840"/>
            <a:ext cx="3616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11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C123378-93C5-4C34-AC24-0C060C2044BB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dt" idx="12"/>
          </p:nvPr>
        </p:nvSpPr>
        <p:spPr>
          <a:xfrm>
            <a:off x="822960" y="6459840"/>
            <a:ext cx="18536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6" hidden="1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" name="Rectangle 8" hidden="1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49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50" name="Rectangle 6"/>
          <p:cNvSpPr/>
          <p:nvPr/>
        </p:nvSpPr>
        <p:spPr>
          <a:xfrm>
            <a:off x="2520" y="6400800"/>
            <a:ext cx="914076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" name="Rectangle 7"/>
          <p:cNvSpPr/>
          <p:nvPr/>
        </p:nvSpPr>
        <p:spPr>
          <a:xfrm>
            <a:off x="0" y="6334200"/>
            <a:ext cx="9140760" cy="633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52" name="Straight Connector 8"/>
          <p:cNvCxnSpPr/>
          <p:nvPr/>
        </p:nvCxnSpPr>
        <p:spPr>
          <a:xfrm>
            <a:off x="905400" y="4343400"/>
            <a:ext cx="740736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13"/>
          </p:nvPr>
        </p:nvSpPr>
        <p:spPr>
          <a:xfrm>
            <a:off x="2764800" y="6459840"/>
            <a:ext cx="3616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4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946BAC-6CD4-4785-84D0-8DA4BB3CD8E2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15"/>
          </p:nvPr>
        </p:nvSpPr>
        <p:spPr>
          <a:xfrm>
            <a:off x="822960" y="6459840"/>
            <a:ext cx="18536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6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" name="Rectangle 8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59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16"/>
          </p:nvPr>
        </p:nvSpPr>
        <p:spPr>
          <a:xfrm>
            <a:off x="2764800" y="6459840"/>
            <a:ext cx="3616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17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5E244C8-871E-4A3E-81DF-39EDC10BB53C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18"/>
          </p:nvPr>
        </p:nvSpPr>
        <p:spPr>
          <a:xfrm>
            <a:off x="822960" y="6459840"/>
            <a:ext cx="18536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66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19"/>
          </p:nvPr>
        </p:nvSpPr>
        <p:spPr>
          <a:xfrm>
            <a:off x="2764800" y="6459840"/>
            <a:ext cx="3616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20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BB285BD-05AB-46E3-A24A-506DCB3F34C4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21"/>
          </p:nvPr>
        </p:nvSpPr>
        <p:spPr>
          <a:xfrm>
            <a:off x="822960" y="6459840"/>
            <a:ext cx="18536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6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" name="Rectangle 8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73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22"/>
          </p:nvPr>
        </p:nvSpPr>
        <p:spPr>
          <a:xfrm>
            <a:off x="2764800" y="6459840"/>
            <a:ext cx="3616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23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0D83B4D-267F-4EF8-A886-76269066187F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24"/>
          </p:nvPr>
        </p:nvSpPr>
        <p:spPr>
          <a:xfrm>
            <a:off x="822960" y="6459840"/>
            <a:ext cx="18536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6" hidden="1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" name="Rectangle 8" hidden="1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80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81" name="Rectangle 4"/>
          <p:cNvSpPr/>
          <p:nvPr/>
        </p:nvSpPr>
        <p:spPr>
          <a:xfrm>
            <a:off x="2520" y="6400800"/>
            <a:ext cx="914076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" name="Rectangle 5"/>
          <p:cNvSpPr/>
          <p:nvPr/>
        </p:nvSpPr>
        <p:spPr>
          <a:xfrm>
            <a:off x="0" y="6334200"/>
            <a:ext cx="9140760" cy="633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ftr" idx="25"/>
          </p:nvPr>
        </p:nvSpPr>
        <p:spPr>
          <a:xfrm>
            <a:off x="2764800" y="6459840"/>
            <a:ext cx="3616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26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4F6D8CE-6D4C-42FD-9FC8-DFDF31D4B12C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dt" idx="27"/>
          </p:nvPr>
        </p:nvSpPr>
        <p:spPr>
          <a:xfrm>
            <a:off x="822960" y="6459840"/>
            <a:ext cx="18536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6" hidden="1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" name="Rectangle 8" hidden="1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89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90" name="Rectangle 7"/>
          <p:cNvSpPr/>
          <p:nvPr/>
        </p:nvSpPr>
        <p:spPr>
          <a:xfrm>
            <a:off x="0" y="0"/>
            <a:ext cx="3037320" cy="68572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1" name="Rectangle 8"/>
          <p:cNvSpPr/>
          <p:nvPr/>
        </p:nvSpPr>
        <p:spPr>
          <a:xfrm>
            <a:off x="3030120" y="0"/>
            <a:ext cx="47160" cy="685728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ftr" idx="28"/>
          </p:nvPr>
        </p:nvSpPr>
        <p:spPr>
          <a:xfrm>
            <a:off x="3600360" y="6459840"/>
            <a:ext cx="348552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29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196D26-A577-41E5-9A9B-11A80EB90581}" type="slidenum">
              <a:rPr b="0" lang="en-US" sz="105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30"/>
          </p:nvPr>
        </p:nvSpPr>
        <p:spPr>
          <a:xfrm>
            <a:off x="349200" y="6459840"/>
            <a:ext cx="1963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6" hidden="1"/>
          <p:cNvSpPr/>
          <p:nvPr/>
        </p:nvSpPr>
        <p:spPr>
          <a:xfrm>
            <a:off x="0" y="6400800"/>
            <a:ext cx="9143280" cy="45648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7" name="Rectangle 8" hidden="1"/>
          <p:cNvSpPr/>
          <p:nvPr/>
        </p:nvSpPr>
        <p:spPr>
          <a:xfrm>
            <a:off x="0" y="6334200"/>
            <a:ext cx="9143280" cy="651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0880" bIns="208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cxnSp>
        <p:nvCxnSpPr>
          <p:cNvPr id="98" name="Straight Connector 9"/>
          <p:cNvCxnSpPr/>
          <p:nvPr/>
        </p:nvCxnSpPr>
        <p:spPr>
          <a:xfrm>
            <a:off x="894960" y="1737720"/>
            <a:ext cx="7476120" cy="720"/>
          </a:xfrm>
          <a:prstGeom prst="straightConnector1">
            <a:avLst/>
          </a:prstGeom>
          <a:ln w="6480">
            <a:solidFill>
              <a:schemeClr val="dk1">
                <a:lumMod val="50000"/>
                <a:lumOff val="50000"/>
              </a:schemeClr>
            </a:solidFill>
            <a:round/>
          </a:ln>
        </p:spPr>
      </p:cxnSp>
      <p:sp>
        <p:nvSpPr>
          <p:cNvPr id="99" name="Rectangle 7"/>
          <p:cNvSpPr/>
          <p:nvPr/>
        </p:nvSpPr>
        <p:spPr>
          <a:xfrm>
            <a:off x="0" y="4952880"/>
            <a:ext cx="9140760" cy="1904400"/>
          </a:xfrm>
          <a:prstGeom prst="rect">
            <a:avLst/>
          </a:prstGeom>
          <a:solidFill>
            <a:schemeClr val="accent2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0" name="Rectangle 8"/>
          <p:cNvSpPr/>
          <p:nvPr/>
        </p:nvSpPr>
        <p:spPr>
          <a:xfrm>
            <a:off x="0" y="4915080"/>
            <a:ext cx="9140760" cy="633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ftr" idx="31"/>
          </p:nvPr>
        </p:nvSpPr>
        <p:spPr>
          <a:xfrm>
            <a:off x="2764800" y="6459840"/>
            <a:ext cx="36165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32"/>
          </p:nvPr>
        </p:nvSpPr>
        <p:spPr>
          <a:xfrm>
            <a:off x="7425360" y="6459840"/>
            <a:ext cx="983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C43B61-6D84-4224-A45F-F52C8D25781D}" type="slidenum"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&lt;número&gt;</a:t>
            </a:fld>
            <a:endParaRPr b="0" lang="pt-BR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33"/>
          </p:nvPr>
        </p:nvSpPr>
        <p:spPr>
          <a:xfrm>
            <a:off x="822960" y="6459840"/>
            <a:ext cx="18536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file:///D:/POS/slides/DEFESA.odp#Considera&#231;&#245;es%20Finais%20(cap3)" TargetMode="External"/><Relationship Id="rId2" Type="http://schemas.openxmlformats.org/officeDocument/2006/relationships/hyperlink" Target="file:///D:/POS/slides/DEFESA.odp#Discuss&#227;o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gif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5.gif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1.gif"/><Relationship Id="rId3" Type="http://schemas.openxmlformats.org/officeDocument/2006/relationships/slideLayout" Target="../slideLayouts/slideLayout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hyperlink" Target="file:///U:/home/gracelli/databases/uaspeech/control/wavs/original/CF02/CF02_B1_C10_M2.wav" TargetMode="External"/><Relationship Id="rId2" Type="http://schemas.openxmlformats.org/officeDocument/2006/relationships/image" Target="../media/image36.png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hyperlink" Target="file:///U:/home/gracelli/databases/uaspeech/control/wavs/aug/CF02/CF02_B1_C10_M2.wav" TargetMode="External"/><Relationship Id="rId6" Type="http://schemas.openxmlformats.org/officeDocument/2006/relationships/image" Target="../media/image38.png"/><Relationship Id="rId7" Type="http://schemas.openxmlformats.org/officeDocument/2006/relationships/hyperlink" Target="file:///U:/home/gracelli/databases/uaspeech/control/wavs/aug_plus_prop/CF02/CF02_B1_C10_M2.wav" TargetMode="External"/><Relationship Id="rId8" Type="http://schemas.openxmlformats.org/officeDocument/2006/relationships/image" Target="../media/image39.png"/><Relationship Id="rId9" Type="http://schemas.openxmlformats.org/officeDocument/2006/relationships/hyperlink" Target="file:///U:/home/gracelli/databases/uaspeech/dysarthric/wavs/original/F03/F03_B1_C10_M2.wav" TargetMode="External"/><Relationship Id="rId10" Type="http://schemas.openxmlformats.org/officeDocument/2006/relationships/image" Target="../media/image40.png"/><Relationship Id="rId11" Type="http://schemas.openxmlformats.org/officeDocument/2006/relationships/hyperlink" Target="file:///U:/home/gracelli/databases/uaspeech/control/wavs/aug_prop/CF02/CF02_B1_C10_M2.wav" TargetMode="External"/><Relationship Id="rId12" Type="http://schemas.openxmlformats.org/officeDocument/2006/relationships/image" Target="../media/image41.pn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slideLayout" Target="../slideLayouts/slideLayout6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slideLayout" Target="../slideLayouts/slideLayout6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slideLayout" Target="../slideLayouts/slideLayout6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slideLayout" Target="../slideLayouts/slideLayout6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svg"/><Relationship Id="rId3" Type="http://schemas.openxmlformats.org/officeDocument/2006/relationships/slideLayout" Target="../slideLayouts/slideLayout5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svg"/><Relationship Id="rId3" Type="http://schemas.openxmlformats.org/officeDocument/2006/relationships/slideLayout" Target="../slideLayouts/slideLayout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2.png"/><Relationship Id="rId3" Type="http://schemas.openxmlformats.org/officeDocument/2006/relationships/slideLayout" Target="../slideLayouts/slideLayout5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slideLayout" Target="../slideLayouts/slideLayout5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slideLayout" Target="../slideLayouts/slideLayout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slideLayout" Target="../slideLayouts/slideLayout5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slideLayout" Target="../slideLayouts/slideLayout5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file:///D:/POS/slides/DEFESA.odp#Hip&#243;teses" TargetMode="External"/><Relationship Id="rId3" Type="http://schemas.openxmlformats.org/officeDocument/2006/relationships/slideLayout" Target="../slideLayouts/slideLayout5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9.png"/><Relationship Id="rId3" Type="http://schemas.openxmlformats.org/officeDocument/2006/relationships/image" Target="../media/image80.svg"/><Relationship Id="rId4" Type="http://schemas.openxmlformats.org/officeDocument/2006/relationships/image" Target="../media/image81.png"/><Relationship Id="rId5" Type="http://schemas.openxmlformats.org/officeDocument/2006/relationships/image" Target="../media/image82.svg"/><Relationship Id="rId6" Type="http://schemas.openxmlformats.org/officeDocument/2006/relationships/slideLayout" Target="../slideLayouts/slideLayout5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3.png"/><Relationship Id="rId3" Type="http://schemas.openxmlformats.org/officeDocument/2006/relationships/image" Target="../media/image84.svg"/><Relationship Id="rId4" Type="http://schemas.openxmlformats.org/officeDocument/2006/relationships/image" Target="../media/image85.png"/><Relationship Id="rId5" Type="http://schemas.openxmlformats.org/officeDocument/2006/relationships/image" Target="../media/image86.svg"/><Relationship Id="rId6" Type="http://schemas.openxmlformats.org/officeDocument/2006/relationships/slideLayout" Target="../slideLayouts/slideLayout5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87.png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slideLayout" Target="../slideLayouts/slideLayout5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90.png"/><Relationship Id="rId2" Type="http://schemas.openxmlformats.org/officeDocument/2006/relationships/image" Target="../media/image91.svg"/><Relationship Id="rId3" Type="http://schemas.openxmlformats.org/officeDocument/2006/relationships/hyperlink" Target="https://ragracelli.github.io/CONTRASTIVE_DASR/" TargetMode="External"/><Relationship Id="rId4" Type="http://schemas.openxmlformats.org/officeDocument/2006/relationships/slideLayout" Target="../slideLayouts/slideLayout5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hyperlink" Target="https://arxiv.org/abs/2002.05709" TargetMode="External"/><Relationship Id="rId2" Type="http://schemas.openxmlformats.org/officeDocument/2006/relationships/hyperlink" Target="https://arxiv.org/abs/2002.05709" TargetMode="External"/><Relationship Id="rId3" Type="http://schemas.openxmlformats.org/officeDocument/2006/relationships/hyperlink" Target="https://pubs.asha.org/doi/epdf/10.1044/jshr.1202.246" TargetMode="External"/><Relationship Id="rId4" Type="http://schemas.openxmlformats.org/officeDocument/2006/relationships/slideLayout" Target="../slideLayouts/slideLayout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hyperlink" Target="https://www.deeplearningbook.org/" TargetMode="External"/><Relationship Id="rId2" Type="http://schemas.openxmlformats.org/officeDocument/2006/relationships/slideLayout" Target="../slideLayouts/slideLayout5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75080" y="3818160"/>
            <a:ext cx="673020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pt-BR" sz="40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Sistema de Reconhecimento de Fala Disártrica Usando Aprendizagem Autossupervisionada</a:t>
            </a:r>
            <a:br>
              <a:rPr sz="4000"/>
            </a:b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825120" y="4455720"/>
            <a:ext cx="75430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1200" spc="198" strike="noStrike" u="none" cap="all">
                <a:solidFill>
                  <a:schemeClr val="dk2"/>
                </a:solidFill>
                <a:effectLst/>
                <a:uFillTx/>
                <a:latin typeface="Calibri Light"/>
              </a:rPr>
              <a:t>Defesa de Dissertação de mestrado apresentada ao Programa de Pós-Graduação em Ciência da Computação do Centro de Ciências Exatas e de Tecnologia da Universidade Federal de São Carlos, como parte dos requisitos para a obtenção do título de Mestre em Ciência da Computação.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1200" spc="198" strike="noStrike" u="none" cap="all">
                <a:solidFill>
                  <a:schemeClr val="dk2"/>
                </a:solidFill>
                <a:effectLst/>
                <a:uFillTx/>
                <a:latin typeface="Calibri Light"/>
              </a:rPr>
              <a:t>Área de concentração: Visão Computacional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1200" spc="198" strike="noStrike" u="none" cap="all">
                <a:solidFill>
                  <a:schemeClr val="dk2"/>
                </a:solidFill>
                <a:effectLst/>
                <a:uFillTx/>
                <a:latin typeface="Calibri Light"/>
              </a:rPr>
              <a:t>Orientador: Jurandy G. Almeida Jr.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1200" spc="198" strike="noStrike" u="none" cap="all">
                <a:solidFill>
                  <a:schemeClr val="dk2"/>
                </a:solidFill>
                <a:effectLst/>
                <a:uFillTx/>
                <a:latin typeface="Calibri Light"/>
              </a:rPr>
              <a:t>Sorocaba, 2025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CaixaDeTexto 4"/>
          <p:cNvSpPr/>
          <p:nvPr/>
        </p:nvSpPr>
        <p:spPr>
          <a:xfrm>
            <a:off x="825120" y="794160"/>
            <a:ext cx="3095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Ricardo Alexandre Gracelli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m 5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5" name="Agrupar 7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16" name="CaixaDeTexto 3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etângulo 6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C3B6D878-FCDD-4983-89A3-EB04DDC3757F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CFE789C4-7E44-46BD-BFED-28EF7E070D9B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Sumário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22960" y="179388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numCol="2" spcCol="0" lIns="0" rIns="0" tIns="45720" bIns="45720" anchor="t">
            <a:normAutofit fontScale="92500" lnSpcReduction="1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Introdução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Implicações e classificações da Disartria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Desafios da fala disártrica em reconhecimento de fala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Objetivos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Abordagem Supervisionada X Autosupervisionada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Aprendizado contrastivo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Conceitos básicos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4396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Redes CNN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4396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Autocodificadores (AE)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4396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Autocodificadores Variacionais (VAE)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4396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Espectrogramas STFT e MFCC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4396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Aprendizado SSL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4396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Aprendizado Contrastivo (SimCLR e SwAV)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Proposta: 1ª Etapa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4396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Escolha dos métodos de aumento de dados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4396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Explanação sobre artigo: </a:t>
            </a:r>
            <a:r>
              <a:rPr b="1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Explorando Métodos Alternativos de Aumento de Dados em Sistemas de Reconhecimento Automático de Fala Disártrica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Hanken Grotesk"/>
              </a:rPr>
              <a:t>Proposta: 2ª Etapa (CL)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43960" indent="-3430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Hanken Grotesk"/>
              </a:rPr>
              <a:t>Apresentação de metodologias, arquiteturas e resultados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Hanken Grotesk"/>
              </a:rPr>
              <a:t>Discussão e Conclusões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1640" indent="-34308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Hanken Grotesk"/>
              </a:rPr>
              <a:t>Referências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CaixaDeTexto 9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tângulo 10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35D33ACD-1B6E-4E1C-A84C-98EB17C4FEF5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CC4DDDCD-2792-4CD8-9B0A-7DC3463B6B3F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m 4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Introdução / Motivação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 que é a disartria?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 disartria é um distúrbio da fala causado por alterações no controle dos músculos envolvidos na produção da fala. As causas incluem lesões no sistema nervoso central ou periférico, associadas a condições como Doença de Parkinson, AVC e Esclerose Lateral Amiotrófica.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m 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6" name="Agrupar 4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27" name="CaixaDeTexto 5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  <a:ea typeface="DejaVu Sans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Retângulo 6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AC570139-58A9-4B52-A898-19DE98121801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C2AC2DE3-E363-48B5-A235-87919C4BE163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"/>
          <p:cNvSpPr txBox="1"/>
          <p:nvPr/>
        </p:nvSpPr>
        <p:spPr>
          <a:xfrm>
            <a:off x="2558160" y="5125320"/>
            <a:ext cx="4027680" cy="56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Segoe UI Emoji"/>
              </a:rPr>
              <a:t>🌊 = “COMMAND”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Implicações e Classificações da Disartria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Implicações: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Fala lenta, arrastada, com articulação imprecisa.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Alterações na fonação, prosódia e ressonância.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Classificações: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Hipocinética: voz rouca, tremores.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Hipercinética: problemas vocálicos, soprosidade.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m 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3" name="Agrupar 4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34" name="CaixaDeTexto 5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  <a:ea typeface="DejaVu Sans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Retângulo 6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4F3FCCD7-470E-4007-A96F-7AC2C5130D1A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1E12BF36-2812-4028-8BA2-F0D09BB6CDDB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Desafios da fala disártrica em Reconhecimento de fala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Dificuldades motoras comprometem a </a:t>
            </a:r>
            <a:r>
              <a:rPr b="1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precisão de sistemas tradicionais de ASR</a:t>
            </a: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Corpora específicos para fala disártrica são </a:t>
            </a:r>
            <a:r>
              <a:rPr b="1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reduzidos e limitados</a:t>
            </a: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8" name="Agrupar 7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39" name="CaixaDeTexto 8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  <a:ea typeface="DejaVu Sans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tângulo 9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E58892FC-F70D-4460-9E3B-468086EA57FD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296095AF-918C-4ED4-93A7-85F4742198F5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1" name="Imagem 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Objetivos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Melhorar o reconhecimento de fala disártrica pelos ASR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Utilizar técnicas de </a:t>
            </a:r>
            <a:r>
              <a:rPr b="1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aumento de dados</a:t>
            </a: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e de </a:t>
            </a:r>
            <a:r>
              <a:rPr b="1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autossupervisão</a:t>
            </a: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para superar a limitação de dados rotulados.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Focar em </a:t>
            </a:r>
            <a:r>
              <a:rPr b="0" lang="pt-BR" sz="1800" strike="noStrike" u="sng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SOLUÇÕES</a:t>
            </a: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para os desafios impostos por dificuldades motoras que afetam a fala.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Aumento de dados: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Oclusão Espectral: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Mascara seletivamente partes de espectrogramas de fala normal.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Simula características acústicas de fala disártrica.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m 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5" name="Agrupar 4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46" name="CaixaDeTexto 5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  <a:ea typeface="DejaVu Sans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Retângulo 6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6691F97E-4224-4344-9601-384DD683D47C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D2ABECD2-2443-4248-8FEC-61EB779D017C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48" name="Conector: Angulado 8"/>
          <p:cNvCxnSpPr/>
          <p:nvPr/>
        </p:nvCxnSpPr>
        <p:spPr>
          <a:xfrm rot="5400000">
            <a:off x="1813680" y="3142080"/>
            <a:ext cx="847800" cy="606960"/>
          </a:xfrm>
          <a:prstGeom prst="bentConnector3">
            <a:avLst>
              <a:gd name="adj1" fmla="val 50042"/>
            </a:avLst>
          </a:prstGeom>
          <a:ln w="57240">
            <a:solidFill>
              <a:srgbClr val="00b050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Abordagem Supervisionada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Utiliza áudios com transcrições anotadas manualmente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Modelos aprendem a mapear sinais acústicos para palavras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Exige grandes volumes de dados rotulados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m 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2" name="Agrupar 4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53" name="CaixaDeTexto 5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  <a:ea typeface="DejaVu Sans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tângulo 6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9C597C46-7AFC-4442-B1DB-B830062DD449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A4EF8FD8-132A-45F8-A966-C23F70E0478D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5" name="Rectangle 3"/>
          <p:cNvSpPr/>
          <p:nvPr/>
        </p:nvSpPr>
        <p:spPr>
          <a:xfrm>
            <a:off x="1976040" y="-319320"/>
            <a:ext cx="5324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90000" rIns="90000" tIns="45000" bIns="45000" anchor="ctr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Aprendizado a partir de dados não rotulados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marL="91440" indent="0" defTabSz="914400">
              <a:lnSpc>
                <a:spcPct val="6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pt-BR" sz="25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Técnicas de Aumento de Dados (Data Augmentation):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22960" y="1593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0" defTabSz="914400">
              <a:lnSpc>
                <a:spcPct val="6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6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Aplicadas aos espectrogramas ou diretamente ao áudio para melhorar a robustez do modelo: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6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Oclusão Espectral (Spectral Masking):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6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Mascara regiões do espectro simulando distorções articulatórias (disartria, ruídos internos)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6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Adição de Ruído (Additive Noise):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6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Injeta ruídos ambientais (ex: estático, fala de fundo) para melhorar a generalização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6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Alongamento de Tempo (Time Stretch):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6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Modifica a velocidade da fala sem alterar o pitch, simulando variações de ritmo entre falantes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m 8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9" name="Agrupar 3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60" name="CaixaDeTexto 26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  <a:ea typeface="DejaVu Sans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Retângulo 4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C42918F6-F041-4B1A-8FE0-53BDC56F501F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5F4D7849-9B45-49FE-95E9-5564A0C95FBA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Rectangle 1"/>
          <p:cNvSpPr/>
          <p:nvPr/>
        </p:nvSpPr>
        <p:spPr>
          <a:xfrm>
            <a:off x="1976040" y="-319320"/>
            <a:ext cx="5324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90000" rIns="90000" tIns="45000" bIns="45000" anchor="ctr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Aprendizado a partir de dados não rotulados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marL="91440" indent="0" defTabSz="914400">
              <a:lnSpc>
                <a:spcPct val="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pt-BR" sz="25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🎯    </a:t>
            </a:r>
            <a:r>
              <a:rPr b="1" lang="pt-BR" sz="25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Benefícios</a:t>
            </a:r>
            <a:r>
              <a:rPr b="0" lang="pt-BR" sz="25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: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pic>
        <p:nvPicPr>
          <p:cNvPr id="164" name="Imagem 12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5" name="Agrupar 5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66" name="CaixaDeTexto 27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  <a:ea typeface="DejaVu Sans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Retângulo 13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FE505AD1-4B17-429E-8DE0-41EE517F1E1F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5E074F47-C814-4195-92B9-6B6C42FF6649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8" name="Rectangle 2"/>
          <p:cNvSpPr/>
          <p:nvPr/>
        </p:nvSpPr>
        <p:spPr>
          <a:xfrm>
            <a:off x="1976040" y="-319320"/>
            <a:ext cx="5324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90000" rIns="90000" tIns="45000" bIns="45000" anchor="ctr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Aprendizado a partir de dados não rotulados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22960" y="184176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0" defTabSz="914400">
              <a:lnSpc>
                <a:spcPct val="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5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Aumenta a diversidade dos dados de treino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5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Melhora a robustez do reconhecimento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5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Auxilia no desempenho em fala disártrica ou degradada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SSL - Abordagem Contrastiva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lnSpcReduction="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SimCLR: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Explora similaridade entre transformações de dados.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Diferencia padrões acústicos de fala normotípica e disártrica.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412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SwAV: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Utiliza agrupamento online para associar representações a protótipos, sem depender da comparação entre pares.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Aprende representações robustas mesmo sem rótulos explícitos ou contraste direto.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Na fala, reduz ruídos e variações intra-falante, gerando </a:t>
            </a:r>
            <a:r>
              <a:rPr b="0" i="1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embeddings</a:t>
            </a:r>
            <a:r>
              <a:rPr b="0" lang="en-US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mais estáveis e favorecendo o reconhecimento preciso de padrões disártricos.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Agrupar 4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73" name="CaixaDeTexto 5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  <a:ea typeface="DejaVu Sans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tângulo 6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0A1CB2C1-7B1B-4629-82B9-E48A026A8D0E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5FF787FA-5005-4C9D-8476-AEEDB36842E4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75" name="Imagem 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Hipóteses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22960" y="2241720"/>
            <a:ext cx="7816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algn="just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H1. A introdução de múltiplas técnicas de aumento (ruído aditivo, alongamento temporal, Oclusão Espectral e suas combinações) nos espectrogramas de fala disártrica leva os modelos ASR a aprenderem representações acústicas mais robustas. </a:t>
            </a: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 Emoji"/>
                <a:hlinkClick r:id="rId1"/>
              </a:rPr>
              <a:t>⬅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algn="just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algn="just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Microsoft YaHei"/>
              </a:rPr>
              <a:t> H2. Empregar essas mesmas transformações como base para formar pares positivos no pré-treinamento contrastivo (SimCLR ou SwAV) gera </a:t>
            </a:r>
            <a:r>
              <a:rPr b="0" i="1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Microsoft YaHei"/>
              </a:rPr>
              <a:t>embeddings</a:t>
            </a: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Microsoft YaHei"/>
              </a:rPr>
              <a:t> que aprimoram de modo consistente o desempenho do reconhecimento de fala disártrica. </a:t>
            </a: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Segoe UI Emoji"/>
                <a:ea typeface="Microsoft YaHei"/>
                <a:hlinkClick r:id="rId2"/>
              </a:rPr>
              <a:t>⬅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" name="Agrupar 1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79" name="CaixaDeTexto 2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  <a:ea typeface="DejaVu Sans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tângulo 3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267D6529-ADCA-438C-A895-E70FB0456CF7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6C0354C2-8271-4664-8873-5DA4C1D6F4D7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81" name="Imagem 7" descr=""/>
          <p:cNvPicPr/>
          <p:nvPr/>
        </p:nvPicPr>
        <p:blipFill>
          <a:blip r:embed="rId3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22960" y="758880"/>
            <a:ext cx="7543080" cy="35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80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Conceitos Básicos</a:t>
            </a:r>
            <a:endParaRPr b="0" lang="en-US" sz="80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825120" y="4455720"/>
            <a:ext cx="75430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2400" spc="198" strike="noStrike" u="none" cap="all">
                <a:solidFill>
                  <a:schemeClr val="dk2"/>
                </a:solidFill>
                <a:effectLst/>
                <a:uFillTx/>
                <a:latin typeface="Calibri Light"/>
              </a:rPr>
              <a:t>Fundamentação teórica sobre Redes Convolucionais, Autocodificadores, Espectrogramas e Aprendizado Autossupervisionado.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m 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5" name="Agrupar 4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186" name="CaixaDeTexto 5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Retângulo 6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56B029A3-D245-497A-B028-964D2168052B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5E61AC7F-A898-431B-9BA2-74544710F7AC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Redes Neurais Convolucionais (CNNs)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85000" lnSpcReduction="1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Definição: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Arquitetura projetada para dados em grade, como imagens e séries temporais.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Aplicações: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Processamento de imagens.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Visão computacional.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Estrutura: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Camadas convolucionais para extração de características.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Camadas de agrupamento (Pooling) para redução de dimensionalidade.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Camadas totalmente conectadas para classificação.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m 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CaixaDeTexto 8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tângulo 9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F420F21B-700E-4232-AAC6-924EBAF192AE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1F467804-18D0-4962-8A6A-3BFCCF6704C4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m 11" descr=""/>
          <p:cNvPicPr/>
          <p:nvPr/>
        </p:nvPicPr>
        <p:blipFill>
          <a:blip r:embed="rId2"/>
          <a:stretch/>
        </p:blipFill>
        <p:spPr>
          <a:xfrm>
            <a:off x="3783600" y="2536200"/>
            <a:ext cx="4975560" cy="191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CaixaDeTexto 12"/>
          <p:cNvSpPr/>
          <p:nvPr/>
        </p:nvSpPr>
        <p:spPr>
          <a:xfrm>
            <a:off x="5053320" y="4475880"/>
            <a:ext cx="3764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KATEGARU(2020) – Adaptado.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2" descr=""/>
          <p:cNvPicPr/>
          <p:nvPr/>
        </p:nvPicPr>
        <p:blipFill>
          <a:blip r:embed="rId1"/>
          <a:stretch/>
        </p:blipFill>
        <p:spPr>
          <a:xfrm>
            <a:off x="4572000" y="2972520"/>
            <a:ext cx="4054320" cy="176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Autocodificadores (AEs)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85000" lnSpcReduction="1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Definição: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Modelos para aprender representações compactas de dados.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Estrutura: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Codificador: comprime os dados de entrada.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Decodificador: reconstrói os dados</a:t>
            </a: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originais.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Perda MSE (Erro quadrático médio)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Objetivo: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Reduzir dimensionalidade.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Minimizar a perda de reconstrução.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CaixaDeTexto 11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tângulo 12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9CBD13A3-C4CD-46EA-B004-3DA08E1EDDA0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8BBF7F3A-C720-4C27-8EDA-4DF4C34829A8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m 4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70000" lnSpcReduction="1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Definição: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Extensão probabilística dos AEs que aprendem distribuições latentes.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Estrutura: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Codificador: mapeia dados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para uma distribuição latente.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Decodificador: gera amostras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a partir da distribuição latente.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Perda: Erro de Reconstrução (Recon Loss) +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Divergência KL (Kullback-Leibler Divergence)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Objetivo: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Gerar novos dados semelhantes aos dados originais.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m 13" descr=""/>
          <p:cNvPicPr/>
          <p:nvPr/>
        </p:nvPicPr>
        <p:blipFill>
          <a:blip r:embed="rId1"/>
          <a:stretch/>
        </p:blipFill>
        <p:spPr>
          <a:xfrm>
            <a:off x="5991120" y="4881600"/>
            <a:ext cx="1108800" cy="84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PlaceHolder 2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Autocodificadores Variacionais (VAEs)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04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939A6355-556A-4511-A08D-6A59386E3D68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EA4B2C33-46E9-431C-9E75-780CD8768E1C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Picture 2" descr=""/>
          <p:cNvPicPr/>
          <p:nvPr/>
        </p:nvPicPr>
        <p:blipFill>
          <a:blip r:embed="rId2"/>
          <a:stretch/>
        </p:blipFill>
        <p:spPr>
          <a:xfrm>
            <a:off x="4594680" y="2972520"/>
            <a:ext cx="4054320" cy="176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Picture 2" descr=""/>
          <p:cNvPicPr/>
          <p:nvPr/>
        </p:nvPicPr>
        <p:blipFill>
          <a:blip r:embed="rId3"/>
          <a:stretch/>
        </p:blipFill>
        <p:spPr>
          <a:xfrm>
            <a:off x="6258240" y="4444560"/>
            <a:ext cx="573840" cy="57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Imagem 5" descr=""/>
          <p:cNvPicPr/>
          <p:nvPr/>
        </p:nvPicPr>
        <p:blipFill>
          <a:blip r:embed="rId4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Espectrogramas STFT e MFCC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10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75A6A429-6D06-44F2-BC14-A6440CBC36C9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677C1665-CCE0-4086-AD93-B31F56338144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m 10" descr=""/>
          <p:cNvPicPr/>
          <p:nvPr/>
        </p:nvPicPr>
        <p:blipFill>
          <a:blip r:embed="rId1"/>
          <a:srcRect l="3893" t="0" r="4224" b="0"/>
          <a:stretch/>
        </p:blipFill>
        <p:spPr>
          <a:xfrm>
            <a:off x="1872000" y="3432600"/>
            <a:ext cx="4759920" cy="278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CaixaDeTexto 11"/>
          <p:cNvSpPr/>
          <p:nvPr/>
        </p:nvSpPr>
        <p:spPr>
          <a:xfrm>
            <a:off x="5066640" y="1762920"/>
            <a:ext cx="367884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MFCC: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Escala Mel para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melhor percepção humana.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- Ideal para reconhecimento de fala.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- Captura características relevantes do áudio (reduz dimensionalidade)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CaixaDeTexto 13"/>
          <p:cNvSpPr/>
          <p:nvPr/>
        </p:nvSpPr>
        <p:spPr>
          <a:xfrm>
            <a:off x="609120" y="1762920"/>
            <a:ext cx="346788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STFT: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- Representação tempo-frequência de sinais.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Alta resolução temporal, limitada em frequência em janelas curtas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(princípio da incerteza)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m 4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Aprendizado Autossupervisionado (SSL)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2500" lnSpcReduction="1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Definição: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Técnica que utiliza dados não rotulados com tarefas auxiliares para aprendizado.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Exemplos: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Predição de palavras (</a:t>
            </a: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PLN).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Predição mascarada (HuBERT).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Benefícios: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Reduz dependência de dados rotulados.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Aprende representações robustas.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E0073630-C18F-4BB8-92D8-8D983BDD9678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2E1852BB-9009-40D5-855D-9A007AC3B8EE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Imagem 4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Aprendizado Contrastivo: SimCLR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 fontScale="92500" lnSpcReduction="9999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Definição: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Framework simples para aprendizado contrastivo de representações visuais.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Funcionamento: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Maximiza similaridade entre transformações de uma mesma amostra (pares positivos).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Minimiza similaridade com outras amostras (pares negativos).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Função de Perda: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- </a:t>
            </a: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Inter"/>
              </a:rPr>
              <a:t>NT-Xent ( perda de entropia cruzada em escala de temperatura normalizada )</a:t>
            </a: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para otimização do contraste entre pares.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1359610E-417A-4D9D-8027-88BA2101FC31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16840E32-89D8-4893-8AE8-0FC7B9777FD8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m 4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Aprendizado Contrastivo: SimCLR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pic>
        <p:nvPicPr>
          <p:cNvPr id="227" name="Espaço Reservado para Conteúdo 4" descr=""/>
          <p:cNvPicPr/>
          <p:nvPr/>
        </p:nvPicPr>
        <p:blipFill>
          <a:blip r:embed="rId1"/>
          <a:stretch/>
        </p:blipFill>
        <p:spPr>
          <a:xfrm>
            <a:off x="218880" y="1737360"/>
            <a:ext cx="8790120" cy="422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AB59742F-4028-45FE-BE51-276823E900DA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E8E0C403-5C7A-4E86-AE41-E289C519EED7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m 2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"/>
          <p:cNvSpPr/>
          <p:nvPr/>
        </p:nvSpPr>
        <p:spPr>
          <a:xfrm>
            <a:off x="3623400" y="4555080"/>
            <a:ext cx="2857320" cy="140616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Espaço Reservado para Conteúdo 10" descr=""/>
          <p:cNvPicPr/>
          <p:nvPr/>
        </p:nvPicPr>
        <p:blipFill>
          <a:blip r:embed="rId1"/>
          <a:stretch/>
        </p:blipFill>
        <p:spPr>
          <a:xfrm>
            <a:off x="1376280" y="1943280"/>
            <a:ext cx="5838120" cy="298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Como crianças correlacionam imagens?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5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519ADB5E-549C-443A-A0ED-9FE18989834E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8D962CF6-2CBB-4096-AA02-2A0674DB3C1A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tângulo 15"/>
          <p:cNvSpPr/>
          <p:nvPr/>
        </p:nvSpPr>
        <p:spPr>
          <a:xfrm>
            <a:off x="1511280" y="1957680"/>
            <a:ext cx="4407480" cy="470880"/>
          </a:xfrm>
          <a:prstGeom prst="rect">
            <a:avLst/>
          </a:prstGeom>
          <a:solidFill>
            <a:srgbClr val="f8f8f8"/>
          </a:solidFill>
          <a:ln w="15840">
            <a:solidFill>
              <a:srgbClr val="f5f5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39" name="CaixaDeTexto 14"/>
          <p:cNvSpPr/>
          <p:nvPr/>
        </p:nvSpPr>
        <p:spPr>
          <a:xfrm>
            <a:off x="1511280" y="1875240"/>
            <a:ext cx="39938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Combine o animal correto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CaixaDeTexto 18"/>
          <p:cNvSpPr/>
          <p:nvPr/>
        </p:nvSpPr>
        <p:spPr>
          <a:xfrm>
            <a:off x="490680" y="5496120"/>
            <a:ext cx="8011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É possível “ensinar” máquinas usando abordagem semelhante?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m 2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Aprendizado contrastivo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43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CB9F3677-5D8E-454D-B570-C29BC35FD649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83CD065D-794C-42D0-9EA5-B4FAE7241BA5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CaixaDeTexto 16"/>
          <p:cNvSpPr/>
          <p:nvPr/>
        </p:nvSpPr>
        <p:spPr>
          <a:xfrm>
            <a:off x="853200" y="1877400"/>
            <a:ext cx="6135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Exemplos similares e diferentes são necessários: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m 19" descr=""/>
          <p:cNvPicPr/>
          <p:nvPr/>
        </p:nvPicPr>
        <p:blipFill>
          <a:blip r:embed="rId1"/>
          <a:stretch/>
        </p:blipFill>
        <p:spPr>
          <a:xfrm>
            <a:off x="236520" y="2613240"/>
            <a:ext cx="8524080" cy="24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Retângulo 20"/>
          <p:cNvSpPr/>
          <p:nvPr/>
        </p:nvSpPr>
        <p:spPr>
          <a:xfrm>
            <a:off x="505800" y="4518720"/>
            <a:ext cx="7703640" cy="38952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        Imagem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	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	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	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Similar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	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                    Diferente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	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             Diferente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Imagem 2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Paradigmas Supervisionado x Autossupervisionado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51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F0F4EBD2-3B82-4C0D-B887-7CEE9766A3DD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5E2C1A9B-41C1-4F19-B188-48E591247FF3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m 4" descr=""/>
          <p:cNvPicPr/>
          <p:nvPr/>
        </p:nvPicPr>
        <p:blipFill>
          <a:blip r:embed="rId1"/>
          <a:stretch/>
        </p:blipFill>
        <p:spPr>
          <a:xfrm>
            <a:off x="0" y="2472840"/>
            <a:ext cx="9143280" cy="23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Retângulo 5"/>
          <p:cNvSpPr/>
          <p:nvPr/>
        </p:nvSpPr>
        <p:spPr>
          <a:xfrm>
            <a:off x="609480" y="2560320"/>
            <a:ext cx="2873880" cy="39384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Abordagem Supervisionada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tângulo 10"/>
          <p:cNvSpPr/>
          <p:nvPr/>
        </p:nvSpPr>
        <p:spPr>
          <a:xfrm>
            <a:off x="236520" y="3031920"/>
            <a:ext cx="1658880" cy="29916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Grupo de imagens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tângulo 11"/>
          <p:cNvSpPr/>
          <p:nvPr/>
        </p:nvSpPr>
        <p:spPr>
          <a:xfrm>
            <a:off x="1655640" y="3840480"/>
            <a:ext cx="779040" cy="39384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Anotação Manual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tângulo 14"/>
          <p:cNvSpPr/>
          <p:nvPr/>
        </p:nvSpPr>
        <p:spPr>
          <a:xfrm>
            <a:off x="2866680" y="2900520"/>
            <a:ext cx="876960" cy="29916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Rotulação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tângulo 15"/>
          <p:cNvSpPr/>
          <p:nvPr/>
        </p:nvSpPr>
        <p:spPr>
          <a:xfrm>
            <a:off x="3811680" y="3842280"/>
            <a:ext cx="876960" cy="39384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Diferente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tângulo 16"/>
          <p:cNvSpPr/>
          <p:nvPr/>
        </p:nvSpPr>
        <p:spPr>
          <a:xfrm>
            <a:off x="3811680" y="3277440"/>
            <a:ext cx="876960" cy="39384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Similar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tângulo 17"/>
          <p:cNvSpPr/>
          <p:nvPr/>
        </p:nvSpPr>
        <p:spPr>
          <a:xfrm>
            <a:off x="4093920" y="2544480"/>
            <a:ext cx="4651560" cy="39384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Como podemos gerar pares automaticamente 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tângulo 18"/>
          <p:cNvSpPr/>
          <p:nvPr/>
        </p:nvSpPr>
        <p:spPr>
          <a:xfrm>
            <a:off x="4537080" y="2934000"/>
            <a:ext cx="1658880" cy="29916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Grupo de imagens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tângulo 19"/>
          <p:cNvSpPr/>
          <p:nvPr/>
        </p:nvSpPr>
        <p:spPr>
          <a:xfrm>
            <a:off x="7399440" y="2842200"/>
            <a:ext cx="876960" cy="29916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Rotulação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tângulo 20"/>
          <p:cNvSpPr/>
          <p:nvPr/>
        </p:nvSpPr>
        <p:spPr>
          <a:xfrm>
            <a:off x="8351280" y="3229200"/>
            <a:ext cx="754560" cy="39384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Similar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tângulo 22"/>
          <p:cNvSpPr/>
          <p:nvPr/>
        </p:nvSpPr>
        <p:spPr>
          <a:xfrm>
            <a:off x="8326800" y="3866040"/>
            <a:ext cx="779040" cy="39384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Diferente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m 2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Imagem 6" descr=""/>
          <p:cNvPicPr/>
          <p:nvPr/>
        </p:nvPicPr>
        <p:blipFill>
          <a:blip r:embed="rId1"/>
          <a:stretch/>
        </p:blipFill>
        <p:spPr>
          <a:xfrm>
            <a:off x="1403280" y="2358360"/>
            <a:ext cx="6382080" cy="163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Autossupervisionado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69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6E9D51D6-D3FF-4626-918E-B56E3CD4A7F2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CDD302A7-CF8D-46DC-8F1B-4C09C6FAB280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tângulo 5"/>
          <p:cNvSpPr/>
          <p:nvPr/>
        </p:nvSpPr>
        <p:spPr>
          <a:xfrm>
            <a:off x="1315440" y="3597480"/>
            <a:ext cx="2004840" cy="39384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Imagem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tângulo 12"/>
          <p:cNvSpPr/>
          <p:nvPr/>
        </p:nvSpPr>
        <p:spPr>
          <a:xfrm>
            <a:off x="4990680" y="3348720"/>
            <a:ext cx="2496960" cy="59544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Representação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CaixaDeTexto 13"/>
          <p:cNvSpPr/>
          <p:nvPr/>
        </p:nvSpPr>
        <p:spPr>
          <a:xfrm>
            <a:off x="843120" y="1829880"/>
            <a:ext cx="3286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Algum método de representação: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5" name="Imagem 23" descr=""/>
          <p:cNvPicPr/>
          <p:nvPr/>
        </p:nvPicPr>
        <p:blipFill>
          <a:blip r:embed="rId2"/>
          <a:stretch/>
        </p:blipFill>
        <p:spPr>
          <a:xfrm>
            <a:off x="1320120" y="4533840"/>
            <a:ext cx="6453360" cy="142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CaixaDeTexto 24"/>
          <p:cNvSpPr/>
          <p:nvPr/>
        </p:nvSpPr>
        <p:spPr>
          <a:xfrm>
            <a:off x="849600" y="4269600"/>
            <a:ext cx="4533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Algum mecanismo para calcular a similaridade: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tângulo 25"/>
          <p:cNvSpPr/>
          <p:nvPr/>
        </p:nvSpPr>
        <p:spPr>
          <a:xfrm>
            <a:off x="1713240" y="4834440"/>
            <a:ext cx="2651400" cy="735840"/>
          </a:xfrm>
          <a:prstGeom prst="rect">
            <a:avLst/>
          </a:prstGeom>
          <a:solidFill>
            <a:srgbClr val="ffffff"/>
          </a:solidFill>
          <a:ln w="158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similaridade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Imagem 2" descr=""/>
          <p:cNvPicPr/>
          <p:nvPr/>
        </p:nvPicPr>
        <p:blipFill>
          <a:blip r:embed="rId3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Passo a passo : Estrutura do Dataset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80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7339F408-1326-449B-9B37-F4681ABFBD9E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47AC95EF-8F44-40C1-BBC7-1E4B6593FDBE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m 4" descr=""/>
          <p:cNvPicPr/>
          <p:nvPr/>
        </p:nvPicPr>
        <p:blipFill>
          <a:blip r:embed="rId1"/>
          <a:stretch/>
        </p:blipFill>
        <p:spPr>
          <a:xfrm>
            <a:off x="1540800" y="1950480"/>
            <a:ext cx="2369880" cy="180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Retângulo 10"/>
          <p:cNvSpPr/>
          <p:nvPr/>
        </p:nvSpPr>
        <p:spPr>
          <a:xfrm>
            <a:off x="1049760" y="1908000"/>
            <a:ext cx="3351960" cy="29556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Dataset de imagens brutas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Imagem 14" descr=""/>
          <p:cNvPicPr/>
          <p:nvPr/>
        </p:nvPicPr>
        <p:blipFill>
          <a:blip r:embed="rId2"/>
          <a:stretch/>
        </p:blipFill>
        <p:spPr>
          <a:xfrm>
            <a:off x="3645720" y="3050280"/>
            <a:ext cx="2800800" cy="179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Seta: Dobrada para Cima 15"/>
          <p:cNvSpPr/>
          <p:nvPr/>
        </p:nvSpPr>
        <p:spPr>
          <a:xfrm flipV="1">
            <a:off x="3645720" y="2511360"/>
            <a:ext cx="1586160" cy="60192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accent1"/>
          </a:solidFill>
          <a:ln w="1584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87" name="Retângulo 16"/>
          <p:cNvSpPr/>
          <p:nvPr/>
        </p:nvSpPr>
        <p:spPr>
          <a:xfrm>
            <a:off x="4334760" y="3157920"/>
            <a:ext cx="1497960" cy="229680"/>
          </a:xfrm>
          <a:prstGeom prst="rect">
            <a:avLst/>
          </a:prstGeom>
          <a:solidFill>
            <a:srgbClr val="f5f5f5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288" name="CaixaDeTexto 17"/>
          <p:cNvSpPr/>
          <p:nvPr/>
        </p:nvSpPr>
        <p:spPr>
          <a:xfrm>
            <a:off x="4262760" y="3081960"/>
            <a:ext cx="1642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Conjunto treino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etângulo 18"/>
          <p:cNvSpPr/>
          <p:nvPr/>
        </p:nvSpPr>
        <p:spPr>
          <a:xfrm>
            <a:off x="4021560" y="3852360"/>
            <a:ext cx="1986480" cy="219240"/>
          </a:xfrm>
          <a:prstGeom prst="rect">
            <a:avLst/>
          </a:prstGeom>
          <a:solidFill>
            <a:srgbClr val="f5f5f5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Tam. lote=2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CaixaDeTexto 19"/>
          <p:cNvSpPr/>
          <p:nvPr/>
        </p:nvSpPr>
        <p:spPr>
          <a:xfrm>
            <a:off x="4305240" y="4746240"/>
            <a:ext cx="15570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Obs: Lote paper original = 8192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1" name="Imagem 2" descr=""/>
          <p:cNvPicPr/>
          <p:nvPr/>
        </p:nvPicPr>
        <p:blipFill>
          <a:blip r:embed="rId3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Passo a passo: Aumento de dados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93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233AC45A-7337-48EE-8A36-99A39CB9E116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F4918961-548C-456A-B964-CCA7C61DFFB4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Picture 2" descr="Aumento aleatório na imagem"/>
          <p:cNvPicPr/>
          <p:nvPr/>
        </p:nvPicPr>
        <p:blipFill>
          <a:blip r:embed="rId1"/>
          <a:stretch/>
        </p:blipFill>
        <p:spPr>
          <a:xfrm>
            <a:off x="2319480" y="2395440"/>
            <a:ext cx="4504680" cy="20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Retângulo 2"/>
          <p:cNvSpPr/>
          <p:nvPr/>
        </p:nvSpPr>
        <p:spPr>
          <a:xfrm>
            <a:off x="2192760" y="2395440"/>
            <a:ext cx="3167640" cy="33012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Transformações aleatórias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tângulo 5"/>
          <p:cNvSpPr/>
          <p:nvPr/>
        </p:nvSpPr>
        <p:spPr>
          <a:xfrm>
            <a:off x="3759120" y="3009960"/>
            <a:ext cx="1328400" cy="1036440"/>
          </a:xfrm>
          <a:prstGeom prst="rect">
            <a:avLst/>
          </a:prstGeom>
          <a:solidFill>
            <a:srgbClr val="dae8fc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Aumento de dados (T)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etângulo 6"/>
          <p:cNvSpPr/>
          <p:nvPr/>
        </p:nvSpPr>
        <p:spPr>
          <a:xfrm>
            <a:off x="2192760" y="4233240"/>
            <a:ext cx="1337040" cy="22824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Imagem original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tângulo 12"/>
          <p:cNvSpPr/>
          <p:nvPr/>
        </p:nvSpPr>
        <p:spPr>
          <a:xfrm>
            <a:off x="5217120" y="4216320"/>
            <a:ext cx="1690920" cy="22824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Imagem transformada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CaixaDeTexto 13"/>
          <p:cNvSpPr/>
          <p:nvPr/>
        </p:nvSpPr>
        <p:spPr>
          <a:xfrm>
            <a:off x="1331640" y="4952880"/>
            <a:ext cx="6627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7d12ba"/>
                </a:solidFill>
                <a:effectLst/>
                <a:uFillTx/>
                <a:latin typeface="SFMono-Regular"/>
                <a:ea typeface="DejaVu Sans"/>
              </a:rPr>
              <a:t>random (crop + flip + color jitter + grayscale)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2" name="Imagem 4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Passo a passo: Preparar pares similares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04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59429306-97FA-4CD2-B255-CEFD7EC9B823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4D743CFB-0A23-4DB3-828B-1ED1EFE5BE7E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Imagem 10" descr=""/>
          <p:cNvPicPr/>
          <p:nvPr/>
        </p:nvPicPr>
        <p:blipFill>
          <a:blip r:embed="rId1"/>
          <a:stretch/>
        </p:blipFill>
        <p:spPr>
          <a:xfrm>
            <a:off x="1136160" y="2471760"/>
            <a:ext cx="6916680" cy="321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Retângulo 11"/>
          <p:cNvSpPr/>
          <p:nvPr/>
        </p:nvSpPr>
        <p:spPr>
          <a:xfrm>
            <a:off x="1244520" y="3674520"/>
            <a:ext cx="829080" cy="25308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800" strike="noStrike" u="none">
                <a:solidFill>
                  <a:srgbClr val="939393"/>
                </a:solidFill>
                <a:effectLst/>
                <a:uFillTx/>
                <a:latin typeface="Calibri"/>
                <a:ea typeface="DejaVu Sans"/>
              </a:rPr>
              <a:t>Lote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tângulo 14"/>
          <p:cNvSpPr/>
          <p:nvPr/>
        </p:nvSpPr>
        <p:spPr>
          <a:xfrm>
            <a:off x="2074320" y="5283720"/>
            <a:ext cx="1116720" cy="25308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100" strike="noStrike" u="none">
                <a:solidFill>
                  <a:srgbClr val="939393"/>
                </a:solidFill>
                <a:effectLst/>
                <a:uFillTx/>
                <a:latin typeface="Calibri"/>
                <a:ea typeface="DejaVu Sans"/>
              </a:rPr>
              <a:t>Imagens Brutas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tângulo 16"/>
          <p:cNvSpPr/>
          <p:nvPr/>
        </p:nvSpPr>
        <p:spPr>
          <a:xfrm>
            <a:off x="4961520" y="5282280"/>
            <a:ext cx="1116720" cy="25308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100" strike="noStrike" u="none">
                <a:solidFill>
                  <a:srgbClr val="939393"/>
                </a:solidFill>
                <a:effectLst/>
                <a:uFillTx/>
                <a:latin typeface="Calibri"/>
                <a:ea typeface="DejaVu Sans"/>
              </a:rPr>
              <a:t>Dados treino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tângulo 17"/>
          <p:cNvSpPr/>
          <p:nvPr/>
        </p:nvSpPr>
        <p:spPr>
          <a:xfrm>
            <a:off x="6663240" y="3648960"/>
            <a:ext cx="1473480" cy="27756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100" strike="noStrike" u="none">
                <a:solidFill>
                  <a:srgbClr val="939393"/>
                </a:solidFill>
                <a:effectLst/>
                <a:uFillTx/>
                <a:latin typeface="Calibri"/>
                <a:ea typeface="DejaVu Sans"/>
              </a:rPr>
              <a:t>Dados Aumentados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tângulo 18"/>
          <p:cNvSpPr/>
          <p:nvPr/>
        </p:nvSpPr>
        <p:spPr>
          <a:xfrm>
            <a:off x="3228840" y="3556080"/>
            <a:ext cx="957960" cy="634320"/>
          </a:xfrm>
          <a:prstGeom prst="rect">
            <a:avLst/>
          </a:prstGeom>
          <a:solidFill>
            <a:srgbClr val="f9f7ed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13" name="Retângulo 20"/>
          <p:cNvSpPr/>
          <p:nvPr/>
        </p:nvSpPr>
        <p:spPr>
          <a:xfrm>
            <a:off x="3279600" y="3751920"/>
            <a:ext cx="907200" cy="253080"/>
          </a:xfrm>
          <a:prstGeom prst="rect">
            <a:avLst/>
          </a:prstGeom>
          <a:solidFill>
            <a:srgbClr val="ffffff">
              <a:alpha val="14000"/>
            </a:srgbClr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100" strike="noStrike" u="none">
                <a:solidFill>
                  <a:srgbClr val="939393"/>
                </a:solidFill>
                <a:effectLst/>
                <a:uFillTx/>
                <a:latin typeface="Calibri"/>
                <a:ea typeface="DejaVu Sans"/>
              </a:rPr>
              <a:t>Aumento Aleatório (T)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tângulo 23"/>
          <p:cNvSpPr/>
          <p:nvPr/>
        </p:nvSpPr>
        <p:spPr>
          <a:xfrm>
            <a:off x="5837040" y="3154680"/>
            <a:ext cx="339480" cy="182160"/>
          </a:xfrm>
          <a:prstGeom prst="rect">
            <a:avLst/>
          </a:prstGeom>
          <a:solidFill>
            <a:srgbClr val="f9f7ed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15" name="CaixaDeTexto 24"/>
          <p:cNvSpPr/>
          <p:nvPr/>
        </p:nvSpPr>
        <p:spPr>
          <a:xfrm>
            <a:off x="5774040" y="3106800"/>
            <a:ext cx="459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9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Par 1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tângulo 26"/>
          <p:cNvSpPr/>
          <p:nvPr/>
        </p:nvSpPr>
        <p:spPr>
          <a:xfrm>
            <a:off x="5837040" y="4460400"/>
            <a:ext cx="339480" cy="156600"/>
          </a:xfrm>
          <a:prstGeom prst="rect">
            <a:avLst/>
          </a:prstGeom>
          <a:solidFill>
            <a:srgbClr val="f9f7ed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17" name="CaixaDeTexto 25"/>
          <p:cNvSpPr/>
          <p:nvPr/>
        </p:nvSpPr>
        <p:spPr>
          <a:xfrm>
            <a:off x="5774040" y="4423680"/>
            <a:ext cx="459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9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Par 2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m 2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Passo a passo: Obtendo representações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20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B454441C-03C0-41E9-A679-97C0B00356CD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9C3279EA-9134-4FE7-8A4B-85886A4C961B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Imagem 6" descr=""/>
          <p:cNvPicPr/>
          <p:nvPr/>
        </p:nvPicPr>
        <p:blipFill>
          <a:blip r:embed="rId1"/>
          <a:stretch/>
        </p:blipFill>
        <p:spPr>
          <a:xfrm>
            <a:off x="1356840" y="1753920"/>
            <a:ext cx="6049080" cy="239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Imagem 13" descr=""/>
          <p:cNvPicPr/>
          <p:nvPr/>
        </p:nvPicPr>
        <p:blipFill>
          <a:blip r:embed="rId2"/>
          <a:stretch/>
        </p:blipFill>
        <p:spPr>
          <a:xfrm>
            <a:off x="3137760" y="4045320"/>
            <a:ext cx="2730600" cy="19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Retângulo 15"/>
          <p:cNvSpPr/>
          <p:nvPr/>
        </p:nvSpPr>
        <p:spPr>
          <a:xfrm>
            <a:off x="2946240" y="3677760"/>
            <a:ext cx="842400" cy="33588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26" name="CaixaDeTexto 19"/>
          <p:cNvSpPr/>
          <p:nvPr/>
        </p:nvSpPr>
        <p:spPr>
          <a:xfrm>
            <a:off x="2964240" y="3647160"/>
            <a:ext cx="9122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Imgs. 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Transformadas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etângulo 21"/>
          <p:cNvSpPr/>
          <p:nvPr/>
        </p:nvSpPr>
        <p:spPr>
          <a:xfrm>
            <a:off x="3789720" y="3677760"/>
            <a:ext cx="726480" cy="30708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28" name="CaixaDeTexto 22"/>
          <p:cNvSpPr/>
          <p:nvPr/>
        </p:nvSpPr>
        <p:spPr>
          <a:xfrm>
            <a:off x="3751560" y="3651120"/>
            <a:ext cx="7477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Codificador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Base f(.)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tângulo 27"/>
          <p:cNvSpPr/>
          <p:nvPr/>
        </p:nvSpPr>
        <p:spPr>
          <a:xfrm>
            <a:off x="3241080" y="4161960"/>
            <a:ext cx="2119320" cy="244800"/>
          </a:xfrm>
          <a:prstGeom prst="rect">
            <a:avLst/>
          </a:prstGeom>
          <a:solidFill>
            <a:srgbClr val="f9f7ed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900" strike="noStrike" u="sng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Codificador escolhido no artigo original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tângulo 28"/>
          <p:cNvSpPr/>
          <p:nvPr/>
        </p:nvSpPr>
        <p:spPr>
          <a:xfrm>
            <a:off x="5257800" y="3744000"/>
            <a:ext cx="669960" cy="224640"/>
          </a:xfrm>
          <a:prstGeom prst="rect">
            <a:avLst/>
          </a:prstGeom>
          <a:solidFill>
            <a:srgbClr val="f5f5f5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31" name="CaixaDeTexto 29"/>
          <p:cNvSpPr/>
          <p:nvPr/>
        </p:nvSpPr>
        <p:spPr>
          <a:xfrm>
            <a:off x="5079960" y="3658680"/>
            <a:ext cx="10357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cecdcd"/>
                </a:solidFill>
                <a:effectLst/>
                <a:uFillTx/>
                <a:latin typeface="Arial"/>
                <a:ea typeface="DejaVu Sans"/>
              </a:rPr>
              <a:t>Cabeça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cecdcd"/>
                </a:solidFill>
                <a:effectLst/>
                <a:uFillTx/>
                <a:latin typeface="Arial"/>
                <a:ea typeface="DejaVu Sans"/>
              </a:rPr>
              <a:t>projeção g(.)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tângulo 30"/>
          <p:cNvSpPr/>
          <p:nvPr/>
        </p:nvSpPr>
        <p:spPr>
          <a:xfrm>
            <a:off x="6746400" y="2646720"/>
            <a:ext cx="524880" cy="232920"/>
          </a:xfrm>
          <a:prstGeom prst="rect">
            <a:avLst/>
          </a:prstGeom>
          <a:solidFill>
            <a:srgbClr val="f5f5f5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33" name="CaixaDeTexto 31"/>
          <p:cNvSpPr/>
          <p:nvPr/>
        </p:nvSpPr>
        <p:spPr>
          <a:xfrm>
            <a:off x="6613200" y="2568960"/>
            <a:ext cx="7873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cecdcd"/>
                </a:solidFill>
                <a:effectLst/>
                <a:uFillTx/>
                <a:latin typeface="Arial"/>
                <a:ea typeface="DejaVu Sans"/>
              </a:rPr>
              <a:t>Maximiza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cecdcd"/>
                </a:solidFill>
                <a:effectLst/>
                <a:uFillTx/>
                <a:latin typeface="Arial"/>
                <a:ea typeface="DejaVu Sans"/>
              </a:rPr>
              <a:t>Similaridade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tângulo 32"/>
          <p:cNvSpPr/>
          <p:nvPr/>
        </p:nvSpPr>
        <p:spPr>
          <a:xfrm>
            <a:off x="3867480" y="2294640"/>
            <a:ext cx="542880" cy="244080"/>
          </a:xfrm>
          <a:prstGeom prst="rect">
            <a:avLst/>
          </a:prstGeom>
          <a:solidFill>
            <a:srgbClr val="cdeb8b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35" name="CaixaDeTexto 33"/>
          <p:cNvSpPr/>
          <p:nvPr/>
        </p:nvSpPr>
        <p:spPr>
          <a:xfrm>
            <a:off x="3875760" y="2322000"/>
            <a:ext cx="554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Codific.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tângulo 34"/>
          <p:cNvSpPr/>
          <p:nvPr/>
        </p:nvSpPr>
        <p:spPr>
          <a:xfrm>
            <a:off x="3854160" y="2967120"/>
            <a:ext cx="542880" cy="244080"/>
          </a:xfrm>
          <a:prstGeom prst="rect">
            <a:avLst/>
          </a:prstGeom>
          <a:solidFill>
            <a:srgbClr val="cdeb8b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37" name="CaixaDeTexto 35"/>
          <p:cNvSpPr/>
          <p:nvPr/>
        </p:nvSpPr>
        <p:spPr>
          <a:xfrm>
            <a:off x="3875760" y="2969640"/>
            <a:ext cx="554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Codific.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8" name="Imagem 2" descr=""/>
          <p:cNvPicPr/>
          <p:nvPr/>
        </p:nvPicPr>
        <p:blipFill>
          <a:blip r:embed="rId3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Passo a passo: Cabeça de Projeção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40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5F349D4F-6DB8-4BD6-A873-34E45B4DA0F3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DC71E722-583D-4CEB-91A9-5CBF03DCFAE9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m 4" descr=""/>
          <p:cNvPicPr/>
          <p:nvPr/>
        </p:nvPicPr>
        <p:blipFill>
          <a:blip r:embed="rId1"/>
          <a:stretch/>
        </p:blipFill>
        <p:spPr>
          <a:xfrm>
            <a:off x="952200" y="2489400"/>
            <a:ext cx="7073640" cy="332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Retângulo 10"/>
          <p:cNvSpPr/>
          <p:nvPr/>
        </p:nvSpPr>
        <p:spPr>
          <a:xfrm>
            <a:off x="4444920" y="2489400"/>
            <a:ext cx="915480" cy="19404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Representação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etângulo 11"/>
          <p:cNvSpPr/>
          <p:nvPr/>
        </p:nvSpPr>
        <p:spPr>
          <a:xfrm>
            <a:off x="7314480" y="3437640"/>
            <a:ext cx="851040" cy="35496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Maximiza 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Similaridade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CaixaDeTexto 12"/>
          <p:cNvSpPr/>
          <p:nvPr/>
        </p:nvSpPr>
        <p:spPr>
          <a:xfrm>
            <a:off x="2811600" y="4551120"/>
            <a:ext cx="912240" cy="333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Imgs. 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Transformadas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CaixaDeTexto 14"/>
          <p:cNvSpPr/>
          <p:nvPr/>
        </p:nvSpPr>
        <p:spPr>
          <a:xfrm>
            <a:off x="3678120" y="4551120"/>
            <a:ext cx="915480" cy="333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Codificador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Base f(.)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CaixaDeTexto 17"/>
          <p:cNvSpPr/>
          <p:nvPr/>
        </p:nvSpPr>
        <p:spPr>
          <a:xfrm>
            <a:off x="5361120" y="4584960"/>
            <a:ext cx="965160" cy="333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Cabeça de Projeção g(.)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CaixaDeTexto 18"/>
          <p:cNvSpPr/>
          <p:nvPr/>
        </p:nvSpPr>
        <p:spPr>
          <a:xfrm>
            <a:off x="3800520" y="3148200"/>
            <a:ext cx="618480" cy="2120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Codific.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CaixaDeTexto 19"/>
          <p:cNvSpPr/>
          <p:nvPr/>
        </p:nvSpPr>
        <p:spPr>
          <a:xfrm>
            <a:off x="3787920" y="3891960"/>
            <a:ext cx="631080" cy="21204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Codific.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CaixaDeTexto 21"/>
          <p:cNvSpPr/>
          <p:nvPr/>
        </p:nvSpPr>
        <p:spPr>
          <a:xfrm>
            <a:off x="2023560" y="3437640"/>
            <a:ext cx="792720" cy="45540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Aumento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de 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Dados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aixaDeTexto 22"/>
          <p:cNvSpPr/>
          <p:nvPr/>
        </p:nvSpPr>
        <p:spPr>
          <a:xfrm>
            <a:off x="4419720" y="5064120"/>
            <a:ext cx="915480" cy="502920"/>
          </a:xfrm>
          <a:prstGeom prst="rect">
            <a:avLst/>
          </a:prstGeom>
          <a:solidFill>
            <a:srgbClr val="f6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9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Tarefas 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9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de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9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Downstream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CaixaDeTexto 23"/>
          <p:cNvSpPr/>
          <p:nvPr/>
        </p:nvSpPr>
        <p:spPr>
          <a:xfrm>
            <a:off x="841320" y="3928680"/>
            <a:ext cx="915480" cy="333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800" strike="noStrike" u="none">
                <a:solidFill>
                  <a:srgbClr val="939393"/>
                </a:solidFill>
                <a:effectLst/>
                <a:uFillTx/>
                <a:latin typeface="Arial"/>
                <a:ea typeface="DejaVu Sans"/>
              </a:rPr>
              <a:t>Imagem Original</a:t>
            </a:r>
            <a:endParaRPr b="0" lang="pt-BR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Imagem 2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"/>
          <p:cNvSpPr/>
          <p:nvPr/>
        </p:nvSpPr>
        <p:spPr>
          <a:xfrm flipV="1">
            <a:off x="4095720" y="4559760"/>
            <a:ext cx="1595520" cy="1337760"/>
          </a:xfrm>
          <a:custGeom>
            <a:avLst/>
            <a:gdLst>
              <a:gd name="textAreaLeft" fmla="*/ 350640 w 1595520"/>
              <a:gd name="textAreaRight" fmla="*/ 1244880 w 1595520"/>
              <a:gd name="textAreaTop" fmla="*/ 294120 h 1337760"/>
              <a:gd name="textAreaBottom" fmla="*/ 1043640 h 1337760"/>
              <a:gd name="GluePoint1X" fmla="*/ 6 w 21600"/>
              <a:gd name="GluePoint1Y" fmla="*/ 10800 h 21600"/>
              <a:gd name="GluePoint2X" fmla="*/ 10800 w 21600"/>
              <a:gd name="GluePoint2Y" fmla="*/ 21600 h 21600"/>
              <a:gd name="GluePoint3X" fmla="*/ 5 w 21600"/>
              <a:gd name="GluePoint3Y" fmla="*/ 10800 h 21600"/>
              <a:gd name="GluePoint4X" fmla="*/ 10800 w 21600"/>
              <a:gd name="GluePoint4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16200" y="21600"/>
                </a:lnTo>
                <a:lnTo>
                  <a:pt x="5400" y="2160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Passo a passo: Vetores incorporação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57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C23488B2-BAA8-485F-BEEB-4EBB4ACEBB88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0568A465-A452-4A77-9293-4FBF53B41FF3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0" name="Imagem 5" descr=""/>
          <p:cNvPicPr/>
          <p:nvPr/>
        </p:nvPicPr>
        <p:blipFill>
          <a:blip r:embed="rId1"/>
          <a:stretch/>
        </p:blipFill>
        <p:spPr>
          <a:xfrm>
            <a:off x="1621440" y="2074680"/>
            <a:ext cx="5945760" cy="364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Retângulo 6"/>
          <p:cNvSpPr/>
          <p:nvPr/>
        </p:nvSpPr>
        <p:spPr>
          <a:xfrm>
            <a:off x="3454560" y="2100600"/>
            <a:ext cx="3047400" cy="36756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Embeddings Calculados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etângulo 10"/>
          <p:cNvSpPr/>
          <p:nvPr/>
        </p:nvSpPr>
        <p:spPr>
          <a:xfrm>
            <a:off x="1836360" y="3618000"/>
            <a:ext cx="1617480" cy="108864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Lote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Imagens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Aumentadas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3" name="Imagem 2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Passo a passo: Cálculo da perda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pic>
        <p:nvPicPr>
          <p:cNvPr id="365" name="Imagem 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0E835A88-C141-4AC6-AB38-EACBC999EECC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D70EEF27-534E-4B56-A8CA-110EA32474B4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9" name="Imagem 4" descr=""/>
          <p:cNvPicPr/>
          <p:nvPr/>
        </p:nvPicPr>
        <p:blipFill>
          <a:blip r:embed="rId2"/>
          <a:srcRect l="0" t="0" r="0" b="29733"/>
          <a:stretch/>
        </p:blipFill>
        <p:spPr>
          <a:xfrm>
            <a:off x="1211040" y="2030760"/>
            <a:ext cx="6400080" cy="164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CaixaDeTexto 6"/>
          <p:cNvSpPr/>
          <p:nvPr/>
        </p:nvSpPr>
        <p:spPr>
          <a:xfrm>
            <a:off x="825480" y="2030760"/>
            <a:ext cx="381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A)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1" name="Imagem 11" descr=""/>
          <p:cNvPicPr/>
          <p:nvPr/>
        </p:nvPicPr>
        <p:blipFill>
          <a:blip r:embed="rId3"/>
          <a:srcRect l="0" t="11653" r="0" b="0"/>
          <a:stretch/>
        </p:blipFill>
        <p:spPr>
          <a:xfrm>
            <a:off x="4768200" y="3741480"/>
            <a:ext cx="2503080" cy="222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Imagem 13" descr=""/>
          <p:cNvPicPr/>
          <p:nvPr/>
        </p:nvPicPr>
        <p:blipFill>
          <a:blip r:embed="rId4"/>
          <a:stretch/>
        </p:blipFill>
        <p:spPr>
          <a:xfrm>
            <a:off x="1319040" y="4010040"/>
            <a:ext cx="2795040" cy="116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Retângulo 14"/>
          <p:cNvSpPr/>
          <p:nvPr/>
        </p:nvSpPr>
        <p:spPr>
          <a:xfrm>
            <a:off x="1422360" y="2030760"/>
            <a:ext cx="4906440" cy="36864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Cálculo da similaridade das imagens aumentadas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tângulo 15"/>
          <p:cNvSpPr/>
          <p:nvPr/>
        </p:nvSpPr>
        <p:spPr>
          <a:xfrm>
            <a:off x="1422360" y="2904120"/>
            <a:ext cx="1218600" cy="368640"/>
          </a:xfrm>
          <a:prstGeom prst="rect">
            <a:avLst/>
          </a:prstGeom>
          <a:solidFill>
            <a:srgbClr val="b0e3e6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75" name="CaixaDeTexto 16"/>
          <p:cNvSpPr/>
          <p:nvPr/>
        </p:nvSpPr>
        <p:spPr>
          <a:xfrm>
            <a:off x="1422360" y="2943000"/>
            <a:ext cx="15238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Similaridade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etângulo 17"/>
          <p:cNvSpPr/>
          <p:nvPr/>
        </p:nvSpPr>
        <p:spPr>
          <a:xfrm>
            <a:off x="4595040" y="2704320"/>
            <a:ext cx="1305720" cy="664560"/>
          </a:xfrm>
          <a:prstGeom prst="rect">
            <a:avLst/>
          </a:prstGeom>
          <a:solidFill>
            <a:srgbClr val="b0e3e6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Similaridade cosseno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Passo a passo: Cálculo da perda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78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9FF777BE-A810-4253-9CCB-1AF68939DD6B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AA5F048E-79B8-480C-AA31-CF7DA7CAFE16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CaixaDeTexto 9"/>
          <p:cNvSpPr/>
          <p:nvPr/>
        </p:nvSpPr>
        <p:spPr>
          <a:xfrm>
            <a:off x="5186880" y="6054120"/>
            <a:ext cx="2936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CHAUDHARY (2020) - Adaptado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CaixaDeTexto 6"/>
          <p:cNvSpPr/>
          <p:nvPr/>
        </p:nvSpPr>
        <p:spPr>
          <a:xfrm>
            <a:off x="775080" y="1808280"/>
            <a:ext cx="7922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B)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Inter"/>
                <a:ea typeface="DejaVu Sans"/>
              </a:rPr>
              <a:t>“ </a:t>
            </a: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Inter"/>
                <a:ea typeface="DejaVu Sans"/>
              </a:rPr>
              <a:t>perda NT-Xent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Inter"/>
                <a:ea typeface="DejaVu Sans"/>
              </a:rPr>
              <a:t> ” ( </a:t>
            </a: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Inter"/>
                <a:ea typeface="DejaVu Sans"/>
              </a:rPr>
              <a:t>perda de entropia cruzada em escala de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pt-BR" sz="1800" strike="noStrike" u="none">
                <a:solidFill>
                  <a:srgbClr val="000000"/>
                </a:solidFill>
                <a:effectLst/>
                <a:uFillTx/>
                <a:latin typeface="Inter"/>
                <a:ea typeface="DejaVu Sans"/>
              </a:rPr>
              <a:t>temperatura normalizada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Inter"/>
                <a:ea typeface="DejaVu Sans"/>
              </a:rPr>
              <a:t> 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2" name="Imagem 5" descr=""/>
          <p:cNvPicPr/>
          <p:nvPr/>
        </p:nvPicPr>
        <p:blipFill>
          <a:blip r:embed="rId1"/>
          <a:stretch/>
        </p:blipFill>
        <p:spPr>
          <a:xfrm>
            <a:off x="795240" y="2677680"/>
            <a:ext cx="321084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CaixaDeTexto 10"/>
          <p:cNvSpPr/>
          <p:nvPr/>
        </p:nvSpPr>
        <p:spPr>
          <a:xfrm>
            <a:off x="958320" y="2419920"/>
            <a:ext cx="2884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Imagens Aumentadas no lote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CaixaDeTexto 12"/>
          <p:cNvSpPr/>
          <p:nvPr/>
        </p:nvSpPr>
        <p:spPr>
          <a:xfrm>
            <a:off x="1206720" y="3416040"/>
            <a:ext cx="650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Par 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CaixaDeTexto 15"/>
          <p:cNvSpPr/>
          <p:nvPr/>
        </p:nvSpPr>
        <p:spPr>
          <a:xfrm>
            <a:off x="2932200" y="3413520"/>
            <a:ext cx="650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Par 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6" name="Imagem 17" descr=""/>
          <p:cNvPicPr/>
          <p:nvPr/>
        </p:nvPicPr>
        <p:blipFill>
          <a:blip r:embed="rId2"/>
          <a:stretch/>
        </p:blipFill>
        <p:spPr>
          <a:xfrm>
            <a:off x="30240" y="3724560"/>
            <a:ext cx="6305760" cy="232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7" name="Imagem 21" descr=""/>
          <p:cNvPicPr/>
          <p:nvPr/>
        </p:nvPicPr>
        <p:blipFill>
          <a:blip r:embed="rId3"/>
          <a:stretch/>
        </p:blipFill>
        <p:spPr>
          <a:xfrm>
            <a:off x="5796720" y="2804040"/>
            <a:ext cx="2949840" cy="177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CaixaDeTexto 22"/>
          <p:cNvSpPr/>
          <p:nvPr/>
        </p:nvSpPr>
        <p:spPr>
          <a:xfrm>
            <a:off x="4992840" y="3913200"/>
            <a:ext cx="9867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1º Imagem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CaixaDeTexto 23"/>
          <p:cNvSpPr/>
          <p:nvPr/>
        </p:nvSpPr>
        <p:spPr>
          <a:xfrm>
            <a:off x="7031880" y="4509000"/>
            <a:ext cx="12124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Probabilidade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eta: para Baixo 25"/>
          <p:cNvSpPr/>
          <p:nvPr/>
        </p:nvSpPr>
        <p:spPr>
          <a:xfrm>
            <a:off x="2153880" y="3501000"/>
            <a:ext cx="353880" cy="13147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4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91" name="Seta: Dobrada para Cima 26"/>
          <p:cNvSpPr/>
          <p:nvPr/>
        </p:nvSpPr>
        <p:spPr>
          <a:xfrm>
            <a:off x="6441480" y="4816800"/>
            <a:ext cx="1320120" cy="7110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accent1"/>
          </a:solidFill>
          <a:ln w="1584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pic>
        <p:nvPicPr>
          <p:cNvPr id="392" name="Imagem 2" descr=""/>
          <p:cNvPicPr/>
          <p:nvPr/>
        </p:nvPicPr>
        <p:blipFill>
          <a:blip r:embed="rId4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Passo a passo: Cálculo da perda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94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3134908D-E0B6-4AA8-B631-BC234821FF31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25E90F73-3F0B-4B98-8E0E-CF89C0E236A8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6" name="Imagem 15" descr=""/>
          <p:cNvPicPr/>
          <p:nvPr/>
        </p:nvPicPr>
        <p:blipFill>
          <a:blip r:embed="rId1"/>
          <a:stretch/>
        </p:blipFill>
        <p:spPr>
          <a:xfrm>
            <a:off x="236520" y="4449600"/>
            <a:ext cx="8805240" cy="186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7" name="Imagem 11" descr=""/>
          <p:cNvPicPr/>
          <p:nvPr/>
        </p:nvPicPr>
        <p:blipFill>
          <a:blip r:embed="rId2"/>
          <a:stretch/>
        </p:blipFill>
        <p:spPr>
          <a:xfrm>
            <a:off x="0" y="2146320"/>
            <a:ext cx="9143280" cy="246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8" name="Imagem 2" descr=""/>
          <p:cNvPicPr/>
          <p:nvPr/>
        </p:nvPicPr>
        <p:blipFill>
          <a:blip r:embed="rId3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Passo a passo: Perda total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00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05E30432-5960-4B21-8F95-FB2131205310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A1CB7ED1-9BF2-40BA-BC16-C8E2B5CD9F72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Imagem 4" descr=""/>
          <p:cNvPicPr/>
          <p:nvPr/>
        </p:nvPicPr>
        <p:blipFill>
          <a:blip r:embed="rId1"/>
          <a:stretch/>
        </p:blipFill>
        <p:spPr>
          <a:xfrm>
            <a:off x="0" y="2325240"/>
            <a:ext cx="9143280" cy="350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CaixaDeTexto 5"/>
          <p:cNvSpPr/>
          <p:nvPr/>
        </p:nvSpPr>
        <p:spPr>
          <a:xfrm>
            <a:off x="857520" y="1896480"/>
            <a:ext cx="5580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Calcula a perda em todos os pares do lote e extrai a média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tângulo 6"/>
          <p:cNvSpPr/>
          <p:nvPr/>
        </p:nvSpPr>
        <p:spPr>
          <a:xfrm>
            <a:off x="1752480" y="3547440"/>
            <a:ext cx="1802520" cy="34632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Perda Par 1 (k=1)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Retângulo 9"/>
          <p:cNvSpPr/>
          <p:nvPr/>
        </p:nvSpPr>
        <p:spPr>
          <a:xfrm>
            <a:off x="6070680" y="3573000"/>
            <a:ext cx="1802520" cy="346320"/>
          </a:xfrm>
          <a:prstGeom prst="rect">
            <a:avLst/>
          </a:prstGeom>
          <a:solidFill>
            <a:srgbClr val="ffffff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pt-BR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Perda Par 1 (k=2)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6" name="Imagem 2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" descr=""/>
          <p:cNvPicPr/>
          <p:nvPr/>
        </p:nvPicPr>
        <p:blipFill>
          <a:blip r:embed="rId1"/>
          <a:stretch/>
        </p:blipFill>
        <p:spPr>
          <a:xfrm>
            <a:off x="807120" y="2013480"/>
            <a:ext cx="7562520" cy="431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SwAV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09" name="CaixaDeTexto 3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tângulo 33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26799B35-A2E5-4A82-BB7E-C4462AA90540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090E1A4B-A6DA-4CA6-89E1-A02943E5D526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m 20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SwAV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13" name="CaixaDeTexto 38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tângulo 37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9E779836-A482-4758-821C-07EC719F0C0E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3B40A815-2A81-4ED7-A56F-F124C0C7D2BE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m 22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" descr=""/>
          <p:cNvPicPr/>
          <p:nvPr/>
        </p:nvPicPr>
        <p:blipFill>
          <a:blip r:embed="rId2"/>
          <a:stretch/>
        </p:blipFill>
        <p:spPr>
          <a:xfrm>
            <a:off x="1783800" y="2340000"/>
            <a:ext cx="5416200" cy="304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CaixaDeTexto 39"/>
          <p:cNvSpPr/>
          <p:nvPr/>
        </p:nvSpPr>
        <p:spPr>
          <a:xfrm>
            <a:off x="5186880" y="5910120"/>
            <a:ext cx="2936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DejaVu Sans"/>
              </a:rPr>
              <a:t>FONTE: FACEBOOK (2021) - https://github.com/facebookresearch/swav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822960" y="758880"/>
            <a:ext cx="7543080" cy="356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pt-BR" sz="72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1ª Etapa </a:t>
            </a:r>
            <a:br>
              <a:rPr sz="7200"/>
            </a:br>
            <a:r>
              <a:rPr b="0" lang="pt-BR" sz="3600" spc="-51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 Light"/>
              </a:rPr>
              <a:t>Emprego de aprendizado supervisionado e aumento de dados para Reconhecimento da Fala Disártrica</a:t>
            </a:r>
            <a:endParaRPr b="0" lang="en-US" sz="36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subTitle"/>
          </p:nvPr>
        </p:nvSpPr>
        <p:spPr>
          <a:xfrm>
            <a:off x="825120" y="4455720"/>
            <a:ext cx="75430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2400" spc="198" strike="noStrike" u="none" cap="all">
                <a:solidFill>
                  <a:schemeClr val="dk2"/>
                </a:solidFill>
                <a:effectLst/>
                <a:uFillTx/>
                <a:latin typeface="Calibri Light"/>
              </a:rPr>
              <a:t>Escolha de métodos de aumento, explanação sobre o artigo: </a:t>
            </a:r>
            <a:r>
              <a:rPr b="1" lang="pt-BR" sz="2400" strike="noStrike" u="none" cap="all">
                <a:solidFill>
                  <a:srgbClr val="211c21"/>
                </a:solidFill>
                <a:effectLst/>
                <a:uFillTx/>
                <a:latin typeface="Hanken Grotesk"/>
                <a:ea typeface="Hanken Grotesk"/>
              </a:rPr>
              <a:t>Explorando Métodos Alternativos de Aumento de Dados em Sistemas de Reconhecimento Automático de fala Disártrica”</a:t>
            </a:r>
            <a:r>
              <a:rPr b="0" lang="pt-BR" sz="2400" spc="198" strike="noStrike" u="none" cap="all">
                <a:solidFill>
                  <a:schemeClr val="dk2"/>
                </a:solidFill>
                <a:effectLst/>
                <a:uFillTx/>
                <a:latin typeface="Calibri Light"/>
                <a:ea typeface="Hanken Grotesk"/>
              </a:rPr>
              <a:t> de Gracelli e Almeida (2024), apresentado na CBMS-2024.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0" name="Imagem 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1" name="Agrupar 4"/>
          <p:cNvGrpSpPr/>
          <p:nvPr/>
        </p:nvGrpSpPr>
        <p:grpSpPr>
          <a:xfrm>
            <a:off x="236520" y="6422400"/>
            <a:ext cx="5451840" cy="250200"/>
            <a:chOff x="236520" y="6422400"/>
            <a:chExt cx="5451840" cy="250200"/>
          </a:xfrm>
        </p:grpSpPr>
        <p:sp>
          <p:nvSpPr>
            <p:cNvPr id="422" name="CaixaDeTexto 5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rgbClr val="ffffff"/>
                  </a:solidFill>
                  <a:effectLst/>
                  <a:uFillTx/>
                  <a:latin typeface="Calibri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Retângulo 6"/>
            <p:cNvSpPr/>
            <p:nvPr/>
          </p:nvSpPr>
          <p:spPr>
            <a:xfrm>
              <a:off x="23652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EBA0D134-A381-42FF-93DF-2DBB1091F579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3860A99E-A187-41B8-B2E7-7F95273161BD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</a:pPr>
            <a:r>
              <a:rPr b="0" lang="pt-BR" sz="2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Escolha dos métodos de aumento: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Baseada no artigo “</a:t>
            </a:r>
            <a:r>
              <a:rPr b="1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Explorando Métodos Alternativos de Aumento de Dados em Sistemas de Reconhecimento Automático de fala Disártrica”</a:t>
            </a: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Hanken Grotesk"/>
              </a:rPr>
              <a:t> de Gracelli e Almeida (2024), apresentado na CBMS-2024.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Hanken Grotesk"/>
              </a:rPr>
              <a:t>Aumentos baseados nas características das falas disártricas;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algn="ctr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Hanken Grotesk"/>
              </a:rPr>
              <a:t>Fala mais lenta – Inserção de dilatação temporal;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7000" indent="-182880" algn="ctr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Hanken Grotesk"/>
              </a:rPr>
              <a:t>Gaps espectrais (oclusão espectral) causados pela dificuldade de articulação.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etângulo: Cantos Arredondados 10"/>
          <p:cNvSpPr/>
          <p:nvPr/>
        </p:nvSpPr>
        <p:spPr>
          <a:xfrm>
            <a:off x="1684440" y="4783680"/>
            <a:ext cx="6053400" cy="990720"/>
          </a:xfrm>
          <a:prstGeom prst="roundRect">
            <a:avLst>
              <a:gd name="adj" fmla="val 16667"/>
            </a:avLst>
          </a:prstGeom>
          <a:solidFill>
            <a:srgbClr val="00b050">
              <a:alpha val="30000"/>
            </a:srgbClr>
          </a:solidFill>
          <a:ln w="15840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1ª Etapa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27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B2B8C774-2345-460B-A6AF-F9ADF48F7F8A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517360BC-0E15-43CD-96BF-F5F80CEBF168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eta: para Baixo 11"/>
          <p:cNvSpPr/>
          <p:nvPr/>
        </p:nvSpPr>
        <p:spPr>
          <a:xfrm>
            <a:off x="3879000" y="4129200"/>
            <a:ext cx="528840" cy="519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58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pic>
        <p:nvPicPr>
          <p:cNvPr id="430" name="Imagem 4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36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Visão Geral: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-182880" algn="just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pt-BR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Breve apresentação dos conceitos e referências explorados no artigo base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1ª Etapa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33" name="CaixaDeTexto 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etângulo 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BD4E2162-04B4-4132-AEF0-AF93B2793309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D641B426-89F5-48F6-A7A9-53D232F3529C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5" name="Imagem 4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/>
          </p:nvPr>
        </p:nvSpPr>
        <p:spPr>
          <a:xfrm>
            <a:off x="446760" y="3845520"/>
            <a:ext cx="4075560" cy="11394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91440" bIns="91440" anchor="t">
            <a:noAutofit/>
          </a:bodyPr>
          <a:p>
            <a:pPr indent="0" defTabSz="457200">
              <a:lnSpc>
                <a:spcPct val="15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Transformadores de Visão (ViT) empregam mecanismos de atenção para permitir que a rede se concentre em partes específicas de imagens, alcançando resultados excepcionais em tarefas de classificação.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/>
          </p:nvPr>
        </p:nvSpPr>
        <p:spPr>
          <a:xfrm>
            <a:off x="4613400" y="2230200"/>
            <a:ext cx="4070520" cy="113976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91440" bIns="91440" anchor="t">
            <a:noAutofit/>
          </a:bodyPr>
          <a:p>
            <a:pPr indent="0" defTabSz="457200">
              <a:lnSpc>
                <a:spcPct val="15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Mnih et al. introduziram um modelo de atenção recorrente para classificação de imagens, permitindo atenção sequencial a diferentes regiões da imagem para capturar características informativas.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title"/>
          </p:nvPr>
        </p:nvSpPr>
        <p:spPr>
          <a:xfrm>
            <a:off x="457200" y="1122120"/>
            <a:ext cx="822672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Mecanismos de Atenção</a:t>
            </a:r>
            <a:br>
              <a:rPr sz="2520"/>
            </a:b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e Transformadores</a:t>
            </a:r>
            <a:endParaRPr b="0" lang="en-US" sz="25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39" name="PlaceHolder 4"/>
          <p:cNvSpPr>
            <a:spLocks noGrp="1"/>
          </p:cNvSpPr>
          <p:nvPr>
            <p:ph/>
          </p:nvPr>
        </p:nvSpPr>
        <p:spPr>
          <a:xfrm>
            <a:off x="457200" y="2230200"/>
            <a:ext cx="4070520" cy="113976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91440" bIns="91440" anchor="t">
            <a:noAutofit/>
          </a:bodyPr>
          <a:p>
            <a:pPr indent="0" defTabSz="457200">
              <a:lnSpc>
                <a:spcPct val="15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Mecanismos de atenção têm ganhado destaque significativo no aprendizado profundo por sua aplicação em tarefas como tradução automática, reconhecimento de fala e legendagem de imagens.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0" name="Google Shape;702;p110"/>
          <p:cNvCxnSpPr/>
          <p:nvPr/>
        </p:nvCxnSpPr>
        <p:spPr>
          <a:xfrm>
            <a:off x="456840" y="2225160"/>
            <a:ext cx="2880" cy="1154880"/>
          </a:xfrm>
          <a:prstGeom prst="straightConnector1">
            <a:avLst/>
          </a:prstGeom>
          <a:ln w="38160">
            <a:solidFill>
              <a:srgbClr val="7765e3"/>
            </a:solidFill>
            <a:round/>
          </a:ln>
        </p:spPr>
      </p:cxnSp>
      <p:cxnSp>
        <p:nvCxnSpPr>
          <p:cNvPr id="441" name="Google Shape;703;p110"/>
          <p:cNvCxnSpPr/>
          <p:nvPr/>
        </p:nvCxnSpPr>
        <p:spPr>
          <a:xfrm>
            <a:off x="4613400" y="2225160"/>
            <a:ext cx="2880" cy="1154880"/>
          </a:xfrm>
          <a:prstGeom prst="straightConnector1">
            <a:avLst/>
          </a:prstGeom>
          <a:ln w="38160">
            <a:solidFill>
              <a:srgbClr val="7765e3"/>
            </a:solidFill>
            <a:round/>
          </a:ln>
        </p:spPr>
      </p:cxnSp>
      <p:cxnSp>
        <p:nvCxnSpPr>
          <p:cNvPr id="442" name="Google Shape;704;p110"/>
          <p:cNvCxnSpPr/>
          <p:nvPr/>
        </p:nvCxnSpPr>
        <p:spPr>
          <a:xfrm>
            <a:off x="446760" y="3840480"/>
            <a:ext cx="2880" cy="1154880"/>
          </a:xfrm>
          <a:prstGeom prst="straightConnector1">
            <a:avLst/>
          </a:prstGeom>
          <a:ln w="38160">
            <a:solidFill>
              <a:srgbClr val="7765e3"/>
            </a:solidFill>
            <a:round/>
          </a:ln>
        </p:spPr>
      </p:cxnSp>
      <p:sp>
        <p:nvSpPr>
          <p:cNvPr id="443" name="PlaceHolder 5"/>
          <p:cNvSpPr>
            <a:spLocks noGrp="1"/>
          </p:cNvSpPr>
          <p:nvPr>
            <p:ph/>
          </p:nvPr>
        </p:nvSpPr>
        <p:spPr>
          <a:xfrm>
            <a:off x="4608360" y="3845520"/>
            <a:ext cx="4075560" cy="11394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91440" bIns="91440" anchor="t">
            <a:noAutofit/>
          </a:bodyPr>
          <a:p>
            <a:pPr indent="0" defTabSz="457200">
              <a:lnSpc>
                <a:spcPct val="15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Transformadores superam as redes convolucionais de última geração quando pré-treinados em grandes conjuntos de dados e transferidos para diversos benchmarks, como ImageNet, CIFAR-100 e VTAB.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4" name="Google Shape;706;p110"/>
          <p:cNvCxnSpPr/>
          <p:nvPr/>
        </p:nvCxnSpPr>
        <p:spPr>
          <a:xfrm>
            <a:off x="4608000" y="3840480"/>
            <a:ext cx="2880" cy="1154880"/>
          </a:xfrm>
          <a:prstGeom prst="straightConnector1">
            <a:avLst/>
          </a:prstGeom>
          <a:ln w="38160">
            <a:solidFill>
              <a:srgbClr val="7765e3"/>
            </a:solidFill>
            <a:round/>
          </a:ln>
        </p:spPr>
      </p:cxnSp>
      <p:pic>
        <p:nvPicPr>
          <p:cNvPr id="445" name="Imagem 80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CaixaDeTexto 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etângulo 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F7950A75-3602-4517-8F40-3B8A64476267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30F4C606-F1DF-487C-B126-1069E8C6DCAF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/>
          </p:nvPr>
        </p:nvSpPr>
        <p:spPr>
          <a:xfrm>
            <a:off x="446760" y="3845520"/>
            <a:ext cx="4075560" cy="11394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91440" bIns="91440" anchor="t">
            <a:noAutofit/>
          </a:bodyPr>
          <a:p>
            <a:pPr indent="0" algn="just" defTabSz="457200">
              <a:lnSpc>
                <a:spcPct val="15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Transformador de Fala Disártrica utiliza um pipeline de aprendizado por transferência em duas fases e aumento de dados de áudio para alcançar melhores precisões em 73% dos indivíduos com disartria.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/>
          </p:nvPr>
        </p:nvSpPr>
        <p:spPr>
          <a:xfrm>
            <a:off x="4613400" y="2230200"/>
            <a:ext cx="4070520" cy="113976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91440" bIns="91440" anchor="t">
            <a:noAutofit/>
          </a:bodyPr>
          <a:p>
            <a:pPr indent="0" algn="just" defTabSz="457200">
              <a:lnSpc>
                <a:spcPct val="15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Hanken Grotesk"/>
              </a:rPr>
              <a:t>O E2E-DASR utiliza uma abordagem espaço-temporal com Redes Neurais Convolucionais Espaciais e Transformadores de Atenção Multi-Cabeças, superando outros sistemas em 20,72% na precisão de reconhecimento.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title"/>
          </p:nvPr>
        </p:nvSpPr>
        <p:spPr>
          <a:xfrm>
            <a:off x="457200" y="1122120"/>
            <a:ext cx="822672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Reconhecimento Automático</a:t>
            </a:r>
            <a:br>
              <a:rPr sz="2520"/>
            </a:b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de Fala Disártrica</a:t>
            </a:r>
            <a:endParaRPr b="0" lang="en-US" sz="25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51" name="PlaceHolder 4"/>
          <p:cNvSpPr>
            <a:spLocks noGrp="1"/>
          </p:cNvSpPr>
          <p:nvPr>
            <p:ph/>
          </p:nvPr>
        </p:nvSpPr>
        <p:spPr>
          <a:xfrm>
            <a:off x="457200" y="2230200"/>
            <a:ext cx="4070520" cy="113976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91440" bIns="91440" anchor="t">
            <a:noAutofit/>
          </a:bodyPr>
          <a:p>
            <a:pPr indent="0" algn="just" defTabSz="457200">
              <a:lnSpc>
                <a:spcPct val="15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SpeechVision é um sistema DASR de ponta a ponta que aborda a variabilidade de fonemas e a escassez de dados de fala por meio de aumento de dados visuais.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2" name="Google Shape;715;p111"/>
          <p:cNvCxnSpPr/>
          <p:nvPr/>
        </p:nvCxnSpPr>
        <p:spPr>
          <a:xfrm>
            <a:off x="456840" y="2225160"/>
            <a:ext cx="2880" cy="1154880"/>
          </a:xfrm>
          <a:prstGeom prst="straightConnector1">
            <a:avLst/>
          </a:prstGeom>
          <a:ln w="38160">
            <a:solidFill>
              <a:srgbClr val="7765e3"/>
            </a:solidFill>
            <a:round/>
          </a:ln>
        </p:spPr>
      </p:cxnSp>
      <p:cxnSp>
        <p:nvCxnSpPr>
          <p:cNvPr id="453" name="Google Shape;716;p111"/>
          <p:cNvCxnSpPr/>
          <p:nvPr/>
        </p:nvCxnSpPr>
        <p:spPr>
          <a:xfrm>
            <a:off x="4613400" y="2225160"/>
            <a:ext cx="2880" cy="1154880"/>
          </a:xfrm>
          <a:prstGeom prst="straightConnector1">
            <a:avLst/>
          </a:prstGeom>
          <a:ln w="38160">
            <a:solidFill>
              <a:srgbClr val="7765e3"/>
            </a:solidFill>
            <a:round/>
          </a:ln>
        </p:spPr>
      </p:cxnSp>
      <p:cxnSp>
        <p:nvCxnSpPr>
          <p:cNvPr id="454" name="Google Shape;717;p111"/>
          <p:cNvCxnSpPr/>
          <p:nvPr/>
        </p:nvCxnSpPr>
        <p:spPr>
          <a:xfrm>
            <a:off x="446760" y="3840480"/>
            <a:ext cx="2880" cy="1154880"/>
          </a:xfrm>
          <a:prstGeom prst="straightConnector1">
            <a:avLst/>
          </a:prstGeom>
          <a:ln w="38160">
            <a:solidFill>
              <a:srgbClr val="7765e3"/>
            </a:solidFill>
            <a:round/>
          </a:ln>
        </p:spPr>
      </p:cxnSp>
      <p:sp>
        <p:nvSpPr>
          <p:cNvPr id="455" name="PlaceHolder 5"/>
          <p:cNvSpPr>
            <a:spLocks noGrp="1"/>
          </p:cNvSpPr>
          <p:nvPr>
            <p:ph/>
          </p:nvPr>
        </p:nvSpPr>
        <p:spPr>
          <a:xfrm>
            <a:off x="4608360" y="3845520"/>
            <a:ext cx="4075560" cy="11394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91440" bIns="91440" anchor="t">
            <a:noAutofit/>
          </a:bodyPr>
          <a:p>
            <a:pPr indent="0" algn="just" defTabSz="457200">
              <a:lnSpc>
                <a:spcPct val="15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pt-BR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Os desafios incluem a variabilidade e imprecisão dos fonemas disártricos e a disponibilidade limitada de bases de dados robustas de vozes disártricas.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6" name="Google Shape;719;p111"/>
          <p:cNvCxnSpPr/>
          <p:nvPr/>
        </p:nvCxnSpPr>
        <p:spPr>
          <a:xfrm>
            <a:off x="4608000" y="3840480"/>
            <a:ext cx="2880" cy="1154880"/>
          </a:xfrm>
          <a:prstGeom prst="straightConnector1">
            <a:avLst/>
          </a:prstGeom>
          <a:ln w="38160">
            <a:solidFill>
              <a:srgbClr val="7765e3"/>
            </a:solidFill>
            <a:round/>
          </a:ln>
        </p:spPr>
      </p:cxnSp>
      <p:pic>
        <p:nvPicPr>
          <p:cNvPr id="457" name="Imagem 9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CaixaDeTexto 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Retângulo 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710E3684-2E30-4223-879E-BFF272F6731E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B0496A47-185E-4773-9712-7937166FE671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457200" y="1303560"/>
            <a:ext cx="822672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Bases de Dados Utilizadas</a:t>
            </a:r>
            <a:endParaRPr b="0" lang="en-US" sz="25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61" name="Google Shape;725;p112"/>
          <p:cNvSpPr/>
          <p:nvPr/>
        </p:nvSpPr>
        <p:spPr>
          <a:xfrm>
            <a:off x="457200" y="2022120"/>
            <a:ext cx="3992400" cy="3401280"/>
          </a:xfrm>
          <a:prstGeom prst="rect">
            <a:avLst/>
          </a:prstGeom>
          <a:solidFill>
            <a:srgbClr val="ffffff">
              <a:alpha val="20000"/>
            </a:srgbClr>
          </a:solidFill>
          <a:ln w="9360">
            <a:solidFill>
              <a:srgbClr val="ef233c"/>
            </a:solidFill>
            <a:round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2" name="Google Shape;726;p112"/>
          <p:cNvSpPr/>
          <p:nvPr/>
        </p:nvSpPr>
        <p:spPr>
          <a:xfrm>
            <a:off x="4691880" y="2022120"/>
            <a:ext cx="3992400" cy="3401280"/>
          </a:xfrm>
          <a:prstGeom prst="rect">
            <a:avLst/>
          </a:prstGeom>
          <a:solidFill>
            <a:srgbClr val="ffffff">
              <a:alpha val="20000"/>
            </a:srgbClr>
          </a:solidFill>
          <a:ln w="9360">
            <a:solidFill>
              <a:srgbClr val="7765e3"/>
            </a:solidFill>
            <a:round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457200" y="2692080"/>
            <a:ext cx="3992400" cy="273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marL="395280" indent="-277560" defTabSz="457200">
              <a:lnSpc>
                <a:spcPct val="150000"/>
              </a:lnSpc>
              <a:buClr>
                <a:srgbClr val="ef233c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Gravações de áudio de 16 pacientes com Paralisia Cerebral e 13 falantes de controle.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5280" indent="-277560" defTabSz="457200">
              <a:lnSpc>
                <a:spcPct val="150000"/>
              </a:lnSpc>
              <a:buClr>
                <a:srgbClr val="ef233c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Sinais de fala amostrados a 16 kHz usando um arranjo de microfone de 7 canais.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5280" indent="-277560" defTabSz="457200">
              <a:lnSpc>
                <a:spcPct val="150000"/>
              </a:lnSpc>
              <a:buClr>
                <a:srgbClr val="ef233c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Cada falante fornece 721 enunciados com uma duração média de 1887 segundos.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ubTitle"/>
          </p:nvPr>
        </p:nvSpPr>
        <p:spPr>
          <a:xfrm>
            <a:off x="457200" y="2022120"/>
            <a:ext cx="3992400" cy="619920"/>
          </a:xfrm>
          <a:prstGeom prst="rect">
            <a:avLst/>
          </a:prstGeom>
          <a:noFill/>
          <a:ln w="0">
            <a:noFill/>
          </a:ln>
        </p:spPr>
        <p:txBody>
          <a:bodyPr lIns="182880" rIns="137160" tIns="91440" bIns="91440" anchor="b">
            <a:noAutofit/>
          </a:bodyPr>
          <a:p>
            <a:pPr marL="91440" indent="0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ef233c"/>
                </a:solidFill>
                <a:effectLst/>
                <a:uFillTx/>
                <a:latin typeface="Hanken Grotesk SemiBold"/>
                <a:ea typeface="Hanken Grotesk SemiBold"/>
              </a:rPr>
              <a:t>UA-Speech Dataset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4"/>
          <p:cNvSpPr>
            <a:spLocks noGrp="1"/>
          </p:cNvSpPr>
          <p:nvPr>
            <p:ph/>
          </p:nvPr>
        </p:nvSpPr>
        <p:spPr>
          <a:xfrm>
            <a:off x="4691880" y="2692080"/>
            <a:ext cx="3992400" cy="273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marL="395280" indent="-277560" defTabSz="457200">
              <a:lnSpc>
                <a:spcPct val="150000"/>
              </a:lnSpc>
              <a:buClr>
                <a:srgbClr val="211c21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Aproximadamente 24 horas de dados de fala conectada rotulados.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5280" indent="-277560" defTabSz="457200">
              <a:lnSpc>
                <a:spcPct val="150000"/>
              </a:lnSpc>
              <a:buClr>
                <a:srgbClr val="211c21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13.100 gravações curtas de áudio de um único falante lendo trechos de texto.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5280" indent="-277560" defTabSz="457200">
              <a:lnSpc>
                <a:spcPct val="150000"/>
              </a:lnSpc>
              <a:buClr>
                <a:srgbClr val="211c21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Arquivos WAV PCM de 16 bits e canal único com uma taxa de amostragem de 22 kHz.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5"/>
          <p:cNvSpPr>
            <a:spLocks noGrp="1"/>
          </p:cNvSpPr>
          <p:nvPr>
            <p:ph type="subTitle"/>
          </p:nvPr>
        </p:nvSpPr>
        <p:spPr>
          <a:xfrm>
            <a:off x="4691880" y="2022120"/>
            <a:ext cx="3992400" cy="619920"/>
          </a:xfrm>
          <a:prstGeom prst="rect">
            <a:avLst/>
          </a:prstGeom>
          <a:noFill/>
          <a:ln w="0">
            <a:noFill/>
          </a:ln>
        </p:spPr>
        <p:txBody>
          <a:bodyPr lIns="182880" rIns="137160" tIns="91440" bIns="91440" anchor="b">
            <a:noAutofit/>
          </a:bodyPr>
          <a:p>
            <a:pPr marL="91440" indent="0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7765e3"/>
                </a:solidFill>
                <a:effectLst/>
                <a:uFillTx/>
                <a:latin typeface="Hanken Grotesk SemiBold"/>
                <a:ea typeface="Hanken Grotesk SemiBold"/>
              </a:rPr>
              <a:t>LJ Speech Dataset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7" name="Imagem 104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CaixaDeTexto 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Retângulo 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3D44F1BD-5E22-4930-8725-CFF3CD6B05C9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B0F91C81-2209-4434-AAE4-326C2ECD1672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736;p 1"/>
          <p:cNvSpPr/>
          <p:nvPr/>
        </p:nvSpPr>
        <p:spPr>
          <a:xfrm>
            <a:off x="457200" y="2022120"/>
            <a:ext cx="3992400" cy="3401280"/>
          </a:xfrm>
          <a:prstGeom prst="rect">
            <a:avLst/>
          </a:prstGeom>
          <a:solidFill>
            <a:srgbClr val="ffffff">
              <a:alpha val="20000"/>
            </a:srgbClr>
          </a:solidFill>
          <a:ln w="9360">
            <a:solidFill>
              <a:srgbClr val="ef233c"/>
            </a:solidFill>
            <a:round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1" name="Google Shape;737;p 1"/>
          <p:cNvSpPr/>
          <p:nvPr/>
        </p:nvSpPr>
        <p:spPr>
          <a:xfrm>
            <a:off x="4691880" y="2022120"/>
            <a:ext cx="3992400" cy="3401280"/>
          </a:xfrm>
          <a:prstGeom prst="rect">
            <a:avLst/>
          </a:prstGeom>
          <a:solidFill>
            <a:srgbClr val="ffffff">
              <a:alpha val="20000"/>
            </a:srgbClr>
          </a:solidFill>
          <a:ln w="9360">
            <a:solidFill>
              <a:srgbClr val="7765e3"/>
            </a:solidFill>
            <a:round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72" name="" descr=""/>
          <p:cNvPicPr/>
          <p:nvPr/>
        </p:nvPicPr>
        <p:blipFill>
          <a:blip r:embed="rId1"/>
          <a:stretch/>
        </p:blipFill>
        <p:spPr>
          <a:xfrm>
            <a:off x="4785480" y="2116800"/>
            <a:ext cx="3819600" cy="318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3" name="" descr=""/>
          <p:cNvPicPr/>
          <p:nvPr/>
        </p:nvPicPr>
        <p:blipFill>
          <a:blip r:embed="rId2"/>
          <a:stretch/>
        </p:blipFill>
        <p:spPr>
          <a:xfrm>
            <a:off x="492120" y="2124000"/>
            <a:ext cx="3913920" cy="317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457200" y="1303560"/>
            <a:ext cx="822672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Estruturas utilizadas</a:t>
            </a:r>
            <a:endParaRPr b="0" lang="en-US" sz="25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subTitle"/>
          </p:nvPr>
        </p:nvSpPr>
        <p:spPr>
          <a:xfrm>
            <a:off x="457200" y="2022120"/>
            <a:ext cx="3992400" cy="619920"/>
          </a:xfrm>
          <a:prstGeom prst="rect">
            <a:avLst/>
          </a:prstGeom>
          <a:noFill/>
          <a:ln w="0">
            <a:noFill/>
          </a:ln>
        </p:spPr>
        <p:txBody>
          <a:bodyPr lIns="182880" rIns="137160" tIns="91440" bIns="91440" anchor="b">
            <a:noAutofit/>
          </a:bodyPr>
          <a:p>
            <a:pPr marL="91440" indent="0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ef233c"/>
                </a:solidFill>
                <a:effectLst/>
                <a:uFillTx/>
                <a:latin typeface="Hanken Grotesk SemiBold"/>
                <a:ea typeface="Hanken Grotesk SemiBold"/>
              </a:rPr>
              <a:t>FW1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6" name="Imagem 114" descr=""/>
          <p:cNvPicPr/>
          <p:nvPr/>
        </p:nvPicPr>
        <p:blipFill>
          <a:blip r:embed="rId3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7" name="CaixaDeTexto 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Retângulo 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9F56477D-4DA6-4919-B6AD-2E61B7583F70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0F4DFF01-3324-4B95-AC82-589408B7B2C9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ubTitle"/>
          </p:nvPr>
        </p:nvSpPr>
        <p:spPr>
          <a:xfrm>
            <a:off x="4691880" y="2022120"/>
            <a:ext cx="3992400" cy="619920"/>
          </a:xfrm>
          <a:prstGeom prst="rect">
            <a:avLst/>
          </a:prstGeom>
          <a:noFill/>
          <a:ln w="0">
            <a:noFill/>
          </a:ln>
        </p:spPr>
        <p:txBody>
          <a:bodyPr lIns="182880" rIns="137160" tIns="91440" bIns="91440" anchor="b">
            <a:noAutofit/>
          </a:bodyPr>
          <a:p>
            <a:pPr marL="91440" indent="-91440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1400" strike="noStrike" u="none">
                <a:solidFill>
                  <a:srgbClr val="7765e3"/>
                </a:solidFill>
                <a:effectLst/>
                <a:uFillTx/>
                <a:latin typeface="Hanken Grotesk SemiBold"/>
                <a:ea typeface="Hanken Grotesk SemiBold"/>
              </a:rPr>
              <a:t>FW2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457200" y="1303560"/>
            <a:ext cx="822672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Estruturas utilizadas</a:t>
            </a:r>
            <a:endParaRPr b="0" lang="en-US" sz="25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81" name="Google Shape;736;p113"/>
          <p:cNvSpPr/>
          <p:nvPr/>
        </p:nvSpPr>
        <p:spPr>
          <a:xfrm>
            <a:off x="457200" y="2022120"/>
            <a:ext cx="3992400" cy="3401280"/>
          </a:xfrm>
          <a:prstGeom prst="rect">
            <a:avLst/>
          </a:prstGeom>
          <a:solidFill>
            <a:srgbClr val="ffffff">
              <a:alpha val="20000"/>
            </a:srgbClr>
          </a:solidFill>
          <a:ln w="9360">
            <a:solidFill>
              <a:srgbClr val="ef233c"/>
            </a:solidFill>
            <a:round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2" name="Google Shape;737;p113"/>
          <p:cNvSpPr/>
          <p:nvPr/>
        </p:nvSpPr>
        <p:spPr>
          <a:xfrm>
            <a:off x="4691880" y="2022120"/>
            <a:ext cx="3992400" cy="3401280"/>
          </a:xfrm>
          <a:prstGeom prst="rect">
            <a:avLst/>
          </a:prstGeom>
          <a:solidFill>
            <a:srgbClr val="ffffff">
              <a:alpha val="20000"/>
            </a:srgbClr>
          </a:solidFill>
          <a:ln w="9360">
            <a:solidFill>
              <a:srgbClr val="7765e3"/>
            </a:solidFill>
            <a:round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457200" y="2692080"/>
            <a:ext cx="3992400" cy="273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marL="395280" indent="-277560" defTabSz="457200">
              <a:lnSpc>
                <a:spcPct val="150000"/>
              </a:lnSpc>
              <a:buClr>
                <a:srgbClr val="ef233c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Keras - ASR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5280" indent="-277560" defTabSz="457200">
              <a:lnSpc>
                <a:spcPct val="150000"/>
              </a:lnSpc>
              <a:spcBef>
                <a:spcPts val="1001"/>
              </a:spcBef>
              <a:buClr>
                <a:srgbClr val="ef233c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4 codificadores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5280" indent="-277560" defTabSz="457200">
              <a:lnSpc>
                <a:spcPct val="150000"/>
              </a:lnSpc>
              <a:spcBef>
                <a:spcPts val="1001"/>
              </a:spcBef>
              <a:spcAft>
                <a:spcPts val="1001"/>
              </a:spcAft>
              <a:buClr>
                <a:srgbClr val="ef233c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1 decodificador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ubTitle"/>
          </p:nvPr>
        </p:nvSpPr>
        <p:spPr>
          <a:xfrm>
            <a:off x="457200" y="2022120"/>
            <a:ext cx="3992400" cy="619920"/>
          </a:xfrm>
          <a:prstGeom prst="rect">
            <a:avLst/>
          </a:prstGeom>
          <a:noFill/>
          <a:ln w="0">
            <a:noFill/>
          </a:ln>
        </p:spPr>
        <p:txBody>
          <a:bodyPr lIns="182880" rIns="137160" tIns="91440" bIns="91440" anchor="b">
            <a:noAutofit/>
          </a:bodyPr>
          <a:p>
            <a:pPr marL="91440" indent="0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ef233c"/>
                </a:solidFill>
                <a:effectLst/>
                <a:uFillTx/>
                <a:latin typeface="Hanken Grotesk SemiBold"/>
                <a:ea typeface="Hanken Grotesk SemiBold"/>
              </a:rPr>
              <a:t>FW1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4691880" y="2692080"/>
            <a:ext cx="3992400" cy="273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marL="395280" indent="-277560" defTabSz="457200">
              <a:lnSpc>
                <a:spcPct val="150000"/>
              </a:lnSpc>
              <a:buClr>
                <a:srgbClr val="211c21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PyTorch - Speech Transformer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5280" indent="-277560" defTabSz="457200">
              <a:lnSpc>
                <a:spcPct val="150000"/>
              </a:lnSpc>
              <a:spcBef>
                <a:spcPts val="1001"/>
              </a:spcBef>
              <a:buClr>
                <a:srgbClr val="211c21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5 codificadores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95280" indent="-277560" defTabSz="457200">
              <a:lnSpc>
                <a:spcPct val="150000"/>
              </a:lnSpc>
              <a:spcBef>
                <a:spcPts val="1001"/>
              </a:spcBef>
              <a:spcAft>
                <a:spcPts val="1001"/>
              </a:spcAft>
              <a:buClr>
                <a:srgbClr val="211c21"/>
              </a:buClr>
              <a:buFont typeface="Hanken Grotesk"/>
              <a:buChar char="•"/>
            </a:pPr>
            <a:r>
              <a:rPr b="0" lang="pt-BR" sz="11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3 decodificadores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5"/>
          <p:cNvSpPr>
            <a:spLocks noGrp="1"/>
          </p:cNvSpPr>
          <p:nvPr>
            <p:ph type="subTitle"/>
          </p:nvPr>
        </p:nvSpPr>
        <p:spPr>
          <a:xfrm>
            <a:off x="4691880" y="2022120"/>
            <a:ext cx="3992400" cy="619920"/>
          </a:xfrm>
          <a:prstGeom prst="rect">
            <a:avLst/>
          </a:prstGeom>
          <a:noFill/>
          <a:ln w="0">
            <a:noFill/>
          </a:ln>
        </p:spPr>
        <p:txBody>
          <a:bodyPr lIns="182880" rIns="137160" tIns="91440" bIns="91440" anchor="b">
            <a:noAutofit/>
          </a:bodyPr>
          <a:p>
            <a:pPr marL="91440" indent="0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7765e3"/>
                </a:solidFill>
                <a:effectLst/>
                <a:uFillTx/>
                <a:latin typeface="Hanken Grotesk SemiBold"/>
                <a:ea typeface="Hanken Grotesk SemiBold"/>
              </a:rPr>
              <a:t>FW2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7" name="Imagem 126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CaixaDeTexto 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Retângulo 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A1D2DDD7-631B-4C69-8889-2A5274A0276B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519FEFE1-B461-45C2-9D57-B06E495BC409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746;p114"/>
          <p:cNvSpPr/>
          <p:nvPr/>
        </p:nvSpPr>
        <p:spPr>
          <a:xfrm>
            <a:off x="5928840" y="857160"/>
            <a:ext cx="2588040" cy="5037480"/>
          </a:xfrm>
          <a:prstGeom prst="rect">
            <a:avLst/>
          </a:prstGeom>
          <a:solidFill>
            <a:srgbClr val="a09cab"/>
          </a:solidFill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457200" y="1302120"/>
            <a:ext cx="546876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42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Nossa abordagem</a:t>
            </a:r>
            <a:endParaRPr b="0" lang="en-US" sz="24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/>
          </p:nvPr>
        </p:nvSpPr>
        <p:spPr>
          <a:xfrm>
            <a:off x="457200" y="2489760"/>
            <a:ext cx="5024880" cy="2936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33800" indent="-254880" defTabSz="457200">
              <a:lnSpc>
                <a:spcPct val="150000"/>
              </a:lnSpc>
              <a:buClr>
                <a:srgbClr val="211c21"/>
              </a:buClr>
              <a:buFont typeface="Hanken Grotesk SemiBold"/>
              <a:buChar char="●"/>
            </a:pPr>
            <a:r>
              <a:rPr b="0" lang="pt-BR" sz="1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Adição de ruído e dilatação temporal: Adicionar ruído aleatório ao sinal de áudio original e alterar a velocidade sem mudar o tom. Melhora a robustez do modelo em ambientes ruidosos.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3800" indent="-254880" defTabSz="457200">
              <a:lnSpc>
                <a:spcPct val="150000"/>
              </a:lnSpc>
              <a:buClr>
                <a:srgbClr val="211c21"/>
              </a:buClr>
              <a:buFont typeface="Hanken Grotesk SemiBold"/>
              <a:buChar char="●"/>
            </a:pPr>
            <a:r>
              <a:rPr b="0" lang="pt-BR" sz="1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Oclusão Espectral (SO): Mascarar seções aleatórias do espectro da fala para simular deficiências de articulação. Melhora a capacidade do modelo de lidar com fala com lacunas espectrais.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3800" indent="-254880" defTabSz="457200">
              <a:lnSpc>
                <a:spcPct val="150000"/>
              </a:lnSpc>
              <a:spcBef>
                <a:spcPts val="1001"/>
              </a:spcBef>
              <a:spcAft>
                <a:spcPts val="1001"/>
              </a:spcAft>
              <a:buClr>
                <a:srgbClr val="211c21"/>
              </a:buClr>
              <a:buFont typeface="Hanken Grotesk SemiBold"/>
              <a:buChar char="●"/>
            </a:pPr>
            <a:r>
              <a:rPr b="0" lang="pt-BR" sz="1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  <a:ea typeface="Hanken Grotesk"/>
              </a:rPr>
              <a:t>Essas técnicas foram escolhidas devido à sua eficácia em focar em características essenciais e melhorar o desempenho em ambientes ruidosos do mundo real.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ubTitle"/>
          </p:nvPr>
        </p:nvSpPr>
        <p:spPr>
          <a:xfrm>
            <a:off x="457200" y="1999080"/>
            <a:ext cx="551664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marL="91440" indent="0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Técnicas de Aumento de Dados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Google Shape;750;p114"/>
          <p:cNvSpPr/>
          <p:nvPr/>
        </p:nvSpPr>
        <p:spPr>
          <a:xfrm>
            <a:off x="5702040" y="3198600"/>
            <a:ext cx="457560" cy="457560"/>
          </a:xfrm>
          <a:prstGeom prst="ellipse">
            <a:avLst/>
          </a:prstGeom>
          <a:solidFill>
            <a:srgbClr val="a09cab"/>
          </a:solidFill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5" name="Google Shape;751;p114"/>
          <p:cNvSpPr/>
          <p:nvPr/>
        </p:nvSpPr>
        <p:spPr>
          <a:xfrm>
            <a:off x="8361360" y="1457640"/>
            <a:ext cx="322560" cy="322560"/>
          </a:xfrm>
          <a:prstGeom prst="ellipse">
            <a:avLst/>
          </a:prstGeom>
          <a:solidFill>
            <a:srgbClr val="a09cab"/>
          </a:solidFill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96" name="Google Shape;752;p114" descr=""/>
          <p:cNvPicPr/>
          <p:nvPr/>
        </p:nvPicPr>
        <p:blipFill>
          <a:blip r:embed="rId1"/>
          <a:srcRect l="0" t="0" r="46977" b="0"/>
          <a:stretch/>
        </p:blipFill>
        <p:spPr>
          <a:xfrm>
            <a:off x="5959800" y="857160"/>
            <a:ext cx="2724120" cy="503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7" name="Imagem 137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CaixaDeTexto 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Retângulo 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2335E7B0-DCC9-4C2F-92DC-B5AA7F012B19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7A51E0B1-912A-4CEA-9628-20E33E445C8B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" descr=""/>
          <p:cNvPicPr/>
          <p:nvPr/>
        </p:nvPicPr>
        <p:blipFill>
          <a:blip r:embed="rId1"/>
          <a:srcRect l="0" t="0" r="0" b="26197"/>
          <a:stretch/>
        </p:blipFill>
        <p:spPr>
          <a:xfrm>
            <a:off x="631800" y="1440000"/>
            <a:ext cx="7562160" cy="424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457200" y="1302120"/>
            <a:ext cx="546876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420" strike="noStrike" u="none">
                <a:solidFill>
                  <a:schemeClr val="dk1"/>
                </a:solidFill>
                <a:effectLst/>
                <a:uFillTx/>
                <a:latin typeface="Hanken Grotesk"/>
              </a:rPr>
              <a:t>Diagrama do processo Supervisionado</a:t>
            </a:r>
            <a:endParaRPr b="0" lang="en-US" sz="24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02" name="Google Shape;751;p 2"/>
          <p:cNvSpPr/>
          <p:nvPr/>
        </p:nvSpPr>
        <p:spPr>
          <a:xfrm>
            <a:off x="8361360" y="1457640"/>
            <a:ext cx="322560" cy="322560"/>
          </a:xfrm>
          <a:prstGeom prst="ellipse">
            <a:avLst/>
          </a:prstGeom>
          <a:solidFill>
            <a:srgbClr val="a09cab"/>
          </a:solidFill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03" name="Imagem 18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CaixaDeTexto 30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Retângulo 31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04091992-860C-4952-9890-E0EC7F2C5EE1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51752AE2-06CE-459B-B308-6FA807A21BDE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Imagem 141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33600" y="1951920"/>
            <a:ext cx="1741680" cy="130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PlaceHolder 1"/>
          <p:cNvSpPr>
            <a:spLocks noGrp="1"/>
          </p:cNvSpPr>
          <p:nvPr>
            <p:ph type="subTitle"/>
          </p:nvPr>
        </p:nvSpPr>
        <p:spPr>
          <a:xfrm>
            <a:off x="457200" y="3475080"/>
            <a:ext cx="5516640" cy="438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marL="91440" indent="-91440" defTabSz="91440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pt-BR" sz="1400" strike="noStrike" u="none">
                <a:solidFill>
                  <a:srgbClr val="211c21"/>
                </a:solidFill>
                <a:effectLst/>
                <a:uFillTx/>
                <a:latin typeface="Hanken Grotesk SemiBold"/>
              </a:rPr>
              <a:t>Resultados das transformações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8" name="Imagem 145" descr=""/>
          <p:cNvPicPr/>
          <p:nvPr/>
        </p:nvPicPr>
        <p:blipFill>
          <a:blip r:embed="rId3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PlaceHolder 8"/>
          <p:cNvSpPr/>
          <p:nvPr/>
        </p:nvSpPr>
        <p:spPr>
          <a:xfrm>
            <a:off x="454320" y="1351440"/>
            <a:ext cx="55166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b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pt-BR" sz="14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	</a:t>
            </a:r>
            <a:r>
              <a:rPr b="0" lang="pt-BR" sz="14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Fala normal</a:t>
            </a:r>
            <a:r>
              <a:rPr b="0" lang="pt-BR" sz="14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	</a:t>
            </a:r>
            <a:r>
              <a:rPr b="0" lang="pt-BR" sz="14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       X </a:t>
            </a:r>
            <a:r>
              <a:rPr b="0" lang="pt-BR" sz="14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	</a:t>
            </a:r>
            <a:r>
              <a:rPr b="0" lang="pt-BR" sz="14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    Fala disártrica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0" name="Imagem 149" descr=""/>
          <p:cNvPicPr/>
          <p:nvPr/>
        </p:nvPicPr>
        <p:blipFill>
          <a:blip r:embed="rId4"/>
          <a:stretch/>
        </p:blipFill>
        <p:spPr>
          <a:xfrm>
            <a:off x="540000" y="4051080"/>
            <a:ext cx="1740600" cy="130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1" name="Imagem 150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2578680" y="4051080"/>
            <a:ext cx="1740600" cy="130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2" name="Imagem 152" descr="">
            <a:hlinkClick r:id="rId7"/>
          </p:cNvPr>
          <p:cNvPicPr/>
          <p:nvPr/>
        </p:nvPicPr>
        <p:blipFill>
          <a:blip r:embed="rId8"/>
          <a:stretch/>
        </p:blipFill>
        <p:spPr>
          <a:xfrm>
            <a:off x="6915600" y="4051080"/>
            <a:ext cx="1740600" cy="130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CaixaDeTexto 153"/>
          <p:cNvSpPr/>
          <p:nvPr/>
        </p:nvSpPr>
        <p:spPr>
          <a:xfrm>
            <a:off x="805680" y="5321160"/>
            <a:ext cx="10180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 n-aug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CaixaDeTexto 154"/>
          <p:cNvSpPr/>
          <p:nvPr/>
        </p:nvSpPr>
        <p:spPr>
          <a:xfrm>
            <a:off x="3041280" y="5321160"/>
            <a:ext cx="815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 aug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CaixaDeTexto 155"/>
          <p:cNvSpPr/>
          <p:nvPr/>
        </p:nvSpPr>
        <p:spPr>
          <a:xfrm>
            <a:off x="5265000" y="5321160"/>
            <a:ext cx="68760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 ap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CaixaDeTexto 156"/>
          <p:cNvSpPr/>
          <p:nvPr/>
        </p:nvSpPr>
        <p:spPr>
          <a:xfrm>
            <a:off x="7361280" y="5321160"/>
            <a:ext cx="815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 app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CaixaDeTexto 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Retângulo 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ED564FFB-D636-404F-9219-878AEF2FA6D6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1DA2EC84-653E-4C59-AC72-15759FE268A3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9" name="Imagem 140" descr="">
            <a:hlinkClick r:id="rId9"/>
          </p:cNvPr>
          <p:cNvPicPr/>
          <p:nvPr/>
        </p:nvPicPr>
        <p:blipFill>
          <a:blip r:embed="rId10"/>
          <a:stretch/>
        </p:blipFill>
        <p:spPr>
          <a:xfrm>
            <a:off x="3096000" y="1937160"/>
            <a:ext cx="1741680" cy="130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0" name="Imagem 151" descr="">
            <a:hlinkClick r:id="rId11"/>
          </p:cNvPr>
          <p:cNvPicPr/>
          <p:nvPr/>
        </p:nvPicPr>
        <p:blipFill>
          <a:blip r:embed="rId12"/>
          <a:stretch/>
        </p:blipFill>
        <p:spPr>
          <a:xfrm>
            <a:off x="4738680" y="4051080"/>
            <a:ext cx="1740600" cy="130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" descr=""/>
          <p:cNvPicPr/>
          <p:nvPr/>
        </p:nvPicPr>
        <p:blipFill>
          <a:blip r:embed="rId1"/>
          <a:srcRect l="0" t="0" r="859" b="2867"/>
          <a:stretch/>
        </p:blipFill>
        <p:spPr>
          <a:xfrm>
            <a:off x="5187600" y="4485600"/>
            <a:ext cx="2696400" cy="181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2" name="Imagem 157" descr=""/>
          <p:cNvPicPr/>
          <p:nvPr/>
        </p:nvPicPr>
        <p:blipFill>
          <a:blip r:embed="rId2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Google Shape;757;p115"/>
          <p:cNvSpPr/>
          <p:nvPr/>
        </p:nvSpPr>
        <p:spPr>
          <a:xfrm>
            <a:off x="0" y="1920960"/>
            <a:ext cx="9141120" cy="81288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457200" y="1302120"/>
            <a:ext cx="822672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Experimentos</a:t>
            </a:r>
            <a:endParaRPr b="0" lang="en-US" sz="25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 type="subTitle"/>
          </p:nvPr>
        </p:nvSpPr>
        <p:spPr>
          <a:xfrm>
            <a:off x="457200" y="1920960"/>
            <a:ext cx="3872880" cy="812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91440" indent="0" defTabSz="9144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Resultados em WRA dos métodos de aumento de dados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6" name="Google Shape;761;p115"/>
          <p:cNvCxnSpPr/>
          <p:nvPr/>
        </p:nvCxnSpPr>
        <p:spPr>
          <a:xfrm>
            <a:off x="4452480" y="2011320"/>
            <a:ext cx="2880" cy="660960"/>
          </a:xfrm>
          <a:prstGeom prst="straightConnector1">
            <a:avLst/>
          </a:prstGeom>
          <a:ln w="38160">
            <a:solidFill>
              <a:srgbClr val="211c21"/>
            </a:solidFill>
            <a:round/>
          </a:ln>
        </p:spPr>
      </p:cxnSp>
      <p:sp>
        <p:nvSpPr>
          <p:cNvPr id="527" name="CaixaDeTexto 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Retângulo 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ECF82F4A-8A53-4486-B67E-289DFA019632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7F973391-BD73-41C2-BD7E-64D437F4F5CF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9" name="" descr=""/>
          <p:cNvPicPr/>
          <p:nvPr/>
        </p:nvPicPr>
        <p:blipFill>
          <a:blip r:embed="rId3"/>
          <a:srcRect l="0" t="1594" r="891" b="0"/>
          <a:stretch/>
        </p:blipFill>
        <p:spPr>
          <a:xfrm>
            <a:off x="561960" y="2574000"/>
            <a:ext cx="2749680" cy="177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0" name="" descr=""/>
          <p:cNvPicPr/>
          <p:nvPr/>
        </p:nvPicPr>
        <p:blipFill>
          <a:blip r:embed="rId4"/>
          <a:srcRect l="0" t="1594" r="892" b="0"/>
          <a:stretch/>
        </p:blipFill>
        <p:spPr>
          <a:xfrm>
            <a:off x="5202000" y="2574000"/>
            <a:ext cx="2703600" cy="176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Google Shape;760;p115"/>
          <p:cNvSpPr/>
          <p:nvPr/>
        </p:nvSpPr>
        <p:spPr>
          <a:xfrm>
            <a:off x="4572000" y="1920960"/>
            <a:ext cx="3645360" cy="81288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457200">
              <a:lnSpc>
                <a:spcPct val="150000"/>
              </a:lnSpc>
              <a:tabLst>
                <a:tab algn="l" pos="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Os métodos de aumento de dados demonstram melhorias de desempenho variadas com base nos níveis de inteligibilidade da fala e no tipo de framework utilizado.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2" name="" descr=""/>
          <p:cNvPicPr/>
          <p:nvPr/>
        </p:nvPicPr>
        <p:blipFill>
          <a:blip r:embed="rId5"/>
          <a:srcRect l="688" t="0" r="1480" b="0"/>
          <a:stretch/>
        </p:blipFill>
        <p:spPr>
          <a:xfrm>
            <a:off x="586800" y="4485600"/>
            <a:ext cx="2765880" cy="178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Google Shape;776;p 1"/>
          <p:cNvSpPr/>
          <p:nvPr/>
        </p:nvSpPr>
        <p:spPr>
          <a:xfrm>
            <a:off x="4097880" y="409536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ef233c"/>
                </a:solidFill>
                <a:effectLst/>
                <a:uFillTx/>
                <a:latin typeface="Inter"/>
                <a:ea typeface="Inter"/>
              </a:rPr>
              <a:t>FW1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770;p116"/>
          <p:cNvSpPr/>
          <p:nvPr/>
        </p:nvSpPr>
        <p:spPr>
          <a:xfrm>
            <a:off x="0" y="1920960"/>
            <a:ext cx="9141120" cy="81288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457200" y="1302120"/>
            <a:ext cx="822672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Experimentos</a:t>
            </a:r>
            <a:endParaRPr b="0" lang="en-US" sz="25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subTitle"/>
          </p:nvPr>
        </p:nvSpPr>
        <p:spPr>
          <a:xfrm>
            <a:off x="457200" y="1920960"/>
            <a:ext cx="3872880" cy="812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91440" indent="0" defTabSz="9144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Resultados em WRA dos métodos de aumento de dados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7" name="Google Shape;773;p116"/>
          <p:cNvCxnSpPr/>
          <p:nvPr/>
        </p:nvCxnSpPr>
        <p:spPr>
          <a:xfrm>
            <a:off x="4452480" y="2011320"/>
            <a:ext cx="2880" cy="660960"/>
          </a:xfrm>
          <a:prstGeom prst="straightConnector1">
            <a:avLst/>
          </a:prstGeom>
          <a:ln w="38160">
            <a:solidFill>
              <a:srgbClr val="211c21"/>
            </a:solidFill>
            <a:round/>
          </a:ln>
        </p:spPr>
      </p:cxnSp>
      <p:sp>
        <p:nvSpPr>
          <p:cNvPr id="538" name="Google Shape;777;p116"/>
          <p:cNvSpPr/>
          <p:nvPr/>
        </p:nvSpPr>
        <p:spPr>
          <a:xfrm>
            <a:off x="4096800" y="408204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7765e3"/>
                </a:solidFill>
                <a:effectLst/>
                <a:uFillTx/>
                <a:latin typeface="Inter"/>
                <a:ea typeface="Inter"/>
              </a:rPr>
              <a:t>FW2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9" name="Imagem 179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CaixaDeTexto 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Retângulo 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FA068DB2-0258-4770-8FB7-3C8A09AE82F9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F7E22EDB-A566-4B8D-9512-EA73DF9A023D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2" name="" descr=""/>
          <p:cNvPicPr/>
          <p:nvPr/>
        </p:nvPicPr>
        <p:blipFill>
          <a:blip r:embed="rId2"/>
          <a:stretch/>
        </p:blipFill>
        <p:spPr>
          <a:xfrm>
            <a:off x="561600" y="2574000"/>
            <a:ext cx="2750400" cy="177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3" name="" descr=""/>
          <p:cNvPicPr/>
          <p:nvPr/>
        </p:nvPicPr>
        <p:blipFill>
          <a:blip r:embed="rId3"/>
          <a:stretch/>
        </p:blipFill>
        <p:spPr>
          <a:xfrm>
            <a:off x="5205600" y="2574000"/>
            <a:ext cx="2750400" cy="177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4" name="" descr=""/>
          <p:cNvPicPr/>
          <p:nvPr/>
        </p:nvPicPr>
        <p:blipFill>
          <a:blip r:embed="rId4"/>
          <a:stretch/>
        </p:blipFill>
        <p:spPr>
          <a:xfrm>
            <a:off x="586800" y="4521600"/>
            <a:ext cx="2750400" cy="177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5" name="" descr=""/>
          <p:cNvPicPr/>
          <p:nvPr/>
        </p:nvPicPr>
        <p:blipFill>
          <a:blip r:embed="rId5"/>
          <a:stretch/>
        </p:blipFill>
        <p:spPr>
          <a:xfrm>
            <a:off x="5187600" y="4485600"/>
            <a:ext cx="2750400" cy="177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Imagem 27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Google Shape;757;p 1"/>
          <p:cNvSpPr/>
          <p:nvPr/>
        </p:nvSpPr>
        <p:spPr>
          <a:xfrm>
            <a:off x="0" y="1920960"/>
            <a:ext cx="9141120" cy="81288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457200" y="1302120"/>
            <a:ext cx="822672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Experimentos</a:t>
            </a:r>
            <a:endParaRPr b="0" lang="en-US" sz="25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 type="subTitle"/>
          </p:nvPr>
        </p:nvSpPr>
        <p:spPr>
          <a:xfrm>
            <a:off x="457200" y="1920960"/>
            <a:ext cx="3872880" cy="812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91440" indent="0" defTabSz="9144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Resultados em CER dos métodos de aumento de dados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0" name="Google Shape;761;p 1"/>
          <p:cNvCxnSpPr/>
          <p:nvPr/>
        </p:nvCxnSpPr>
        <p:spPr>
          <a:xfrm>
            <a:off x="4452480" y="2011320"/>
            <a:ext cx="2880" cy="660960"/>
          </a:xfrm>
          <a:prstGeom prst="straightConnector1">
            <a:avLst/>
          </a:prstGeom>
          <a:ln w="38160">
            <a:solidFill>
              <a:srgbClr val="211c21"/>
            </a:solidFill>
            <a:round/>
          </a:ln>
        </p:spPr>
      </p:cxnSp>
      <p:sp>
        <p:nvSpPr>
          <p:cNvPr id="551" name="CaixaDeTexto 41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Retângulo 36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AD489A77-4C41-4C79-A2FB-84B2641FAB52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C55899FE-FC6F-4CF1-AF22-2AC85B4584F2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Google Shape;776;p 2"/>
          <p:cNvSpPr/>
          <p:nvPr/>
        </p:nvSpPr>
        <p:spPr>
          <a:xfrm>
            <a:off x="4097880" y="409536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ef233c"/>
                </a:solidFill>
                <a:effectLst/>
                <a:uFillTx/>
                <a:latin typeface="Inter"/>
                <a:ea typeface="Inter"/>
              </a:rPr>
              <a:t>FW1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4" name="" descr=""/>
          <p:cNvPicPr/>
          <p:nvPr/>
        </p:nvPicPr>
        <p:blipFill>
          <a:blip r:embed="rId2"/>
          <a:srcRect l="0" t="1594" r="780" b="0"/>
          <a:stretch/>
        </p:blipFill>
        <p:spPr>
          <a:xfrm>
            <a:off x="561600" y="2574000"/>
            <a:ext cx="2750400" cy="177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5" name="" descr=""/>
          <p:cNvPicPr/>
          <p:nvPr/>
        </p:nvPicPr>
        <p:blipFill>
          <a:blip r:embed="rId3"/>
          <a:srcRect l="0" t="1594" r="780" b="0"/>
          <a:stretch/>
        </p:blipFill>
        <p:spPr>
          <a:xfrm>
            <a:off x="5205600" y="2574000"/>
            <a:ext cx="2750400" cy="177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6" name="" descr=""/>
          <p:cNvPicPr/>
          <p:nvPr/>
        </p:nvPicPr>
        <p:blipFill>
          <a:blip r:embed="rId4"/>
          <a:stretch/>
        </p:blipFill>
        <p:spPr>
          <a:xfrm>
            <a:off x="586800" y="4521600"/>
            <a:ext cx="2750400" cy="177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" descr=""/>
          <p:cNvPicPr/>
          <p:nvPr/>
        </p:nvPicPr>
        <p:blipFill>
          <a:blip r:embed="rId5"/>
          <a:stretch/>
        </p:blipFill>
        <p:spPr>
          <a:xfrm>
            <a:off x="5187600" y="4485600"/>
            <a:ext cx="2750400" cy="177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770;p 1"/>
          <p:cNvSpPr/>
          <p:nvPr/>
        </p:nvSpPr>
        <p:spPr>
          <a:xfrm>
            <a:off x="0" y="1920960"/>
            <a:ext cx="9141120" cy="81288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457200" y="1302120"/>
            <a:ext cx="8226720" cy="5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Experimentos</a:t>
            </a:r>
            <a:endParaRPr b="0" lang="en-US" sz="25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 type="subTitle"/>
          </p:nvPr>
        </p:nvSpPr>
        <p:spPr>
          <a:xfrm>
            <a:off x="457200" y="1920960"/>
            <a:ext cx="3872880" cy="812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91440" indent="0" defTabSz="9144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pt-BR" sz="1200" strike="noStrike" u="none">
                <a:solidFill>
                  <a:srgbClr val="211c21"/>
                </a:solidFill>
                <a:effectLst/>
                <a:uFillTx/>
                <a:latin typeface="Hanken Grotesk SemiBold"/>
                <a:ea typeface="Hanken Grotesk SemiBold"/>
              </a:rPr>
              <a:t>Resultados em CER dos métodos de aumento de dados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1" name="Google Shape;773;p 1"/>
          <p:cNvCxnSpPr/>
          <p:nvPr/>
        </p:nvCxnSpPr>
        <p:spPr>
          <a:xfrm>
            <a:off x="4452480" y="2011320"/>
            <a:ext cx="2880" cy="660960"/>
          </a:xfrm>
          <a:prstGeom prst="straightConnector1">
            <a:avLst/>
          </a:prstGeom>
          <a:ln w="38160">
            <a:solidFill>
              <a:srgbClr val="211c21"/>
            </a:solidFill>
            <a:round/>
          </a:ln>
        </p:spPr>
      </p:cxnSp>
      <p:sp>
        <p:nvSpPr>
          <p:cNvPr id="562" name="Google Shape;777;p 1"/>
          <p:cNvSpPr/>
          <p:nvPr/>
        </p:nvSpPr>
        <p:spPr>
          <a:xfrm>
            <a:off x="4096800" y="408204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7765e3"/>
                </a:solidFill>
                <a:effectLst/>
                <a:uFillTx/>
                <a:latin typeface="Inter"/>
                <a:ea typeface="Inter"/>
              </a:rPr>
              <a:t>FW2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3" name="Imagem 9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CaixaDeTexto 36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Retângulo 3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8FBF4CA7-80F0-42EE-AA1E-7C72E7D50989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82E72F90-3E04-43CD-B136-0C017A9F6BF1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6" name="" descr=""/>
          <p:cNvPicPr/>
          <p:nvPr/>
        </p:nvPicPr>
        <p:blipFill>
          <a:blip r:embed="rId2"/>
          <a:stretch/>
        </p:blipFill>
        <p:spPr>
          <a:xfrm>
            <a:off x="561600" y="2388600"/>
            <a:ext cx="3038400" cy="19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7" name="" descr=""/>
          <p:cNvPicPr/>
          <p:nvPr/>
        </p:nvPicPr>
        <p:blipFill>
          <a:blip r:embed="rId3"/>
          <a:stretch/>
        </p:blipFill>
        <p:spPr>
          <a:xfrm>
            <a:off x="5205600" y="2365200"/>
            <a:ext cx="3074400" cy="19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" descr=""/>
          <p:cNvPicPr/>
          <p:nvPr/>
        </p:nvPicPr>
        <p:blipFill>
          <a:blip r:embed="rId4"/>
          <a:stretch/>
        </p:blipFill>
        <p:spPr>
          <a:xfrm>
            <a:off x="586800" y="4345200"/>
            <a:ext cx="3024360" cy="19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9" name="" descr=""/>
          <p:cNvPicPr/>
          <p:nvPr/>
        </p:nvPicPr>
        <p:blipFill>
          <a:blip r:embed="rId5"/>
          <a:stretch/>
        </p:blipFill>
        <p:spPr>
          <a:xfrm>
            <a:off x="5187600" y="4265280"/>
            <a:ext cx="3092400" cy="199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CaixaDeTexto 6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Retângulo 7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525C71EE-AC4C-412B-92AA-9D4FACBF7F67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74ADE168-279A-4FD2-9B60-A67F0525F0B5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itle 6"/>
          <p:cNvSpPr/>
          <p:nvPr/>
        </p:nvSpPr>
        <p:spPr>
          <a:xfrm>
            <a:off x="822960" y="286920"/>
            <a:ext cx="7543080" cy="14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85000"/>
              </a:lnSpc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Abordagem SimCLR</a:t>
            </a:r>
            <a:endParaRPr b="1" lang="pt-BR" sz="2500" strike="noStrike" u="none">
              <a:solidFill>
                <a:srgbClr val="000000"/>
              </a:solidFill>
              <a:effectLst/>
              <a:uFillTx/>
              <a:latin typeface="Hanken Grotesk"/>
            </a:endParaRPr>
          </a:p>
        </p:txBody>
      </p:sp>
      <p:pic>
        <p:nvPicPr>
          <p:cNvPr id="573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724040" y="1432440"/>
            <a:ext cx="6501600" cy="5264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CaixaDeTexto 32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Retângulo 29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356AC445-73FD-4501-9C80-126DC5FC1041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AF6A1914-5338-484E-9578-A8EE8C5255C6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itle 7"/>
          <p:cNvSpPr/>
          <p:nvPr/>
        </p:nvSpPr>
        <p:spPr>
          <a:xfrm>
            <a:off x="822960" y="286920"/>
            <a:ext cx="7543080" cy="14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85000"/>
              </a:lnSpc>
            </a:pPr>
            <a:r>
              <a:rPr b="1" lang="en-US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Abordagem SwAV</a:t>
            </a:r>
            <a:endParaRPr b="1" lang="pt-BR" sz="2500" strike="noStrike" u="none">
              <a:solidFill>
                <a:srgbClr val="000000"/>
              </a:solidFill>
              <a:effectLst/>
              <a:uFillTx/>
              <a:latin typeface="Hanken Grotesk"/>
            </a:endParaRPr>
          </a:p>
        </p:txBody>
      </p:sp>
      <p:pic>
        <p:nvPicPr>
          <p:cNvPr id="577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749240" y="1440000"/>
            <a:ext cx="6446520" cy="52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Amostras das Transformações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79" name="CaixaDeTexto 25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Retângulo 26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77E09D8E-3BA7-41D4-8064-A2A112E4B8C4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F4772FF4-4078-47CD-9C6F-EA6E9AEA1AFD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1" name="Imagem 2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2" name="" descr=""/>
          <p:cNvPicPr/>
          <p:nvPr/>
        </p:nvPicPr>
        <p:blipFill>
          <a:blip r:embed="rId2"/>
          <a:stretch/>
        </p:blipFill>
        <p:spPr>
          <a:xfrm>
            <a:off x="8640" y="2206800"/>
            <a:ext cx="9143280" cy="304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Resultados – CL (WRA)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84" name="CaixaDeTexto 25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Retângulo 26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4C07EDE1-FA5A-4749-90DA-F94C41D9DEAC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A0B1380A-FFA8-4D57-A341-A86B70DA90B2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6" name="Imagem 2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7" name="" descr=""/>
          <p:cNvPicPr/>
          <p:nvPr/>
        </p:nvPicPr>
        <p:blipFill>
          <a:blip r:embed="rId2"/>
          <a:stretch/>
        </p:blipFill>
        <p:spPr>
          <a:xfrm>
            <a:off x="5616000" y="2160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8" name="" descr=""/>
          <p:cNvPicPr/>
          <p:nvPr/>
        </p:nvPicPr>
        <p:blipFill>
          <a:blip r:embed="rId3"/>
          <a:stretch/>
        </p:blipFill>
        <p:spPr>
          <a:xfrm>
            <a:off x="5616000" y="4464000"/>
            <a:ext cx="30240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9" name="" descr=""/>
          <p:cNvPicPr/>
          <p:nvPr/>
        </p:nvPicPr>
        <p:blipFill>
          <a:blip r:embed="rId4"/>
          <a:stretch/>
        </p:blipFill>
        <p:spPr>
          <a:xfrm>
            <a:off x="579600" y="2160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0" name="" descr=""/>
          <p:cNvPicPr/>
          <p:nvPr/>
        </p:nvPicPr>
        <p:blipFill>
          <a:blip r:embed="rId5"/>
          <a:stretch/>
        </p:blipFill>
        <p:spPr>
          <a:xfrm>
            <a:off x="540000" y="4464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Google Shape;776;p 3"/>
          <p:cNvSpPr/>
          <p:nvPr/>
        </p:nvSpPr>
        <p:spPr>
          <a:xfrm>
            <a:off x="4313160" y="373464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ef233c"/>
                </a:solidFill>
                <a:effectLst/>
                <a:uFillTx/>
                <a:latin typeface="Inter"/>
                <a:ea typeface="Inter"/>
              </a:rPr>
              <a:t>FW1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Resultados – CL (WRA)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93" name="CaixaDeTexto 42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Retângulo 45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C9813BA2-6472-4139-AD38-5A67F6607858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B11B89BB-9E5F-4AB5-80D7-0DBBB14581FE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5" name="Imagem 28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6" name="" descr=""/>
          <p:cNvPicPr/>
          <p:nvPr/>
        </p:nvPicPr>
        <p:blipFill>
          <a:blip r:embed="rId2"/>
          <a:stretch/>
        </p:blipFill>
        <p:spPr>
          <a:xfrm>
            <a:off x="5616000" y="4464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7" name="" descr=""/>
          <p:cNvPicPr/>
          <p:nvPr/>
        </p:nvPicPr>
        <p:blipFill>
          <a:blip r:embed="rId3"/>
          <a:stretch/>
        </p:blipFill>
        <p:spPr>
          <a:xfrm>
            <a:off x="579600" y="2160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8" name="" descr=""/>
          <p:cNvPicPr/>
          <p:nvPr/>
        </p:nvPicPr>
        <p:blipFill>
          <a:blip r:embed="rId4"/>
          <a:stretch/>
        </p:blipFill>
        <p:spPr>
          <a:xfrm>
            <a:off x="540000" y="4464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9" name="" descr=""/>
          <p:cNvPicPr/>
          <p:nvPr/>
        </p:nvPicPr>
        <p:blipFill>
          <a:blip r:embed="rId5"/>
          <a:stretch/>
        </p:blipFill>
        <p:spPr>
          <a:xfrm>
            <a:off x="5616000" y="2160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Google Shape;777;p 2"/>
          <p:cNvSpPr/>
          <p:nvPr/>
        </p:nvSpPr>
        <p:spPr>
          <a:xfrm>
            <a:off x="4312800" y="373320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7765e3"/>
                </a:solidFill>
                <a:effectLst/>
                <a:uFillTx/>
                <a:latin typeface="Inter"/>
                <a:ea typeface="Inter"/>
              </a:rPr>
              <a:t>FW2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Resultados – CL (CER)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02" name="CaixaDeTexto 43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Retângulo 46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8BDA10B0-68E4-4B54-907B-9A688FF0CB1C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C005C586-CDC7-429D-97D1-A5C34B535A48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4" name="Imagem 29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Google Shape;776;p 4"/>
          <p:cNvSpPr/>
          <p:nvPr/>
        </p:nvSpPr>
        <p:spPr>
          <a:xfrm>
            <a:off x="4313160" y="373464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ef233c"/>
                </a:solidFill>
                <a:effectLst/>
                <a:uFillTx/>
                <a:latin typeface="Inter"/>
                <a:ea typeface="Inter"/>
              </a:rPr>
              <a:t>FW1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6" name="" descr=""/>
          <p:cNvPicPr/>
          <p:nvPr/>
        </p:nvPicPr>
        <p:blipFill>
          <a:blip r:embed="rId2"/>
          <a:stretch/>
        </p:blipFill>
        <p:spPr>
          <a:xfrm>
            <a:off x="5616000" y="4464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7" name="" descr=""/>
          <p:cNvPicPr/>
          <p:nvPr/>
        </p:nvPicPr>
        <p:blipFill>
          <a:blip r:embed="rId3"/>
          <a:stretch/>
        </p:blipFill>
        <p:spPr>
          <a:xfrm>
            <a:off x="579600" y="2160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8" name="" descr=""/>
          <p:cNvPicPr/>
          <p:nvPr/>
        </p:nvPicPr>
        <p:blipFill>
          <a:blip r:embed="rId4"/>
          <a:stretch/>
        </p:blipFill>
        <p:spPr>
          <a:xfrm>
            <a:off x="540000" y="4464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9" name="" descr=""/>
          <p:cNvPicPr/>
          <p:nvPr/>
        </p:nvPicPr>
        <p:blipFill>
          <a:blip r:embed="rId5"/>
          <a:stretch/>
        </p:blipFill>
        <p:spPr>
          <a:xfrm>
            <a:off x="5616000" y="2160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Resultados – CL (CER)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11" name="CaixaDeTexto 44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Retângulo 47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966B9AF0-D2B6-4DD2-AACD-D0932F4D22B6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703A59B2-9B71-4519-A9E9-3CA10C8C77C8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3" name="Imagem 30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4" name="Google Shape;777;p 3"/>
          <p:cNvSpPr/>
          <p:nvPr/>
        </p:nvSpPr>
        <p:spPr>
          <a:xfrm>
            <a:off x="4312800" y="373320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7765e3"/>
                </a:solidFill>
                <a:effectLst/>
                <a:uFillTx/>
                <a:latin typeface="Inter"/>
                <a:ea typeface="Inter"/>
              </a:rPr>
              <a:t>FW2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5" name="" descr=""/>
          <p:cNvPicPr/>
          <p:nvPr/>
        </p:nvPicPr>
        <p:blipFill>
          <a:blip r:embed="rId2"/>
          <a:stretch/>
        </p:blipFill>
        <p:spPr>
          <a:xfrm>
            <a:off x="5616000" y="2160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6" name="" descr=""/>
          <p:cNvPicPr/>
          <p:nvPr/>
        </p:nvPicPr>
        <p:blipFill>
          <a:blip r:embed="rId3"/>
          <a:stretch/>
        </p:blipFill>
        <p:spPr>
          <a:xfrm>
            <a:off x="5616000" y="4464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7" name="" descr=""/>
          <p:cNvPicPr/>
          <p:nvPr/>
        </p:nvPicPr>
        <p:blipFill>
          <a:blip r:embed="rId4"/>
          <a:stretch/>
        </p:blipFill>
        <p:spPr>
          <a:xfrm>
            <a:off x="579600" y="2160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8" name="" descr=""/>
          <p:cNvPicPr/>
          <p:nvPr/>
        </p:nvPicPr>
        <p:blipFill>
          <a:blip r:embed="rId5"/>
          <a:stretch/>
        </p:blipFill>
        <p:spPr>
          <a:xfrm>
            <a:off x="540000" y="4464000"/>
            <a:ext cx="3020400" cy="18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520" strike="noStrike" u="non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Considerações Finais</a:t>
            </a:r>
            <a:endParaRPr b="0" lang="en-US" sz="252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20" name="CaixaDeTexto 20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Retângulo 21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F2462AD1-0DE5-4900-BFAD-E715B1AA9D9D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6EE45C9B-42B0-4BB7-B703-D9AB4A500BB8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2" name="Imagem 2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3" name=""/>
          <p:cNvSpPr txBox="1"/>
          <p:nvPr/>
        </p:nvSpPr>
        <p:spPr>
          <a:xfrm>
            <a:off x="892080" y="4977720"/>
            <a:ext cx="324792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ff0000"/>
                </a:solidFill>
                <a:effectLst/>
                <a:uFillTx/>
                <a:latin typeface="Calibri"/>
                <a:hlinkClick r:id="rId2"/>
              </a:rPr>
              <a:t>Retomando a H2 ...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2846520" y="5482080"/>
            <a:ext cx="345096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pt-BR" sz="2400" strike="noStrike" u="none">
                <a:solidFill>
                  <a:srgbClr val="5eb91e"/>
                </a:solidFill>
                <a:effectLst/>
                <a:uFillTx/>
                <a:latin typeface="Arial"/>
              </a:rPr>
              <a:t>Hipótese confirmada!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936000" y="2376000"/>
            <a:ext cx="3648240" cy="18820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✅ Em relação ao </a:t>
            </a:r>
            <a:r>
              <a:rPr b="0" i="1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baseline: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📉 Erros (CER e WER)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pt-BR" sz="1800" strike="noStrike" u="none">
                <a:solidFill>
                  <a:srgbClr val="5eb91e"/>
                </a:solidFill>
                <a:effectLst/>
                <a:uFillTx/>
                <a:latin typeface="Arial"/>
              </a:rPr>
              <a:t>⬇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trike="noStrike" u="none">
                <a:solidFill>
                  <a:srgbClr val="81d41a"/>
                </a:solidFill>
                <a:effectLst/>
                <a:uFillTx/>
                <a:latin typeface="Arial"/>
              </a:rPr>
              <a:t>📈 </a:t>
            </a: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Acurácia por palavra (WRA) </a:t>
            </a:r>
            <a:r>
              <a:rPr b="0" lang="pt-BR" sz="1800" strike="noStrike" u="none">
                <a:solidFill>
                  <a:srgbClr val="5eb91e"/>
                </a:solidFill>
                <a:effectLst/>
                <a:uFillTx/>
                <a:latin typeface="Arial"/>
              </a:rPr>
              <a:t>⬆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 txBox="1"/>
          <p:nvPr/>
        </p:nvSpPr>
        <p:spPr>
          <a:xfrm rot="19875600">
            <a:off x="1872000" y="5438160"/>
            <a:ext cx="1017360" cy="771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pt-BR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✅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"/>
                            </p:stCondLst>
                            <p:childTnLst>
                              <p:par>
                                <p:cTn id="8" nodeType="afterEffect" fill="hold" presetClass="entr" presetID="5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" dur="500"/>
                                        <p:tgtEl>
                                          <p:spTgt spid="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Supervisionado x CL (WRA)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28" name="CaixaDeTexto 45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Retângulo 48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2F94428C-6C2C-4E60-861D-8A829B3720C9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49F907D3-5B49-4590-92C4-AB6BF4E3FBCC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0" name="Imagem 31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1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860000" y="2520000"/>
            <a:ext cx="4201200" cy="36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2" name="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68000" y="2520000"/>
            <a:ext cx="4201200" cy="36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3" name="Google Shape;776;p 5"/>
          <p:cNvSpPr/>
          <p:nvPr/>
        </p:nvSpPr>
        <p:spPr>
          <a:xfrm>
            <a:off x="2340000" y="208800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ef233c"/>
                </a:solidFill>
                <a:effectLst/>
                <a:uFillTx/>
                <a:latin typeface="Inter"/>
                <a:ea typeface="Inter"/>
              </a:rPr>
              <a:t>FW1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Google Shape;777;p 4"/>
          <p:cNvSpPr/>
          <p:nvPr/>
        </p:nvSpPr>
        <p:spPr>
          <a:xfrm>
            <a:off x="6473160" y="208800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7765e3"/>
                </a:solidFill>
                <a:effectLst/>
                <a:uFillTx/>
                <a:latin typeface="Inter"/>
                <a:ea typeface="Inter"/>
              </a:rPr>
              <a:t>FW2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Supervisionado x CL (CER)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36" name="CaixaDeTexto 46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Retângulo 49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43ECF4AE-C91B-4081-A458-52D041E82E73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B43205F8-D4C3-428B-A63F-521E1915E55B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8" name="Imagem 32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9" name="Google Shape;776;p 6"/>
          <p:cNvSpPr/>
          <p:nvPr/>
        </p:nvSpPr>
        <p:spPr>
          <a:xfrm>
            <a:off x="2340000" y="208800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ef233c"/>
                </a:solidFill>
                <a:effectLst/>
                <a:uFillTx/>
                <a:latin typeface="Inter"/>
                <a:ea typeface="Inter"/>
              </a:rPr>
              <a:t>FW1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Google Shape;777;p 5"/>
          <p:cNvSpPr/>
          <p:nvPr/>
        </p:nvSpPr>
        <p:spPr>
          <a:xfrm>
            <a:off x="6473160" y="2088000"/>
            <a:ext cx="726840" cy="45756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7765e3"/>
                </a:solidFill>
                <a:effectLst/>
                <a:uFillTx/>
                <a:latin typeface="Inter"/>
                <a:ea typeface="Inter"/>
              </a:rPr>
              <a:t>FW2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1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68000" y="2520000"/>
            <a:ext cx="4201200" cy="36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2" name="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860000" y="2520000"/>
            <a:ext cx="419760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Conclusão...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44" name="CaixaDeTexto 1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Retângulo 1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D70F1764-32ED-4468-A97D-3518768DED5E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4A6BB5CA-3EAB-4DF2-88D3-D51CA894D987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6" name="Imagem 1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7" name=""/>
          <p:cNvSpPr txBox="1"/>
          <p:nvPr/>
        </p:nvSpPr>
        <p:spPr>
          <a:xfrm>
            <a:off x="853920" y="2165040"/>
            <a:ext cx="7801560" cy="378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Validação das Hipóteses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H1: Aumento de dados (ruído, dilatação, oclusão e combinações) promove representações mais robustas.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✅ Confirmada: reduziu CER/WER, com destaque para a arquitetura FW2 e os métodos APP e AP em falas severas.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pt-BR" sz="1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H2: Usar os aumentos para formar pares positivos no </a:t>
            </a:r>
            <a:r>
              <a:rPr b="0" i="1" lang="pt-BR" sz="1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upstream</a:t>
            </a:r>
            <a:r>
              <a:rPr b="0" lang="pt-BR" sz="1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 contrastivo (SimCLR/SwAV) melhora o reconhecimento.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✅ Confirmada: CL gerou </a:t>
            </a:r>
            <a:r>
              <a:rPr b="1" i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embeddings</a:t>
            </a: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mais discriminativos e ganhos consistentes.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"/>
          <p:cNvSpPr txBox="1"/>
          <p:nvPr/>
        </p:nvSpPr>
        <p:spPr>
          <a:xfrm>
            <a:off x="541440" y="3700080"/>
            <a:ext cx="860400" cy="65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🕸️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Conclusão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50" name="CaixaDeTexto 47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Retângulo 50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5838B92B-9356-4CD3-9DF5-4F41024BF666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FF355FC6-EB16-4C3B-B6F5-5F93B16F95A7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2" name="Imagem 33" descr=""/>
          <p:cNvPicPr/>
          <p:nvPr/>
        </p:nvPicPr>
        <p:blipFill>
          <a:blip r:embed="rId1"/>
          <a:stretch/>
        </p:blipFill>
        <p:spPr>
          <a:xfrm>
            <a:off x="7272000" y="1162440"/>
            <a:ext cx="1473480" cy="108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3" name=""/>
          <p:cNvSpPr txBox="1"/>
          <p:nvPr/>
        </p:nvSpPr>
        <p:spPr>
          <a:xfrm>
            <a:off x="1317600" y="2128680"/>
            <a:ext cx="7239600" cy="380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Aprendizado Supervisionado vs. Contrastivo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Bef>
                <a:spcPts val="1191"/>
              </a:spcBef>
              <a:spcAft>
                <a:spcPts val="992"/>
              </a:spcAf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modelo Supervisionado mostrou bons resultados com aumentos, mas limitado à base disponível.👍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Bef>
                <a:spcPts val="1191"/>
              </a:spcBef>
              <a:spcAft>
                <a:spcPts val="992"/>
              </a:spcAf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Bef>
                <a:spcPts val="1191"/>
              </a:spcBef>
              <a:spcAft>
                <a:spcPts val="992"/>
              </a:spcAf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O modelo contrastivo (</a:t>
            </a: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CL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) ampliou a generalização mesmo sem rótulos - 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apesar da performance menor em relação ao modelo Supervisionado em FW2 - mostrando grande potencial, com margem para melhorias. 👍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Bef>
                <a:spcPts val="1191"/>
              </a:spcBef>
              <a:spcAft>
                <a:spcPts val="992"/>
              </a:spcAf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Bef>
                <a:spcPts val="1191"/>
              </a:spcBef>
              <a:spcAft>
                <a:spcPts val="992"/>
              </a:spcAf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Infraestrutura, rotina de treinamento e hiperparâmetros (</a:t>
            </a:r>
            <a:r>
              <a:rPr b="0" i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batch size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 similares à literatura inaugural dos métodos CL, tendem a melhorar os resultados.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571680" y="5028120"/>
            <a:ext cx="877320" cy="657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788040" y="3912120"/>
            <a:ext cx="740160" cy="715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☯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572400" y="2508120"/>
            <a:ext cx="1001160" cy="657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Segoe UI Emoji"/>
              </a:rPr>
              <a:t>🕸️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 txBox="1"/>
          <p:nvPr/>
        </p:nvSpPr>
        <p:spPr>
          <a:xfrm rot="19996200">
            <a:off x="6202440" y="5302800"/>
            <a:ext cx="425520" cy="2581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pt-BR" sz="1400" strike="noStrike" u="none">
                <a:solidFill>
                  <a:srgbClr val="5eb91e"/>
                </a:solidFill>
                <a:effectLst/>
                <a:uFillTx/>
                <a:latin typeface="Segoe UI Emoji"/>
              </a:rPr>
              <a:t>⚠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Agradecimentos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/>
          </p:nvPr>
        </p:nvSpPr>
        <p:spPr>
          <a:xfrm>
            <a:off x="822960" y="1845720"/>
            <a:ext cx="75430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124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412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0" name="" descr=""/>
          <p:cNvPicPr/>
          <p:nvPr/>
        </p:nvPicPr>
        <p:blipFill>
          <a:blip r:embed="rId1"/>
          <a:stretch/>
        </p:blipFill>
        <p:spPr>
          <a:xfrm>
            <a:off x="5868000" y="1800000"/>
            <a:ext cx="2634840" cy="19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1" name="" descr=""/>
          <p:cNvPicPr/>
          <p:nvPr/>
        </p:nvPicPr>
        <p:blipFill>
          <a:blip r:embed="rId2"/>
          <a:stretch/>
        </p:blipFill>
        <p:spPr>
          <a:xfrm>
            <a:off x="2932200" y="2779560"/>
            <a:ext cx="2755800" cy="20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2" name=""/>
          <p:cNvSpPr txBox="1"/>
          <p:nvPr/>
        </p:nvSpPr>
        <p:spPr>
          <a:xfrm>
            <a:off x="1001880" y="4783680"/>
            <a:ext cx="3177720" cy="11098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Orientador: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Jurandy Almeida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5736600" y="4495680"/>
            <a:ext cx="2436840" cy="179136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 anchorCtr="1">
            <a:spAutoFit/>
          </a:bodyPr>
          <a:p>
            <a:pPr algn="ctr"/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Membros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Banca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4" name="" descr=""/>
          <p:cNvPicPr/>
          <p:nvPr/>
        </p:nvPicPr>
        <p:blipFill>
          <a:blip r:embed="rId3"/>
          <a:stretch/>
        </p:blipFill>
        <p:spPr>
          <a:xfrm>
            <a:off x="834120" y="1845720"/>
            <a:ext cx="3682800" cy="81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Repositório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pic>
        <p:nvPicPr>
          <p:cNvPr id="666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300480" y="2682000"/>
            <a:ext cx="2044080" cy="204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7" name=""/>
          <p:cNvSpPr txBox="1"/>
          <p:nvPr/>
        </p:nvSpPr>
        <p:spPr>
          <a:xfrm>
            <a:off x="3203280" y="2311560"/>
            <a:ext cx="22388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Amostras e Códigos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1776600" y="4839480"/>
            <a:ext cx="5591160" cy="43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i="1" lang="pt-BR" sz="1800" strike="noStrike" u="none">
                <a:solidFill>
                  <a:srgbClr val="000000"/>
                </a:solidFill>
                <a:effectLst/>
                <a:uFillTx/>
                <a:latin typeface="Arial"/>
                <a:hlinkClick r:id="rId3"/>
              </a:rPr>
              <a:t>https://ragracelli.github.io/CONTRASTIVE_DASR/</a:t>
            </a:r>
            <a:endParaRPr b="0" i="1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Referências I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70" name="CaixaDeTexto 20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Retângulo 21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C3EE9951-545D-4346-9CF3-EDECFEFBA2A0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843A8BD1-E6E7-48C6-98F1-A99555BA1B79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CaixaDeTexto 22"/>
          <p:cNvSpPr/>
          <p:nvPr/>
        </p:nvSpPr>
        <p:spPr>
          <a:xfrm>
            <a:off x="414720" y="1803240"/>
            <a:ext cx="7951320" cy="460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646920" indent="-228600" algn="just" defTabSz="457200">
              <a:lnSpc>
                <a:spcPct val="105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ABAYOMI-ALLI,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O.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O.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et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al.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Data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augmentation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and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deep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learning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methods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sound classification: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 systematic review.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Electronics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v. 11, p. 3795, 2022.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6920" indent="-228600" algn="just" defTabSz="457200">
              <a:lnSpc>
                <a:spcPct val="105000"/>
              </a:lnSpc>
              <a:spcBef>
                <a:spcPts val="1054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ALLEN,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J.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B.; RABINER,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L.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R.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Short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term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spectral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analysis, synthesis, and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modification by</a:t>
            </a:r>
            <a:r>
              <a:rPr b="0" lang="en-US" sz="900" spc="12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discrete</a:t>
            </a:r>
            <a:r>
              <a:rPr b="0" lang="en-US" sz="900" spc="12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fourier</a:t>
            </a:r>
            <a:r>
              <a:rPr b="0" lang="en-US" sz="900" spc="12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transform.</a:t>
            </a:r>
            <a:r>
              <a:rPr b="0" lang="en-US" sz="900" spc="12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IEEE</a:t>
            </a:r>
            <a:r>
              <a:rPr b="1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Transactions</a:t>
            </a:r>
            <a:r>
              <a:rPr b="1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on</a:t>
            </a:r>
            <a:r>
              <a:rPr b="1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Acoustics,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Speech,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and Signal Processing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0" lang="en-US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IEEE,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v.</a:t>
            </a:r>
            <a:r>
              <a:rPr b="0" lang="en-US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25,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n.</a:t>
            </a:r>
            <a:r>
              <a:rPr b="0" lang="en-US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3,</a:t>
            </a:r>
            <a:r>
              <a:rPr b="0" lang="en-US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p.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235–238,</a:t>
            </a:r>
            <a:r>
              <a:rPr b="0" lang="en-US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1977.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6920" indent="-228600" algn="just" defTabSz="457200">
              <a:lnSpc>
                <a:spcPct val="105000"/>
              </a:lnSpc>
              <a:spcBef>
                <a:spcPts val="1040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ALMADHOR, A. et al. E2e-dasr: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End-to-end deep learning-based dysarthric automatic speech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recognition.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Expert Systems with Applications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Pergamon, v.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222, p.</a:t>
            </a:r>
            <a:r>
              <a:rPr b="0" lang="en-US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119797, 7 2023. ISSN 0957-4174.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6920" indent="-228600" algn="just" defTabSz="457200">
              <a:lnSpc>
                <a:spcPct val="105000"/>
              </a:lnSpc>
              <a:spcBef>
                <a:spcPts val="1049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BAEVSKI,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A.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et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al.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wav2vec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2.0:</a:t>
            </a:r>
            <a:r>
              <a:rPr b="0" lang="en-US" sz="900" spc="397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framework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for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self-supervised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learning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speech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representations.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Advances</a:t>
            </a:r>
            <a:r>
              <a:rPr b="1" lang="en-US" sz="900" spc="4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</a:t>
            </a:r>
            <a:r>
              <a:rPr b="1" lang="en-US" sz="900" spc="4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Neural</a:t>
            </a:r>
            <a:r>
              <a:rPr b="1" lang="en-US" sz="900" spc="4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Information</a:t>
            </a:r>
            <a:r>
              <a:rPr b="1" lang="en-US" sz="900" spc="4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Processing</a:t>
            </a:r>
            <a:r>
              <a:rPr b="1" lang="en-US" sz="900" spc="4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Systems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v. 33, p.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12449–12460, 2020.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6920" indent="-228600" algn="just" defTabSz="457200">
              <a:lnSpc>
                <a:spcPct val="105000"/>
              </a:lnSpc>
              <a:spcBef>
                <a:spcPts val="1046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BAHDANAU, D.; CHO, K.; BENGIO, Y. Neural machine translation by jointly learning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to</a:t>
            </a:r>
            <a:r>
              <a:rPr b="0" lang="en-US" sz="900" spc="-65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align</a:t>
            </a:r>
            <a:r>
              <a:rPr b="0" lang="en-US" sz="900" spc="-65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and</a:t>
            </a:r>
            <a:r>
              <a:rPr b="0" lang="en-US" sz="900" spc="-65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translate.</a:t>
            </a:r>
            <a:r>
              <a:rPr b="0" lang="en-US" sz="900" spc="-65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In: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International</a:t>
            </a:r>
            <a:r>
              <a:rPr b="1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Conference</a:t>
            </a:r>
            <a:r>
              <a:rPr b="1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on</a:t>
            </a:r>
            <a:r>
              <a:rPr b="1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Learning</a:t>
            </a:r>
            <a:r>
              <a:rPr b="1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Representations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(ICLR’15)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 [S.l.: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s.n.], 2015.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6920" indent="-228600" algn="just" defTabSz="457200">
              <a:lnSpc>
                <a:spcPct val="105000"/>
              </a:lnSpc>
              <a:spcBef>
                <a:spcPts val="1046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CADET,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X.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F.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et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al.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study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on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impact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self-supervised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learning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on</a:t>
            </a:r>
            <a:r>
              <a:rPr b="0" lang="en-US" sz="900" spc="17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automatic dysarthric</a:t>
            </a:r>
            <a:r>
              <a:rPr b="0" lang="en-US" sz="900" spc="-7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speech</a:t>
            </a:r>
            <a:r>
              <a:rPr b="0" lang="en-US" sz="900" spc="-7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assessment.</a:t>
            </a:r>
            <a:r>
              <a:rPr b="0" lang="en-US" sz="900" spc="-7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Journal</a:t>
            </a:r>
            <a:r>
              <a:rPr b="1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Name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0" lang="en-US" sz="900" spc="-7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Publisher,</a:t>
            </a:r>
            <a:r>
              <a:rPr b="0" lang="en-US" sz="900" spc="-7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Volume,</a:t>
            </a:r>
            <a:r>
              <a:rPr b="0" lang="en-US" sz="900" spc="-7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n.</a:t>
            </a:r>
            <a:r>
              <a:rPr b="0" lang="en-US" sz="900" spc="-7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Number,</a:t>
            </a:r>
            <a:r>
              <a:rPr b="0" lang="en-US" sz="900" spc="-7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p.</a:t>
            </a:r>
            <a:r>
              <a:rPr b="0" lang="en-US" sz="900" spc="-7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Pages, </a:t>
            </a:r>
            <a:r>
              <a:rPr b="0" lang="en-US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2024.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6920" indent="-228600" algn="just" defTabSz="457200">
              <a:lnSpc>
                <a:spcPct val="105000"/>
              </a:lnSpc>
              <a:spcBef>
                <a:spcPts val="1046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CHEN, T. et al. A simple framework for contrastive learning of visual representations.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arXiv</a:t>
            </a:r>
            <a:r>
              <a:rPr b="1" lang="en-US" sz="900" spc="9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preprint</a:t>
            </a:r>
            <a:r>
              <a:rPr b="1" lang="en-US" sz="900" spc="9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arXiv:2002.05709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2020. </a:t>
            </a:r>
            <a:r>
              <a:rPr b="0" lang="pt-PT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Disponível em: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pc="-11" strike="noStrike" u="sng">
                <a:solidFill>
                  <a:srgbClr val="2998e3"/>
                </a:solidFill>
                <a:effectLst/>
                <a:uFillTx/>
                <a:latin typeface="Times New Roman"/>
                <a:ea typeface="Times New Roman"/>
                <a:hlinkClick r:id="rId1"/>
              </a:rPr>
              <a:t>&lt;https://arxiv.org/abs/</a:t>
            </a:r>
            <a:r>
              <a:rPr b="0" lang="pt-PT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pc="-11" strike="noStrike" u="sng">
                <a:solidFill>
                  <a:srgbClr val="2998e3"/>
                </a:solidFill>
                <a:effectLst/>
                <a:uFillTx/>
                <a:latin typeface="Times New Roman"/>
                <a:ea typeface="Times New Roman"/>
                <a:hlinkClick r:id="rId2"/>
              </a:rPr>
              <a:t>2002.05709&gt;</a:t>
            </a:r>
            <a:r>
              <a:rPr b="0" lang="pt-PT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6920" indent="-228600" algn="just" defTabSz="457200">
              <a:lnSpc>
                <a:spcPct val="103000"/>
              </a:lnSpc>
              <a:spcBef>
                <a:spcPts val="1049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CHOROWSKI, J. K. et al.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Attention-based models for speech recognition. In: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Advances</a:t>
            </a:r>
            <a:r>
              <a:rPr b="1" lang="en-US" sz="900" spc="397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</a:t>
            </a:r>
            <a:r>
              <a:rPr b="1" lang="en-US" sz="900" spc="4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Neural</a:t>
            </a:r>
            <a:r>
              <a:rPr b="1" lang="en-US" sz="900" spc="4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Information</a:t>
            </a:r>
            <a:r>
              <a:rPr b="1" lang="en-US" sz="900" spc="4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Processing</a:t>
            </a:r>
            <a:r>
              <a:rPr b="1" lang="en-US" sz="900" spc="4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Systems</a:t>
            </a:r>
            <a:r>
              <a:rPr b="1" lang="en-US" sz="900" spc="4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(NeurIPS’15)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 [S.l.:</a:t>
            </a:r>
            <a:r>
              <a:rPr b="0" lang="en-US" sz="900" spc="13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s.n.], 2015. p.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6920" indent="-228600" algn="just" defTabSz="457200">
              <a:lnSpc>
                <a:spcPct val="100000"/>
              </a:lnSpc>
              <a:spcBef>
                <a:spcPts val="1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pt-PT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577–585.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6920" indent="-228600" algn="just" defTabSz="457200">
              <a:lnSpc>
                <a:spcPct val="105000"/>
              </a:lnSpc>
              <a:spcBef>
                <a:spcPts val="1131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COSTA,</a:t>
            </a:r>
            <a:r>
              <a:rPr b="0" lang="pt-PT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F.</a:t>
            </a:r>
            <a:r>
              <a:rPr b="0" lang="pt-PT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P.</a:t>
            </a:r>
            <a:r>
              <a:rPr b="0" lang="pt-PT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d.;</a:t>
            </a:r>
            <a:r>
              <a:rPr b="0" lang="pt-PT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DIAFéRIA,</a:t>
            </a:r>
            <a:r>
              <a:rPr b="0" lang="pt-PT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G.;</a:t>
            </a:r>
            <a:r>
              <a:rPr b="0" lang="pt-PT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BEHLAU,</a:t>
            </a:r>
            <a:r>
              <a:rPr b="0" lang="pt-PT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M.</a:t>
            </a:r>
            <a:r>
              <a:rPr b="0" lang="pt-PT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Aspectos</a:t>
            </a:r>
            <a:r>
              <a:rPr b="0" lang="pt-PT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comunicativos</a:t>
            </a:r>
            <a:r>
              <a:rPr b="0" lang="pt-PT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r>
              <a:rPr b="0" lang="pt-PT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enfrentamento da disfonia em pacientes com doença de parkinson.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CoDAS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v. 28, n. 1, p. 46–52, 2016.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6920" indent="-228600" algn="just" defTabSz="457200">
              <a:lnSpc>
                <a:spcPct val="105000"/>
              </a:lnSpc>
              <a:spcBef>
                <a:spcPts val="1049"/>
              </a:spcBef>
              <a:buClr>
                <a:srgbClr val="000000"/>
              </a:buClr>
              <a:buFont typeface="OpenSymbol"/>
              <a:buAutoNum type="arabicPeriod"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DARLEY,</a:t>
            </a:r>
            <a:r>
              <a:rPr b="0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F.</a:t>
            </a:r>
            <a:r>
              <a:rPr b="0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L.;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ARONSON,</a:t>
            </a:r>
            <a:r>
              <a:rPr b="0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A.</a:t>
            </a:r>
            <a:r>
              <a:rPr b="0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E.;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BROWN,</a:t>
            </a:r>
            <a:r>
              <a:rPr b="0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J.</a:t>
            </a:r>
            <a:r>
              <a:rPr b="0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R.</a:t>
            </a:r>
            <a:r>
              <a:rPr b="0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Differential</a:t>
            </a:r>
            <a:r>
              <a:rPr b="0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diagnostic</a:t>
            </a:r>
            <a:r>
              <a:rPr b="0" lang="en-US" sz="900" spc="18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patterns of</a:t>
            </a:r>
            <a:r>
              <a:rPr b="0" lang="en-US" sz="900" spc="13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dysarthria.</a:t>
            </a:r>
            <a:r>
              <a:rPr b="0" lang="en-US" sz="900" spc="13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Journal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speech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and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hearing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research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0" lang="en-US" sz="900" spc="167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American</a:t>
            </a:r>
            <a:r>
              <a:rPr b="0" lang="en-US" sz="900" spc="13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Speech-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Language-Hearing Association, v. 12, p. 246–269, 1969. </a:t>
            </a:r>
            <a:r>
              <a:rPr b="0" lang="pt-PT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ISSN 00224685. Disponível em:</a:t>
            </a: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pc="-11" strike="noStrike" u="sng">
                <a:solidFill>
                  <a:srgbClr val="2998e3"/>
                </a:solidFill>
                <a:effectLst/>
                <a:uFillTx/>
                <a:latin typeface="Times New Roman"/>
                <a:ea typeface="Times New Roman"/>
                <a:hlinkClick r:id="rId3"/>
              </a:rPr>
              <a:t>&lt;https://pubs.asha.org/doi/epdf/10.1044/jshr.1202.246&gt;</a:t>
            </a:r>
            <a:r>
              <a:rPr b="0" lang="pt-PT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Referências II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74" name="CaixaDeTexto 20"/>
          <p:cNvSpPr/>
          <p:nvPr/>
        </p:nvSpPr>
        <p:spPr>
          <a:xfrm>
            <a:off x="651240" y="6422400"/>
            <a:ext cx="503712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Aprendizagem Autossupervisionada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Retângulo 21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206A6047-6C62-4F73-B61E-3329804E067F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1F4BECF0-16CD-47F8-8642-0404ECA18386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CaixaDeTexto 22"/>
          <p:cNvSpPr/>
          <p:nvPr/>
        </p:nvSpPr>
        <p:spPr>
          <a:xfrm>
            <a:off x="770400" y="1803240"/>
            <a:ext cx="7595640" cy="37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92680" indent="-228600" defTabSz="457200">
              <a:lnSpc>
                <a:spcPct val="105000"/>
              </a:lnSpc>
              <a:buClr>
                <a:srgbClr val="000000"/>
              </a:buClr>
              <a:buFont typeface="OpenSymbol"/>
              <a:buAutoNum type="arabicPeriod" startAt="12"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DAVIS,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S.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B.;</a:t>
            </a:r>
            <a:r>
              <a:rPr b="0" lang="en-US" sz="900" spc="397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MERMELSTEIN,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P.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Comparison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parametric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representations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for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monosyllabic word recognition in continuously spoken sentences.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IEEE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Transactions on Acoustics, Speech, and Signal Processing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IEEE,</a:t>
            </a:r>
            <a:r>
              <a:rPr b="0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v.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28,</a:t>
            </a:r>
            <a:r>
              <a:rPr b="0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n.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4,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p.</a:t>
            </a:r>
            <a:r>
              <a:rPr b="0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357–366,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1980.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2680" indent="-228600" defTabSz="457200">
              <a:lnSpc>
                <a:spcPct val="105000"/>
              </a:lnSpc>
              <a:spcBef>
                <a:spcPts val="1066"/>
              </a:spcBef>
              <a:buClr>
                <a:srgbClr val="000000"/>
              </a:buClr>
              <a:buFont typeface="OpenSymbol"/>
              <a:buAutoNum type="arabicPeriod" startAt="12"/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DEVLIN,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J.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et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al.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Bert:</a:t>
            </a:r>
            <a:r>
              <a:rPr b="0" lang="en-US" sz="900" spc="397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Pre-training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deep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bidirectional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transformers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for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language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understanding.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Proceedings</a:t>
            </a:r>
            <a:r>
              <a:rPr b="1" lang="en-US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1" lang="en-US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</a:t>
            </a:r>
            <a:r>
              <a:rPr b="1" lang="en-US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2019</a:t>
            </a:r>
            <a:r>
              <a:rPr b="1" lang="en-US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Conference</a:t>
            </a:r>
            <a:r>
              <a:rPr b="1" lang="en-US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1" lang="en-US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</a:t>
            </a:r>
            <a:r>
              <a:rPr b="1" lang="en-US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North</a:t>
            </a:r>
            <a:r>
              <a:rPr b="1" lang="en-US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American </a:t>
            </a:r>
            <a:r>
              <a:rPr b="1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Chapter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Association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for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Computational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Linguistics:</a:t>
            </a:r>
            <a:r>
              <a:rPr b="1" lang="en-US" sz="900" spc="13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Human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3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Language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Technologies,</a:t>
            </a:r>
            <a:r>
              <a:rPr b="1" lang="en-US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Volume</a:t>
            </a:r>
            <a:r>
              <a:rPr b="1" lang="en-US" sz="900" spc="-1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r>
              <a:rPr b="1" lang="en-US" sz="900" spc="-1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(Long</a:t>
            </a:r>
            <a:r>
              <a:rPr b="1" lang="en-US" sz="900" spc="-1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and</a:t>
            </a:r>
            <a:r>
              <a:rPr b="1" lang="en-US" sz="900" spc="-1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Short</a:t>
            </a:r>
            <a:r>
              <a:rPr b="1" lang="en-US" sz="900" spc="-1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Papers)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</a:t>
            </a:r>
            <a:r>
              <a:rPr b="0" lang="en-US" sz="900" spc="-5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Association</a:t>
            </a:r>
            <a:r>
              <a:rPr b="0" lang="en-US" sz="900" spc="-5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for</a:t>
            </a:r>
            <a:r>
              <a:rPr b="0" lang="en-US" sz="900" spc="-5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Computational Linguistics, p. 4171–4186, 2019.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2680" indent="-228600" defTabSz="457200">
              <a:lnSpc>
                <a:spcPct val="105000"/>
              </a:lnSpc>
              <a:spcBef>
                <a:spcPts val="1069"/>
              </a:spcBef>
              <a:buClr>
                <a:srgbClr val="000000"/>
              </a:buClr>
              <a:buFont typeface="OpenSymbol"/>
              <a:buAutoNum type="arabicPeriod" startAt="12"/>
              <a:tabLst>
                <a:tab algn="l" pos="460440"/>
              </a:tabLst>
            </a:pPr>
            <a:r>
              <a:rPr b="0" lang="en-US" sz="9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Bert:</a:t>
            </a:r>
            <a:r>
              <a:rPr b="0" lang="en-US" sz="900" spc="397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Pre-training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deep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bidirectional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transformers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for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language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understanding. In:</a:t>
            </a:r>
            <a:r>
              <a:rPr b="0" lang="en-US" sz="900" spc="9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Proceedings</a:t>
            </a:r>
            <a:r>
              <a:rPr b="1" lang="en-US" sz="900" spc="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1" lang="en-US" sz="900" spc="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</a:t>
            </a:r>
            <a:r>
              <a:rPr b="1" lang="en-US" sz="900" spc="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2019</a:t>
            </a:r>
            <a:r>
              <a:rPr b="1" lang="en-US" sz="900" spc="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Conference</a:t>
            </a:r>
            <a:r>
              <a:rPr b="1" lang="en-US" sz="900" spc="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1" lang="en-US" sz="900" spc="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</a:t>
            </a:r>
            <a:r>
              <a:rPr b="1" lang="en-US" sz="900" spc="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North</a:t>
            </a:r>
            <a:r>
              <a:rPr b="1" lang="en-US" sz="900" spc="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American</a:t>
            </a:r>
            <a:r>
              <a:rPr b="1" lang="en-US" sz="900" spc="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Chapter</a:t>
            </a:r>
            <a:r>
              <a:rPr b="1" lang="en-US" sz="900" spc="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 the</a:t>
            </a:r>
            <a:r>
              <a:rPr b="1" lang="en-US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Association</a:t>
            </a:r>
            <a:r>
              <a:rPr b="1" lang="en-US" sz="900" spc="-1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for</a:t>
            </a:r>
            <a:r>
              <a:rPr b="1" lang="en-US" sz="900" spc="-1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Computational</a:t>
            </a:r>
            <a:r>
              <a:rPr b="1" lang="en-US" sz="900" spc="-1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Linguistics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r>
              <a:rPr b="0" lang="en-US" sz="900" spc="-5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[S.l.:</a:t>
            </a:r>
            <a:r>
              <a:rPr b="0" lang="en-US" sz="900" spc="37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s.n.],</a:t>
            </a:r>
            <a:r>
              <a:rPr b="0" lang="en-US" sz="900" spc="-5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2019.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2680" indent="-228600" defTabSz="457200">
              <a:lnSpc>
                <a:spcPct val="105000"/>
              </a:lnSpc>
              <a:spcBef>
                <a:spcPts val="1066"/>
              </a:spcBef>
              <a:buClr>
                <a:srgbClr val="000000"/>
              </a:buClr>
              <a:buFont typeface="OpenSymbol"/>
              <a:buAutoNum type="arabicPeriod" startAt="12"/>
              <a:tabLst>
                <a:tab algn="l" pos="460440"/>
              </a:tabLst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DOSOVITSKIY, A. et al. An image is worth 16x16 words: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Transformers for image </a:t>
            </a:r>
            <a:r>
              <a:rPr b="0" lang="en-US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recognition at scale. In:</a:t>
            </a:r>
            <a:r>
              <a:rPr b="0" lang="en-US" sz="900" spc="12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International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Conference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on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Learning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2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Representations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(ICLR’21)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 [S.l.: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s.n.], 2021.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2680" indent="-228600" defTabSz="457200">
              <a:lnSpc>
                <a:spcPct val="105000"/>
              </a:lnSpc>
              <a:spcBef>
                <a:spcPts val="1060"/>
              </a:spcBef>
              <a:buClr>
                <a:srgbClr val="000000"/>
              </a:buClr>
              <a:buFont typeface="OpenSymbol"/>
              <a:buAutoNum type="arabicPeriod" startAt="12"/>
              <a:tabLst>
                <a:tab algn="l" pos="460440"/>
              </a:tabLst>
            </a:pP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FRACASSI,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A.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S.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et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al.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Adjustment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to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portuguese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and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application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to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patients with parkinson’s disease of protocol within central origin dysarthrias’ assessment.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Rev. CEFAC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v. 13, n. 16, p. 1056–1065, 2011.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2680" indent="-228600" algn="just" defTabSz="457200">
              <a:lnSpc>
                <a:spcPct val="105000"/>
              </a:lnSpc>
              <a:spcBef>
                <a:spcPts val="1066"/>
              </a:spcBef>
              <a:buClr>
                <a:srgbClr val="000000"/>
              </a:buClr>
              <a:buFont typeface="OpenSymbol"/>
              <a:buAutoNum type="arabicPeriod" startAt="12"/>
              <a:tabLst>
                <a:tab algn="l" pos="460440"/>
              </a:tabLst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FU, J.; ZHENG, H.; MEI, T. Look closer to see better: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Recurrent attention convolutional neural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network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for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fine-grained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image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recognition.</a:t>
            </a:r>
            <a:r>
              <a:rPr b="0" lang="en-US" sz="900" spc="-3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In:</a:t>
            </a:r>
            <a:r>
              <a:rPr b="0" lang="en-US" sz="900" spc="11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IEEE Conference on Computer Vision and Pattern Recognition (CVPR’17)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[S.l.:</a:t>
            </a:r>
            <a:r>
              <a:rPr b="0" lang="pt-PT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s.n.], 2017. p. 4438–4446.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2680" indent="-228600" algn="just" defTabSz="457200">
              <a:lnSpc>
                <a:spcPct val="105000"/>
              </a:lnSpc>
              <a:spcBef>
                <a:spcPts val="1066"/>
              </a:spcBef>
              <a:buClr>
                <a:srgbClr val="000000"/>
              </a:buClr>
              <a:buFont typeface="OpenSymbol"/>
              <a:buAutoNum type="arabicPeriod" startAt="12"/>
              <a:tabLst>
                <a:tab algn="l" pos="460440"/>
              </a:tabLst>
            </a:pP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GASPARINI, G.; DIAFéRIA, G.; BEHLAU, M. Queixa vocal e análise perceptivo- auditiva</a:t>
            </a:r>
            <a:r>
              <a:rPr b="0" lang="pt-PT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</a:t>
            </a:r>
            <a:r>
              <a:rPr b="0" lang="pt-PT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pacientes</a:t>
            </a:r>
            <a:r>
              <a:rPr b="0" lang="pt-PT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com</a:t>
            </a:r>
            <a:r>
              <a:rPr b="0" lang="pt-PT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doença</a:t>
            </a:r>
            <a:r>
              <a:rPr b="0" lang="pt-PT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</a:t>
            </a:r>
            <a:r>
              <a:rPr b="0" lang="pt-PT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parkinson.</a:t>
            </a:r>
            <a:r>
              <a:rPr b="0" lang="pt-PT" sz="900" spc="-4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Revista</a:t>
            </a:r>
            <a:r>
              <a:rPr b="1" lang="pt-PT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</a:t>
            </a:r>
            <a:r>
              <a:rPr b="1" lang="pt-PT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Ciências</a:t>
            </a:r>
            <a:r>
              <a:rPr b="1" lang="pt-PT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Médicas</a:t>
            </a:r>
            <a:r>
              <a:rPr b="1" lang="pt-PT" sz="900" spc="-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 Biológicas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, v. 2, n. 1, p. 72, 2003.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2680" indent="-228600" algn="just" defTabSz="457200">
              <a:lnSpc>
                <a:spcPct val="100000"/>
              </a:lnSpc>
              <a:spcBef>
                <a:spcPts val="1060"/>
              </a:spcBef>
              <a:buClr>
                <a:srgbClr val="000000"/>
              </a:buClr>
              <a:buFont typeface="OpenSymbol"/>
              <a:buAutoNum type="arabicPeriod" startAt="12"/>
              <a:tabLst>
                <a:tab algn="l" pos="460440"/>
              </a:tabLst>
            </a:pP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GOODFELLOW,</a:t>
            </a:r>
            <a:r>
              <a:rPr b="0" lang="pt-PT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I.;</a:t>
            </a:r>
            <a:r>
              <a:rPr b="0" lang="pt-PT" sz="900" spc="9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BENGIO,</a:t>
            </a:r>
            <a:r>
              <a:rPr b="0" lang="pt-PT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Y.;</a:t>
            </a:r>
            <a:r>
              <a:rPr b="0" lang="pt-PT" sz="900" spc="9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COURVILLE,</a:t>
            </a:r>
            <a:r>
              <a:rPr b="0" lang="pt-PT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A.</a:t>
            </a:r>
            <a:r>
              <a:rPr b="0" lang="pt-PT" sz="900" spc="94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Deep</a:t>
            </a:r>
            <a:r>
              <a:rPr b="1" lang="pt-PT" sz="900" spc="14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Learning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r>
              <a:rPr b="0" lang="pt-PT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MIT</a:t>
            </a:r>
            <a:r>
              <a:rPr b="0" lang="pt-PT" sz="900" spc="8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Press,</a:t>
            </a:r>
            <a:r>
              <a:rPr b="0" lang="pt-PT" sz="900" spc="8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2016.</a:t>
            </a:r>
            <a:r>
              <a:rPr b="0" lang="pt-BR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Disponível</a:t>
            </a:r>
            <a:r>
              <a:rPr b="0" lang="pt-PT" sz="900" spc="11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em:</a:t>
            </a:r>
            <a:r>
              <a:rPr b="0" lang="pt-PT" sz="900" spc="26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pt-PT" sz="900" spc="-11" strike="noStrike" u="sng">
                <a:solidFill>
                  <a:srgbClr val="2998e3"/>
                </a:solidFill>
                <a:effectLst/>
                <a:uFillTx/>
                <a:latin typeface="Times New Roman"/>
                <a:ea typeface="Times New Roman"/>
                <a:hlinkClick r:id="rId1"/>
              </a:rPr>
              <a:t>&lt;https://www.deeplearningbook.org/&gt;</a:t>
            </a:r>
            <a:r>
              <a:rPr b="0" lang="pt-PT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92680" indent="-228600" defTabSz="457200">
              <a:lnSpc>
                <a:spcPct val="105000"/>
              </a:lnSpc>
              <a:spcBef>
                <a:spcPts val="1145"/>
              </a:spcBef>
              <a:buClr>
                <a:srgbClr val="000000"/>
              </a:buClr>
              <a:buFont typeface="OpenSymbol"/>
              <a:buAutoNum type="arabicPeriod" startAt="12"/>
              <a:tabLst>
                <a:tab algn="l" pos="460440"/>
              </a:tabLst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GRAVES,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A.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et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al.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Connectionist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temporal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classification:</a:t>
            </a:r>
            <a:r>
              <a:rPr b="0" lang="en-US" sz="900" spc="397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Labelling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unsegmented</a:t>
            </a:r>
            <a:r>
              <a:rPr b="0" lang="en-US" sz="900" spc="397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sequence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data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with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recurrent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neural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networks.</a:t>
            </a:r>
            <a:r>
              <a:rPr b="0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In:</a:t>
            </a:r>
            <a:r>
              <a:rPr b="0" lang="en-US" sz="900" spc="397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Proceedings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the</a:t>
            </a:r>
            <a:r>
              <a:rPr b="1" lang="en-US" sz="900" spc="198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23rd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International</a:t>
            </a:r>
            <a:r>
              <a:rPr b="1" lang="en-US" sz="900" spc="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Conference</a:t>
            </a:r>
            <a:r>
              <a:rPr b="1" lang="en-US" sz="900" spc="9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on</a:t>
            </a:r>
            <a:r>
              <a:rPr b="1" lang="en-US" sz="900" spc="3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Machine</a:t>
            </a:r>
            <a:r>
              <a:rPr b="1" lang="en-US" sz="900" spc="9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Learning</a:t>
            </a:r>
            <a:r>
              <a:rPr b="1" lang="en-US" sz="900" spc="9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1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(ICML)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r>
              <a:rPr b="0" lang="en-US" sz="900" spc="-2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[S.l.]:</a:t>
            </a:r>
            <a:r>
              <a:rPr b="0" lang="en-US" sz="900" spc="82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ACM,</a:t>
            </a:r>
            <a:r>
              <a:rPr b="0" lang="en-US" sz="900" spc="-2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2006.</a:t>
            </a:r>
            <a:r>
              <a:rPr b="0" lang="en-US" sz="900" spc="-26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lang="en-US" sz="900" spc="-11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p. 369–376.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Referências III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678" name="CaixaDeTexto 20"/>
          <p:cNvSpPr/>
          <p:nvPr/>
        </p:nvSpPr>
        <p:spPr>
          <a:xfrm>
            <a:off x="671760" y="6422400"/>
            <a:ext cx="46670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pt-BR" sz="105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Sistema de Reconhecimento de Fala Disártrica usando Modelos de Autossupervisão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Retângulo 21"/>
          <p:cNvSpPr/>
          <p:nvPr/>
        </p:nvSpPr>
        <p:spPr>
          <a:xfrm>
            <a:off x="236520" y="6422400"/>
            <a:ext cx="537840" cy="190440"/>
          </a:xfrm>
          <a:prstGeom prst="rect">
            <a:avLst/>
          </a:prstGeom>
          <a:noFill/>
          <a:ln w="0">
            <a:noFill/>
          </a:ln>
          <a:effectLst>
            <a:outerShdw dist="49893" dir="2700000" blurRad="19044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fld id="{1636ABA3-C5F1-4A86-80E2-B8C25E02316F}" type="slidenum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&lt;número&gt;</a:t>
            </a:fld>
            <a:r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/</a:t>
            </a:r>
            <a:fld id="{AF1C2FCB-076A-497B-BC15-4AB8719850D3}" type="slidecount">
              <a:rPr b="0" lang="en-BR" sz="1000" spc="-4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64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CaixaDeTexto 14"/>
          <p:cNvSpPr/>
          <p:nvPr/>
        </p:nvSpPr>
        <p:spPr>
          <a:xfrm>
            <a:off x="822960" y="1737360"/>
            <a:ext cx="7822440" cy="43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HASEGAWA-JOHNSON, M. et al. UASpeech – Statistical Speech Technology Group. 2008. Accessed: 2024-09-03. Disponível em: &lt;https://speechtechnology.web. illinois.edu/uaspeech/&gt;.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HSU, W.-N. et al. Hubert: Self-supervised speech representation learning by masked prediction of hidden units. In: Proceedings of the 2021 IEEE/ACM International Conference on Acoustics, Speech and Signal Processing (ICASSP). [S.l.]: IEEE, 2021. p. 6413–6417.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HU, I. et al. Gather-excite: Exploiting feature context in convolutional neural networks. In: Advances in Neural Information Processing Systems (NeurIPS’18). [S.l.: s.n.], 2018. p. 9423–9433.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KINGMA, D. P.; WELLING, M. Auto-encoding variational bayes. arXiv preprint arXiv:1312.6114, 2014. Disponível em: &lt;https://arxiv.org/abs/1312.6114&gt;.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LECUN, Y. et al. Deep learning. Nature, v. 521, n. 7553, p. 436–444, 2015. MNIH, V. et al. Recurrent models of visual attention. In: Advances in Neural Information Processing Systems (NeurIPS’14). [S.l.: s.n.], 2014. p. 2204–2212.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NAIR, V.; HINTON, G. E. Rectified linear units improve restricted boltzmann machines. In: OMNIPRESS. Proceedings of the 27th International Conference on Machine Learning (ICML-10). Haifa, Israel, 2010. p. 807–814.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OPPENHEIM, A. V.; SCHAFER, R. W. Discrete-time signal processing. [S.l.]: Prentice Hall, 1999.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ORTIZ, K. Z. Distúrbios neurológicos adquiridos : fala e deglutição. Manole, 2010. 510 p. ISBN 9788520428856. Disponível em: &lt;https://ria.ufrn.br/jspui/handle/ 123456789/2783&gt;.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PORTALETE, C. R. et al. Tratamento motor da fala na disartria flácida: um estudo de caso. Audiology - Communication Research, Academia Brasileira de Audiologia, v. 24, p. e2118, 9 2019. ISSN 2317-6431. Disponível em: &lt;https://www.scielo.br/j/acr/a/wgNNz7ghTqwP5yJ7Q4WdNVw/&gt;.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RAMIG, L. O. Intensive voice treatment (lsvt(r)) for patients with parkinson’s disease: a 2 year follow up. Journal of Neurology, Neurosurgery and Psychiatry, v. 71, n. 4, p. 493–498, 2001.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RAMIG, L. O.; FOX, C.; SAPIR, S. Speech treatment for parkinson’s disease. Expert Review of Neurotherapeutics, v. 8, n. 2, p. 297–309, 2008.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21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RAVANELLI, M. et al. Multi-task self-supervised learning for robust speech recognition. arXiv preprint arXiv:2001.09239, 2020.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822960" y="286560"/>
            <a:ext cx="7543080" cy="14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pt-BR" sz="2500" spc="-5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Hanken Grotesk"/>
              </a:rPr>
              <a:t>Referências IV</a:t>
            </a:r>
            <a:endParaRPr b="0" lang="en-US" sz="2500" spc="-51" strike="noStrike" u="non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grpSp>
        <p:nvGrpSpPr>
          <p:cNvPr id="682" name="Agrupar 2"/>
          <p:cNvGrpSpPr/>
          <p:nvPr/>
        </p:nvGrpSpPr>
        <p:grpSpPr>
          <a:xfrm>
            <a:off x="237600" y="6422400"/>
            <a:ext cx="5450760" cy="250200"/>
            <a:chOff x="237600" y="6422400"/>
            <a:chExt cx="5450760" cy="250200"/>
          </a:xfrm>
        </p:grpSpPr>
        <p:sp>
          <p:nvSpPr>
            <p:cNvPr id="683" name="CaixaDeTexto 20"/>
            <p:cNvSpPr/>
            <p:nvPr/>
          </p:nvSpPr>
          <p:spPr>
            <a:xfrm>
              <a:off x="651240" y="6422400"/>
              <a:ext cx="503712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pt-BR" sz="1050" strike="noStrike" u="none">
                  <a:solidFill>
                    <a:schemeClr val="lt1"/>
                  </a:solidFill>
                  <a:effectLst/>
                  <a:uFillTx/>
                  <a:latin typeface="Calibri"/>
                  <a:ea typeface="DejaVu Sans"/>
                </a:rPr>
                <a:t>Sistema de Reconhecimento de Fala Disártrica usando Aprendizagem Autossupervisionada</a:t>
              </a:r>
              <a:endParaRPr b="0" lang="pt-BR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Retângulo 24"/>
            <p:cNvSpPr/>
            <p:nvPr/>
          </p:nvSpPr>
          <p:spPr>
            <a:xfrm>
              <a:off x="237600" y="6422400"/>
              <a:ext cx="537840" cy="190440"/>
            </a:xfrm>
            <a:prstGeom prst="rect">
              <a:avLst/>
            </a:prstGeom>
            <a:noFill/>
            <a:ln w="0">
              <a:noFill/>
            </a:ln>
            <a:effectLst>
              <a:outerShdw dist="49893" dir="2700000" blurRad="190440" rotWithShape="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fld id="{CC4EDDDE-C541-4E2C-82ED-29485F53DC28}" type="slidenum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&lt;número&gt;</a:t>
              </a:fld>
              <a:r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/</a:t>
              </a:r>
              <a:fld id="{9C461371-8214-4BFD-A81C-2E4ED05518FA}" type="slidecount">
                <a:rPr b="0" lang="en-BR" sz="1000" spc="-4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64</a:t>
              </a:fld>
              <a:endParaRPr b="0" lang="pt-BR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5" name="CaixaDeTexto 14"/>
          <p:cNvSpPr/>
          <p:nvPr/>
        </p:nvSpPr>
        <p:spPr>
          <a:xfrm>
            <a:off x="822960" y="1737360"/>
            <a:ext cx="7822440" cy="46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RUDER, S. An overview of gradient descent optimization algorithms. arXiv preprint arXiv:1609.04747, 2016.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RUMELHART, D. E. et al. Learning representations by back-propagating errors. Nature, v. 323, n. 6088, p. 533–536, 1986.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SCHU, G.; JANBAKHSHI, P.; KODRASI, I. On using the ua-speech and torgo databases to validate automatic dysarthric speech classification approaches. 11 2022. Disponível em: &lt;https://arxiv.org/abs/2211.08833v1&gt;.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SHAHAMIRI, S. R. Speech vision: An end-to-end deep learning-based dysarthric automatic speech recognition system. IEEE Transactions on Neural Systems and Rehabilitation Engineering, v. 29, p. 852–861, 2021.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SHAHAMIRI, S. R.; LAL, V.; SHAH, D. Dysarthric speech transformer: A sequence- to-sequence dysarthric speech recognition system. IEEE Transactions on Neural Systems and Rehabilitation Engineering, v. 31, p. 3407–3416, 2023.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STEVENS, S. S.; VOLKMANN, J.; NEWMAN, E. B. A scale for the measurement of the psychological magnitude pitch. The Journal of the Acoustical Society of America, Acoustical Society of America, v. 8, n. 3, p. 185–190, 1937.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VACHHANI, B.; BHAT, C.; KOPPARAPU, S. K. Data augmentation using healthy speech for dysarthric speech recognition. In: Annual Conference of the International Speech Communication Association (Interspeech’18). [S.l.: s.n.], 2018. p. 471–475.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WANG, F. et al. Residual attention network for image classification. In: IEEE Conference on Computer Vision and Pattern Recognition (CVPR’17). [S.l.: s.n.], 2017. p. 3156–3164.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WANG, S. et al. Enhancing dysarthric speech recognition for unseen speakers via prototype-based adaptation. arXiv preprint arXiv:2407.18461v1, 2024. Disponível em: &lt;https://arxiv.org/abs/2407.18461v1&gt;.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WEI, S. et al. A comparison on data augmentation methods based on deep learning for audio classification. Journal of Physics: Conference Series, v. 1453, p. 012085, 2020.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WOO, S. et al. Cbam: Convolutional block attention module. In: European Conference on Computer Vision (ECCV’18). [S.l.: s.n.], 2018. p. 3–19.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 startAt="33"/>
            </a:pPr>
            <a:r>
              <a:rPr b="0" lang="pt-BR" sz="9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XU, J. et al. Show, attend and tell: Neural image caption generation with visual attention. In: International Conference on Machine Learning (ICML’15). [S.l.: s.n.], 2015. p. 2048–2057.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12169</TotalTime>
  <Application>LibreOffice/25.2.5.2$Windows_X86_64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Ricardo Gracelli</dc:creator>
  <dc:description>generated using python-pptx</dc:description>
  <dc:language>pt-BR</dc:language>
  <cp:lastModifiedBy/>
  <dcterms:modified xsi:type="dcterms:W3CDTF">2025-08-18T16:59:46Z</dcterms:modified>
  <cp:revision>91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1</vt:r8>
  </property>
  <property fmtid="{D5CDD505-2E9C-101B-9397-08002B2CF9AE}" pid="3" name="PresentationFormat">
    <vt:lpwstr>Apresentação na tela (4:3)</vt:lpwstr>
  </property>
  <property fmtid="{D5CDD505-2E9C-101B-9397-08002B2CF9AE}" pid="4" name="Slides">
    <vt:r8>62</vt:r8>
  </property>
</Properties>
</file>